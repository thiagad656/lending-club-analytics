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4"/>
                </a:solidFill>
                <a:latin typeface="Arial"/>
              </a:defRPr>
            </a:pPr>
            <a:r>
              <a:rPr lang="pt-BR" sz="1200" b="0" i="0" u="none" strike="noStrike">
                <a:solidFill>
                  <a:srgbClr val="1B2A44"/>
                </a:solidFill>
                <a:latin typeface="Arial"/>
              </a:rPr>
              <a:t>Volume de Originação vs. Custo de Oportunidade (%)</a:t>
            </a:r>
          </a:p>
        </c:rich>
      </c:tx>
      <c:overlay val="0"/>
    </c:title>
    <c:autoTitleDeleted val="0"/>
    <c:plotArea>
      <c:layout/>
      <c:barChart>
        <c:barDir val="col"/>
        <c:grouping val="clustered"/>
        <c:varyColors val="0"/>
        <c:ser>
          <c:idx val="0"/>
          <c:order val="0"/>
          <c:tx>
            <c:strRef>
              <c:f>Sheet1!$B$1</c:f>
              <c:strCache>
                <c:ptCount val="1"/>
                <c:pt idx="0">
                  <c:v>% do Volume de Originação</c:v>
                </c:pt>
              </c:strCache>
            </c:strRef>
          </c:tx>
          <c:spPr>
            <a:solidFill>
              <a:srgbClr val="1B2A44"/>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Sheet1!$B$2:$B$3</c:f>
              <c:numCache>
                <c:formatCode>General</c:formatCode>
                <c:ptCount val="2"/>
                <c:pt idx="0">
                  <c:v>0.98</c:v>
                </c:pt>
                <c:pt idx="1">
                  <c:v>27.29</c:v>
                </c:pt>
              </c:numCache>
            </c:numRef>
          </c:val>
          <c:extLst>
            <c:ext xmlns:c16="http://schemas.microsoft.com/office/drawing/2014/chart" uri="{C3380CC4-5D6E-409C-BE32-E72D297353CC}">
              <c16:uniqueId val="{00000000-0C13-490F-A25A-344E443528CC}"/>
            </c:ext>
          </c:extLst>
        </c:ser>
        <c:ser>
          <c:idx val="1"/>
          <c:order val="1"/>
          <c:tx>
            <c:strRef>
              <c:f>Sheet1!$C$1</c:f>
              <c:strCache>
                <c:ptCount val="1"/>
                <c:pt idx="0">
                  <c:v>% do Custo de Oportunidade</c:v>
                </c:pt>
              </c:strCache>
            </c:strRef>
          </c:tx>
          <c:spPr>
            <a:solidFill>
              <a:srgbClr val="C0392B"/>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Sheet1!$C$2:$C$3</c:f>
              <c:numCache>
                <c:formatCode>General</c:formatCode>
                <c:ptCount val="2"/>
                <c:pt idx="0">
                  <c:v>9.1999999999999993</c:v>
                </c:pt>
                <c:pt idx="1">
                  <c:v>80</c:v>
                </c:pt>
              </c:numCache>
            </c:numRef>
          </c:val>
          <c:extLst>
            <c:ext xmlns:c16="http://schemas.microsoft.com/office/drawing/2014/chart" uri="{C3380CC4-5D6E-409C-BE32-E72D297353CC}">
              <c16:uniqueId val="{00000001-0C13-490F-A25A-344E443528C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9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4"/>
                </a:solidFill>
                <a:latin typeface="Arial"/>
              </a:defRPr>
            </a:pPr>
            <a:r>
              <a:rPr lang="pt-BR" sz="1250" b="0" i="0" u="none" strike="noStrike">
                <a:solidFill>
                  <a:srgbClr val="1B2A44"/>
                </a:solidFill>
                <a:latin typeface="Arial"/>
              </a:rPr>
              <a:t>ROA por Classe de Renda: 36 vs. 60 Meses</a:t>
            </a:r>
          </a:p>
        </c:rich>
      </c:tx>
      <c:overlay val="0"/>
    </c:title>
    <c:autoTitleDeleted val="0"/>
    <c:plotArea>
      <c:layout/>
      <c:lineChart>
        <c:grouping val="standard"/>
        <c:varyColors val="0"/>
        <c:ser>
          <c:idx val="0"/>
          <c:order val="0"/>
          <c:tx>
            <c:strRef>
              <c:f>Sheet1!$B$1</c:f>
              <c:strCache>
                <c:ptCount val="1"/>
                <c:pt idx="0">
                  <c:v>Classe A</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Sheet1!$B$2:$B$3</c:f>
              <c:numCache>
                <c:formatCode>General</c:formatCode>
                <c:ptCount val="2"/>
                <c:pt idx="0">
                  <c:v>5.29</c:v>
                </c:pt>
                <c:pt idx="1">
                  <c:v>6.24</c:v>
                </c:pt>
              </c:numCache>
            </c:numRef>
          </c:val>
          <c:smooth val="0"/>
          <c:extLst>
            <c:ext xmlns:c16="http://schemas.microsoft.com/office/drawing/2014/chart" uri="{C3380CC4-5D6E-409C-BE32-E72D297353CC}">
              <c16:uniqueId val="{00000000-AEF2-4445-8F3F-DF315C415F16}"/>
            </c:ext>
          </c:extLst>
        </c:ser>
        <c:ser>
          <c:idx val="1"/>
          <c:order val="1"/>
          <c:tx>
            <c:strRef>
              <c:f>Sheet1!$C$1</c:f>
              <c:strCache>
                <c:ptCount val="1"/>
                <c:pt idx="0">
                  <c:v>Classe B</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Sheet1!$C$2:$C$3</c:f>
              <c:numCache>
                <c:formatCode>General</c:formatCode>
                <c:ptCount val="2"/>
                <c:pt idx="0">
                  <c:v>4.59</c:v>
                </c:pt>
                <c:pt idx="1">
                  <c:v>4.95</c:v>
                </c:pt>
              </c:numCache>
            </c:numRef>
          </c:val>
          <c:smooth val="0"/>
          <c:extLst>
            <c:ext xmlns:c16="http://schemas.microsoft.com/office/drawing/2014/chart" uri="{C3380CC4-5D6E-409C-BE32-E72D297353CC}">
              <c16:uniqueId val="{00000001-AEF2-4445-8F3F-DF315C415F16}"/>
            </c:ext>
          </c:extLst>
        </c:ser>
        <c:ser>
          <c:idx val="2"/>
          <c:order val="2"/>
          <c:tx>
            <c:strRef>
              <c:f>Sheet1!$D$1</c:f>
              <c:strCache>
                <c:ptCount val="1"/>
                <c:pt idx="0">
                  <c:v>Classe C</c:v>
                </c:pt>
              </c:strCache>
            </c:strRef>
          </c:tx>
          <c:spPr>
            <a:ln w="34925" cap="flat">
              <a:solidFill>
                <a:srgbClr val="C8790F"/>
              </a:solidFill>
              <a:prstDash val="solid"/>
              <a:round/>
            </a:ln>
            <a:effectLst/>
          </c:spPr>
          <c:marker>
            <c:symbol val="circle"/>
            <c:size val="8"/>
            <c:spPr>
              <a:solidFill>
                <a:srgbClr val="C8790F"/>
              </a:solidFill>
              <a:ln w="9525" cap="flat">
                <a:solidFill>
                  <a:srgbClr val="C8790F"/>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Sheet1!$D$2:$D$3</c:f>
              <c:numCache>
                <c:formatCode>General</c:formatCode>
                <c:ptCount val="2"/>
                <c:pt idx="0">
                  <c:v>4.18</c:v>
                </c:pt>
                <c:pt idx="1">
                  <c:v>4.0199999999999996</c:v>
                </c:pt>
              </c:numCache>
            </c:numRef>
          </c:val>
          <c:smooth val="0"/>
          <c:extLst>
            <c:ext xmlns:c16="http://schemas.microsoft.com/office/drawing/2014/chart" uri="{C3380CC4-5D6E-409C-BE32-E72D297353CC}">
              <c16:uniqueId val="{00000002-AEF2-4445-8F3F-DF315C415F16}"/>
            </c:ext>
          </c:extLst>
        </c:ser>
        <c:ser>
          <c:idx val="3"/>
          <c:order val="3"/>
          <c:tx>
            <c:strRef>
              <c:f>Sheet1!$E$1</c:f>
              <c:strCache>
                <c:ptCount val="1"/>
                <c:pt idx="0">
                  <c:v>Classe D</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Sheet1!$E$2:$E$3</c:f>
              <c:numCache>
                <c:formatCode>General</c:formatCode>
                <c:ptCount val="2"/>
                <c:pt idx="0">
                  <c:v>3.94</c:v>
                </c:pt>
                <c:pt idx="1">
                  <c:v>3</c:v>
                </c:pt>
              </c:numCache>
            </c:numRef>
          </c:val>
          <c:smooth val="0"/>
          <c:extLst>
            <c:ext xmlns:c16="http://schemas.microsoft.com/office/drawing/2014/chart" uri="{C3380CC4-5D6E-409C-BE32-E72D297353CC}">
              <c16:uniqueId val="{00000003-AEF2-4445-8F3F-DF315C415F16}"/>
            </c:ext>
          </c:extLst>
        </c:ser>
        <c:ser>
          <c:idx val="4"/>
          <c:order val="4"/>
          <c:tx>
            <c:strRef>
              <c:f>Sheet1!$F$1</c:f>
              <c:strCache>
                <c:ptCount val="1"/>
                <c:pt idx="0">
                  <c:v>Classe E</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Sheet1!$F$2:$F$3</c:f>
              <c:numCache>
                <c:formatCode>General</c:formatCode>
                <c:ptCount val="2"/>
                <c:pt idx="0">
                  <c:v>2.91</c:v>
                </c:pt>
                <c:pt idx="1">
                  <c:v>1.58</c:v>
                </c:pt>
              </c:numCache>
            </c:numRef>
          </c:val>
          <c:smooth val="0"/>
          <c:extLst>
            <c:ext xmlns:c16="http://schemas.microsoft.com/office/drawing/2014/chart" uri="{C3380CC4-5D6E-409C-BE32-E72D297353CC}">
              <c16:uniqueId val="{00000004-AEF2-4445-8F3F-DF315C415F1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7"/>
          <c:min val="1"/>
        </c:scaling>
        <c:delete val="0"/>
        <c:axPos val="l"/>
        <c:majorGridlines>
          <c:spPr>
            <a:ln w="9525" cap="flat">
              <a:solidFill>
                <a:srgbClr val="E3E6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ROA Projetado (a.a.)</c:v>
                </c:pt>
              </c:strCache>
            </c:strRef>
          </c:tx>
          <c:spPr>
            <a:solidFill>
              <a:srgbClr val="1B2A44">
                <a:alpha val="100000"/>
              </a:srgbClr>
            </a:solidFill>
            <a:ln w="9525" cap="flat">
              <a:solidFill>
                <a:srgbClr val="1B2A44"/>
              </a:solidFill>
              <a:prstDash val="solid"/>
              <a:round/>
            </a:ln>
            <a:effectLst/>
          </c:spPr>
          <c:invertIfNegative val="0"/>
          <c:dLbls>
            <c:numFmt formatCode="0.00&quot;%&quot;" sourceLinked="0"/>
            <c:spPr>
              <a:noFill/>
              <a:ln>
                <a:noFill/>
              </a:ln>
              <a:effectLst/>
            </c:spPr>
            <c:txPr>
              <a:bodyPr/>
              <a:lstStyle/>
              <a:p>
                <a:pPr>
                  <a:defRPr sz="1100" b="0" i="0" u="none" strike="noStrike">
                    <a:solidFill>
                      <a:srgbClr val="1B2A44"/>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Discover (DFS)</c:v>
                </c:pt>
                <c:pt idx="1">
                  <c:v>Synchrony (SYF)</c:v>
                </c:pt>
                <c:pt idx="2">
                  <c:v>Happen Bank (Projetado)</c:v>
                </c:pt>
              </c:strCache>
            </c:strRef>
          </c:cat>
          <c:val>
            <c:numRef>
              <c:f>Sheet1!$B$2:$B$4</c:f>
              <c:numCache>
                <c:formatCode>General</c:formatCode>
                <c:ptCount val="3"/>
                <c:pt idx="0">
                  <c:v>2.7</c:v>
                </c:pt>
                <c:pt idx="1">
                  <c:v>3.8</c:v>
                </c:pt>
                <c:pt idx="2">
                  <c:v>4.9000000000000004</c:v>
                </c:pt>
              </c:numCache>
            </c:numRef>
          </c:val>
          <c:extLst>
            <c:ext xmlns:c16="http://schemas.microsoft.com/office/drawing/2014/chart" uri="{C3380CC4-5D6E-409C-BE32-E72D297353CC}">
              <c16:uniqueId val="{00000000-7995-401A-92C5-37EFE4CEE5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22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035040" cy="6035040"/>
          </a:xfrm>
          <a:prstGeom prst="ellipse">
            <a:avLst/>
          </a:prstGeom>
          <a:solidFill>
            <a:srgbClr val="1B2A44">
              <a:alpha val="6000"/>
            </a:srgbClr>
          </a:solidFill>
          <a:ln/>
        </p:spPr>
        <p:txBody>
          <a:bodyPr/>
          <a:lstStyle/>
          <a:p>
            <a:endParaRPr lang="pt-BR"/>
          </a:p>
        </p:txBody>
      </p:sp>
      <p:sp>
        <p:nvSpPr>
          <p:cNvPr id="3" name="Shape 1"/>
          <p:cNvSpPr/>
          <p:nvPr/>
        </p:nvSpPr>
        <p:spPr>
          <a:xfrm>
            <a:off x="10332720" y="4206240"/>
            <a:ext cx="3840480" cy="3840480"/>
          </a:xfrm>
          <a:prstGeom prst="ellipse">
            <a:avLst/>
          </a:prstGeom>
          <a:solidFill>
            <a:srgbClr val="1B2A44">
              <a:alpha val="4000"/>
            </a:srgbClr>
          </a:solidFill>
          <a:ln/>
        </p:spPr>
        <p:txBody>
          <a:bodyPr/>
          <a:lstStyle/>
          <a:p>
            <a:endParaRPr lang="pt-BR"/>
          </a:p>
        </p:txBody>
      </p:sp>
      <p:sp>
        <p:nvSpPr>
          <p:cNvPr id="4" name="Text 2"/>
          <p:cNvSpPr/>
          <p:nvPr/>
        </p:nvSpPr>
        <p:spPr>
          <a:xfrm>
            <a:off x="502920" y="457200"/>
            <a:ext cx="9144000" cy="237744"/>
          </a:xfrm>
          <a:prstGeom prst="rect">
            <a:avLst/>
          </a:prstGeom>
          <a:noFill/>
          <a:ln/>
        </p:spPr>
        <p:txBody>
          <a:bodyPr wrap="square" lIns="0" tIns="0" rIns="0" bIns="0" rtlCol="0" anchor="ctr"/>
          <a:lstStyle/>
          <a:p>
            <a:pPr marL="0" indent="0">
              <a:buNone/>
            </a:pPr>
            <a:r>
              <a:rPr lang="en-US" sz="1150" b="1" kern="0" spc="190" dirty="0">
                <a:solidFill>
                  <a:srgbClr val="1B2A44"/>
                </a:solidFill>
                <a:latin typeface="Arial" pitchFamily="34" charset="0"/>
                <a:ea typeface="Arial" pitchFamily="34" charset="-122"/>
                <a:cs typeface="Arial" pitchFamily="34" charset="-120"/>
              </a:rPr>
              <a:t>DIAGNÓSTICO EXECUTIVO — CRÉDITO &amp; ANALYTICS</a:t>
            </a:r>
            <a:endParaRPr lang="en-US" sz="1150" dirty="0"/>
          </a:p>
        </p:txBody>
      </p:sp>
      <p:sp>
        <p:nvSpPr>
          <p:cNvPr id="5" name="Text 3"/>
          <p:cNvSpPr/>
          <p:nvPr/>
        </p:nvSpPr>
        <p:spPr>
          <a:xfrm>
            <a:off x="502920" y="786384"/>
            <a:ext cx="10789920" cy="1051560"/>
          </a:xfrm>
          <a:prstGeom prst="rect">
            <a:avLst/>
          </a:prstGeom>
          <a:noFill/>
          <a:ln/>
        </p:spPr>
        <p:txBody>
          <a:bodyPr wrap="square" lIns="0" tIns="0" rIns="0" bIns="0" rtlCol="0" anchor="t"/>
          <a:lstStyle/>
          <a:p>
            <a:pPr marL="0" indent="0">
              <a:lnSpc>
                <a:spcPct val="108000"/>
              </a:lnSpc>
              <a:buNone/>
            </a:pPr>
            <a:r>
              <a:rPr lang="en-US" sz="3000" b="1" dirty="0">
                <a:solidFill>
                  <a:srgbClr val="1B2A44"/>
                </a:solidFill>
                <a:latin typeface="Arial" pitchFamily="34" charset="0"/>
                <a:ea typeface="Arial" pitchFamily="34" charset="-122"/>
                <a:cs typeface="Arial" pitchFamily="34" charset="-120"/>
              </a:rPr>
              <a:t>Diagnóstico de Performance de Crédito e Reavaliação de Escala</a:t>
            </a:r>
            <a:endParaRPr lang="en-US" sz="3000" dirty="0"/>
          </a:p>
        </p:txBody>
      </p:sp>
      <p:sp>
        <p:nvSpPr>
          <p:cNvPr id="6" name="Text 4"/>
          <p:cNvSpPr/>
          <p:nvPr/>
        </p:nvSpPr>
        <p:spPr>
          <a:xfrm>
            <a:off x="502920" y="1975104"/>
            <a:ext cx="9875520" cy="594360"/>
          </a:xfrm>
          <a:prstGeom prst="rect">
            <a:avLst/>
          </a:prstGeom>
          <a:noFill/>
          <a:ln/>
        </p:spPr>
        <p:txBody>
          <a:bodyPr wrap="square" lIns="0" tIns="0" rIns="0" bIns="0" rtlCol="0" anchor="t"/>
          <a:lstStyle/>
          <a:p>
            <a:pPr marL="0" indent="0">
              <a:lnSpc>
                <a:spcPct val="115000"/>
              </a:lnSpc>
              <a:buNone/>
            </a:pPr>
            <a:r>
              <a:rPr lang="en-US" sz="1450" dirty="0">
                <a:solidFill>
                  <a:srgbClr val="55606E"/>
                </a:solidFill>
                <a:latin typeface="Arial" pitchFamily="34" charset="0"/>
                <a:ea typeface="Arial" pitchFamily="34" charset="-122"/>
                <a:cs typeface="Arial" pitchFamily="34" charset="-120"/>
              </a:rPr>
              <a:t>Otimizando a Rentabilidade de uma Carteira Altamente Lucrativa ($3,33B de Lucro Líquido Gerado) e Resgatando $299M em Custo de Oportunidade</a:t>
            </a:r>
            <a:endParaRPr lang="en-US" sz="1450" dirty="0"/>
          </a:p>
        </p:txBody>
      </p:sp>
      <p:sp>
        <p:nvSpPr>
          <p:cNvPr id="7" name="Text 5"/>
          <p:cNvSpPr/>
          <p:nvPr/>
        </p:nvSpPr>
        <p:spPr>
          <a:xfrm>
            <a:off x="502920" y="2761488"/>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AUTOR</a:t>
            </a:r>
            <a:endParaRPr lang="en-US" sz="1000" dirty="0"/>
          </a:p>
        </p:txBody>
      </p:sp>
      <p:sp>
        <p:nvSpPr>
          <p:cNvPr id="8" name="Text 6"/>
          <p:cNvSpPr/>
          <p:nvPr/>
        </p:nvSpPr>
        <p:spPr>
          <a:xfrm>
            <a:off x="1874520" y="2734056"/>
            <a:ext cx="8778240" cy="292608"/>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Thiago da Silva</a:t>
            </a:r>
            <a:endParaRPr lang="en-US" sz="1150" dirty="0"/>
          </a:p>
        </p:txBody>
      </p:sp>
      <p:sp>
        <p:nvSpPr>
          <p:cNvPr id="9" name="Text 7"/>
          <p:cNvSpPr/>
          <p:nvPr/>
        </p:nvSpPr>
        <p:spPr>
          <a:xfrm>
            <a:off x="502920" y="310896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ESCOPO</a:t>
            </a:r>
            <a:endParaRPr lang="en-US" sz="1000" dirty="0"/>
          </a:p>
        </p:txBody>
      </p:sp>
      <p:sp>
        <p:nvSpPr>
          <p:cNvPr id="10" name="Text 8"/>
          <p:cNvSpPr/>
          <p:nvPr/>
        </p:nvSpPr>
        <p:spPr>
          <a:xfrm>
            <a:off x="1874520" y="3081528"/>
            <a:ext cx="8869680" cy="50292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Pipeline SQL &amp; Power BI  •  1,34 Milhão de Contratos Encerrados  •  $20.3 Bilhões em Capital Financiado (2007–2018)</a:t>
            </a:r>
            <a:endParaRPr lang="en-US" sz="1150" dirty="0"/>
          </a:p>
        </p:txBody>
      </p:sp>
      <p:sp>
        <p:nvSpPr>
          <p:cNvPr id="11" name="Text 9"/>
          <p:cNvSpPr/>
          <p:nvPr/>
        </p:nvSpPr>
        <p:spPr>
          <a:xfrm>
            <a:off x="502920" y="361188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FONTE</a:t>
            </a:r>
            <a:endParaRPr lang="en-US" sz="1000" dirty="0"/>
          </a:p>
        </p:txBody>
      </p:sp>
      <p:sp>
        <p:nvSpPr>
          <p:cNvPr id="12" name="Text 10"/>
          <p:cNvSpPr/>
          <p:nvPr/>
        </p:nvSpPr>
        <p:spPr>
          <a:xfrm>
            <a:off x="1874520" y="3584448"/>
            <a:ext cx="8869680" cy="36576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Kaggle — Lending Club Loan Data (2007–2018Q4), accepted_2007_to_2018Q4.csv</a:t>
            </a:r>
            <a:endParaRPr lang="en-US" sz="1150" dirty="0"/>
          </a:p>
        </p:txBody>
      </p:sp>
      <p:sp>
        <p:nvSpPr>
          <p:cNvPr id="13" name="Shape 11"/>
          <p:cNvSpPr/>
          <p:nvPr/>
        </p:nvSpPr>
        <p:spPr>
          <a:xfrm>
            <a:off x="502920" y="4224528"/>
            <a:ext cx="2617470" cy="1170432"/>
          </a:xfrm>
          <a:prstGeom prst="roundRect">
            <a:avLst>
              <a:gd name="adj" fmla="val 7031"/>
            </a:avLst>
          </a:prstGeom>
          <a:solidFill>
            <a:srgbClr val="F4F6F8"/>
          </a:solidFill>
          <a:ln/>
        </p:spPr>
        <p:txBody>
          <a:bodyPr/>
          <a:lstStyle/>
          <a:p>
            <a:endParaRPr lang="pt-BR"/>
          </a:p>
        </p:txBody>
      </p:sp>
      <p:sp>
        <p:nvSpPr>
          <p:cNvPr id="14" name="Text 12"/>
          <p:cNvSpPr/>
          <p:nvPr/>
        </p:nvSpPr>
        <p:spPr>
          <a:xfrm>
            <a:off x="704088"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$3,33B</a:t>
            </a:r>
            <a:endParaRPr lang="en-US" sz="2300" dirty="0"/>
          </a:p>
        </p:txBody>
      </p:sp>
      <p:sp>
        <p:nvSpPr>
          <p:cNvPr id="15" name="Text 13"/>
          <p:cNvSpPr/>
          <p:nvPr/>
        </p:nvSpPr>
        <p:spPr>
          <a:xfrm>
            <a:off x="704088"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Resultado Líquido Acumulado</a:t>
            </a:r>
            <a:endParaRPr lang="en-US" sz="950" dirty="0"/>
          </a:p>
        </p:txBody>
      </p:sp>
      <p:sp>
        <p:nvSpPr>
          <p:cNvPr id="16" name="Shape 14"/>
          <p:cNvSpPr/>
          <p:nvPr/>
        </p:nvSpPr>
        <p:spPr>
          <a:xfrm>
            <a:off x="3358134" y="4224528"/>
            <a:ext cx="2617470" cy="1170432"/>
          </a:xfrm>
          <a:prstGeom prst="roundRect">
            <a:avLst>
              <a:gd name="adj" fmla="val 7031"/>
            </a:avLst>
          </a:prstGeom>
          <a:solidFill>
            <a:srgbClr val="F4F6F8"/>
          </a:solidFill>
          <a:ln/>
        </p:spPr>
        <p:txBody>
          <a:bodyPr/>
          <a:lstStyle/>
          <a:p>
            <a:endParaRPr lang="pt-BR"/>
          </a:p>
        </p:txBody>
      </p:sp>
      <p:sp>
        <p:nvSpPr>
          <p:cNvPr id="17" name="Text 15"/>
          <p:cNvSpPr/>
          <p:nvPr/>
        </p:nvSpPr>
        <p:spPr>
          <a:xfrm>
            <a:off x="3559302"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$20,3B</a:t>
            </a:r>
            <a:endParaRPr lang="en-US" sz="2300" dirty="0"/>
          </a:p>
        </p:txBody>
      </p:sp>
      <p:sp>
        <p:nvSpPr>
          <p:cNvPr id="18" name="Text 16"/>
          <p:cNvSpPr/>
          <p:nvPr/>
        </p:nvSpPr>
        <p:spPr>
          <a:xfrm>
            <a:off x="3559302"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Volume Total Financiado</a:t>
            </a:r>
            <a:endParaRPr lang="en-US" sz="950" dirty="0"/>
          </a:p>
        </p:txBody>
      </p:sp>
      <p:sp>
        <p:nvSpPr>
          <p:cNvPr id="19" name="Shape 17"/>
          <p:cNvSpPr/>
          <p:nvPr/>
        </p:nvSpPr>
        <p:spPr>
          <a:xfrm>
            <a:off x="6213348" y="4224528"/>
            <a:ext cx="2617470" cy="1170432"/>
          </a:xfrm>
          <a:prstGeom prst="roundRect">
            <a:avLst>
              <a:gd name="adj" fmla="val 7031"/>
            </a:avLst>
          </a:prstGeom>
          <a:solidFill>
            <a:srgbClr val="F4F6F8"/>
          </a:solidFill>
          <a:ln/>
        </p:spPr>
        <p:txBody>
          <a:bodyPr/>
          <a:lstStyle/>
          <a:p>
            <a:endParaRPr lang="pt-BR"/>
          </a:p>
        </p:txBody>
      </p:sp>
      <p:sp>
        <p:nvSpPr>
          <p:cNvPr id="20" name="Text 18"/>
          <p:cNvSpPr/>
          <p:nvPr/>
        </p:nvSpPr>
        <p:spPr>
          <a:xfrm>
            <a:off x="6414516"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1,34M</a:t>
            </a:r>
            <a:endParaRPr lang="en-US" sz="2300" dirty="0"/>
          </a:p>
        </p:txBody>
      </p:sp>
      <p:sp>
        <p:nvSpPr>
          <p:cNvPr id="21" name="Text 19"/>
          <p:cNvSpPr/>
          <p:nvPr/>
        </p:nvSpPr>
        <p:spPr>
          <a:xfrm>
            <a:off x="6414516"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Ciclos de Crédito Encerrados</a:t>
            </a:r>
            <a:endParaRPr lang="en-US" sz="950" dirty="0"/>
          </a:p>
        </p:txBody>
      </p:sp>
      <p:sp>
        <p:nvSpPr>
          <p:cNvPr id="22" name="Shape 20"/>
          <p:cNvSpPr/>
          <p:nvPr/>
        </p:nvSpPr>
        <p:spPr>
          <a:xfrm>
            <a:off x="9068562" y="4224528"/>
            <a:ext cx="2617470" cy="1170432"/>
          </a:xfrm>
          <a:prstGeom prst="roundRect">
            <a:avLst>
              <a:gd name="adj" fmla="val 7031"/>
            </a:avLst>
          </a:prstGeom>
          <a:solidFill>
            <a:srgbClr val="F4F6F8"/>
          </a:solidFill>
          <a:ln/>
        </p:spPr>
        <p:txBody>
          <a:bodyPr/>
          <a:lstStyle/>
          <a:p>
            <a:endParaRPr lang="pt-BR"/>
          </a:p>
        </p:txBody>
      </p:sp>
      <p:sp>
        <p:nvSpPr>
          <p:cNvPr id="23" name="Text 21"/>
          <p:cNvSpPr/>
          <p:nvPr/>
        </p:nvSpPr>
        <p:spPr>
          <a:xfrm>
            <a:off x="9269730"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4,43%</a:t>
            </a:r>
            <a:endParaRPr lang="en-US" sz="2300" dirty="0"/>
          </a:p>
        </p:txBody>
      </p:sp>
      <p:sp>
        <p:nvSpPr>
          <p:cNvPr id="24" name="Text 22"/>
          <p:cNvSpPr/>
          <p:nvPr/>
        </p:nvSpPr>
        <p:spPr>
          <a:xfrm>
            <a:off x="9269730"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ROA Consolidado Atual</a:t>
            </a:r>
            <a:endParaRPr lang="en-US" sz="950" dirty="0"/>
          </a:p>
        </p:txBody>
      </p:sp>
      <p:sp>
        <p:nvSpPr>
          <p:cNvPr id="25" name="Text 23"/>
          <p:cNvSpPr/>
          <p:nvPr/>
        </p:nvSpPr>
        <p:spPr>
          <a:xfrm>
            <a:off x="502920" y="5522976"/>
            <a:ext cx="11183112" cy="274320"/>
          </a:xfrm>
          <a:prstGeom prst="rect">
            <a:avLst/>
          </a:prstGeom>
          <a:noFill/>
          <a:ln/>
        </p:spPr>
        <p:txBody>
          <a:bodyPr wrap="square" lIns="0" tIns="0" rIns="0" bIns="0" rtlCol="0" anchor="ctr"/>
          <a:lstStyle/>
          <a:p>
            <a:pPr marL="0" indent="0">
              <a:buNone/>
            </a:pPr>
            <a:r>
              <a:rPr lang="en-US" sz="1050" i="1" dirty="0">
                <a:solidFill>
                  <a:srgbClr val="98A1AD"/>
                </a:solidFill>
                <a:latin typeface="Arial" pitchFamily="34" charset="0"/>
                <a:ea typeface="Arial" pitchFamily="34" charset="-122"/>
                <a:cs typeface="Arial" pitchFamily="34" charset="-120"/>
              </a:rPr>
              <a:t>Uma carteira já altamente lucrativa — a análise a seguir revela onde destravar ainda mais valor na escala.</a:t>
            </a:r>
            <a:endParaRPr lang="en-US" sz="1050" dirty="0"/>
          </a:p>
        </p:txBody>
      </p:sp>
      <p:sp>
        <p:nvSpPr>
          <p:cNvPr id="26" name="Text 24"/>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Monetária: Todos os valores financeiros do estudo foram corrigidos inflacionariamente via CPI para Dólares Constantes de 2018, neutralizando distorções entre as safras de 2007 e 2018.</a:t>
            </a:r>
            <a:endParaRPr lang="en-US" sz="800" dirty="0"/>
          </a:p>
        </p:txBody>
      </p:sp>
      <p:sp>
        <p:nvSpPr>
          <p:cNvPr id="27" name="Text 2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8" name="Text 2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01 / 12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O MODELO DE NEGÓCIO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Modelo de Negócio &amp; Marketplace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Disrupção no Crédito Pessoal Sem Garantia (Unsecured Consumer Loans)</a:t>
            </a:r>
            <a:endParaRPr lang="en-US" sz="1250" dirty="0"/>
          </a:p>
        </p:txBody>
      </p:sp>
      <p:sp>
        <p:nvSpPr>
          <p:cNvPr id="5" name="Shape 3"/>
          <p:cNvSpPr/>
          <p:nvPr/>
        </p:nvSpPr>
        <p:spPr>
          <a:xfrm>
            <a:off x="502920"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148840"/>
            <a:ext cx="548640" cy="548640"/>
          </a:xfrm>
          <a:prstGeom prst="ellipse">
            <a:avLst/>
          </a:prstGeom>
          <a:solidFill>
            <a:srgbClr val="1B2A44"/>
          </a:solidFill>
          <a:ln/>
        </p:spPr>
        <p:txBody>
          <a:bodyPr/>
          <a:lstStyle/>
          <a:p>
            <a:endParaRPr lang="pt-BR"/>
          </a:p>
        </p:txBody>
      </p:sp>
      <p:pic>
        <p:nvPicPr>
          <p:cNvPr id="7" name="Image 0" descr="/home/claude/deck/assets/marketplace.png"/>
          <p:cNvPicPr>
            <a:picLocks noChangeAspect="1"/>
          </p:cNvPicPr>
          <p:nvPr/>
        </p:nvPicPr>
        <p:blipFill>
          <a:blip r:embed="rId3"/>
          <a:stretch>
            <a:fillRect/>
          </a:stretch>
        </p:blipFill>
        <p:spPr>
          <a:xfrm>
            <a:off x="905256" y="2276856"/>
            <a:ext cx="292608" cy="292608"/>
          </a:xfrm>
          <a:prstGeom prst="rect">
            <a:avLst/>
          </a:prstGeom>
        </p:spPr>
      </p:pic>
      <p:sp>
        <p:nvSpPr>
          <p:cNvPr id="8" name="Text 5"/>
          <p:cNvSpPr/>
          <p:nvPr/>
        </p:nvSpPr>
        <p:spPr>
          <a:xfrm>
            <a:off x="777240"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Modelo Marketplace</a:t>
            </a:r>
            <a:endParaRPr lang="en-US" sz="1450" dirty="0"/>
          </a:p>
        </p:txBody>
      </p:sp>
      <p:sp>
        <p:nvSpPr>
          <p:cNvPr id="9" name="Text 6"/>
          <p:cNvSpPr/>
          <p:nvPr/>
        </p:nvSpPr>
        <p:spPr>
          <a:xfrm>
            <a:off x="777240"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Desintermediação digital e eficiência operacional: originação 100% digital, sem agências físicas ou estrutura de balcão tradicional.</a:t>
            </a:r>
            <a:endParaRPr lang="en-US" sz="1050" dirty="0"/>
          </a:p>
        </p:txBody>
      </p:sp>
      <p:sp>
        <p:nvSpPr>
          <p:cNvPr id="10" name="Shape 7"/>
          <p:cNvSpPr/>
          <p:nvPr/>
        </p:nvSpPr>
        <p:spPr>
          <a:xfrm>
            <a:off x="4334256"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1" name="Shape 8"/>
          <p:cNvSpPr/>
          <p:nvPr/>
        </p:nvSpPr>
        <p:spPr>
          <a:xfrm>
            <a:off x="4608576" y="2148840"/>
            <a:ext cx="548640" cy="548640"/>
          </a:xfrm>
          <a:prstGeom prst="ellipse">
            <a:avLst/>
          </a:prstGeom>
          <a:solidFill>
            <a:srgbClr val="1B2A44"/>
          </a:solidFill>
          <a:ln/>
        </p:spPr>
        <p:txBody>
          <a:bodyPr/>
          <a:lstStyle/>
          <a:p>
            <a:endParaRPr lang="pt-BR"/>
          </a:p>
        </p:txBody>
      </p:sp>
      <p:pic>
        <p:nvPicPr>
          <p:cNvPr id="12" name="Image 1" descr="/home/claude/deck/assets/produto.png"/>
          <p:cNvPicPr>
            <a:picLocks noChangeAspect="1"/>
          </p:cNvPicPr>
          <p:nvPr/>
        </p:nvPicPr>
        <p:blipFill>
          <a:blip r:embed="rId4"/>
          <a:stretch>
            <a:fillRect/>
          </a:stretch>
        </p:blipFill>
        <p:spPr>
          <a:xfrm>
            <a:off x="4736592" y="2276856"/>
            <a:ext cx="292608" cy="292608"/>
          </a:xfrm>
          <a:prstGeom prst="rect">
            <a:avLst/>
          </a:prstGeom>
        </p:spPr>
      </p:pic>
      <p:sp>
        <p:nvSpPr>
          <p:cNvPr id="13" name="Text 9"/>
          <p:cNvSpPr/>
          <p:nvPr/>
        </p:nvSpPr>
        <p:spPr>
          <a:xfrm>
            <a:off x="4608576"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O Produto</a:t>
            </a:r>
            <a:endParaRPr lang="en-US" sz="1450" dirty="0"/>
          </a:p>
        </p:txBody>
      </p:sp>
      <p:sp>
        <p:nvSpPr>
          <p:cNvPr id="14" name="Text 10"/>
          <p:cNvSpPr/>
          <p:nvPr/>
        </p:nvSpPr>
        <p:spPr>
          <a:xfrm>
            <a:off x="4608576"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Empréstimos pessoais pré-fixados de 36 e 60 meses, com foco central em consolidação de dívidas de cartão de crédito e outras dívidas de alta taxa.</a:t>
            </a:r>
            <a:endParaRPr lang="en-US" sz="1050" dirty="0"/>
          </a:p>
        </p:txBody>
      </p:sp>
      <p:sp>
        <p:nvSpPr>
          <p:cNvPr id="15" name="Shape 11"/>
          <p:cNvSpPr/>
          <p:nvPr/>
        </p:nvSpPr>
        <p:spPr>
          <a:xfrm>
            <a:off x="8165592"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6" name="Shape 12"/>
          <p:cNvSpPr/>
          <p:nvPr/>
        </p:nvSpPr>
        <p:spPr>
          <a:xfrm>
            <a:off x="8439912" y="2148840"/>
            <a:ext cx="548640" cy="548640"/>
          </a:xfrm>
          <a:prstGeom prst="ellipse">
            <a:avLst/>
          </a:prstGeom>
          <a:solidFill>
            <a:srgbClr val="1B2A44"/>
          </a:solidFill>
          <a:ln/>
        </p:spPr>
        <p:txBody>
          <a:bodyPr/>
          <a:lstStyle/>
          <a:p>
            <a:endParaRPr lang="pt-BR"/>
          </a:p>
        </p:txBody>
      </p:sp>
      <p:pic>
        <p:nvPicPr>
          <p:cNvPr id="17" name="Image 2" descr="/home/claude/deck/assets/underwriting.png"/>
          <p:cNvPicPr>
            <a:picLocks noChangeAspect="1"/>
          </p:cNvPicPr>
          <p:nvPr/>
        </p:nvPicPr>
        <p:blipFill>
          <a:blip r:embed="rId5"/>
          <a:stretch>
            <a:fillRect/>
          </a:stretch>
        </p:blipFill>
        <p:spPr>
          <a:xfrm>
            <a:off x="8567928" y="2276856"/>
            <a:ext cx="292608" cy="292608"/>
          </a:xfrm>
          <a:prstGeom prst="rect">
            <a:avLst/>
          </a:prstGeom>
        </p:spPr>
      </p:pic>
      <p:sp>
        <p:nvSpPr>
          <p:cNvPr id="18" name="Text 13"/>
          <p:cNvSpPr/>
          <p:nvPr/>
        </p:nvSpPr>
        <p:spPr>
          <a:xfrm>
            <a:off x="8439912"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Underwriting</a:t>
            </a:r>
            <a:endParaRPr lang="en-US" sz="1450" dirty="0"/>
          </a:p>
        </p:txBody>
      </p:sp>
      <p:sp>
        <p:nvSpPr>
          <p:cNvPr id="19" name="Text 14"/>
          <p:cNvSpPr/>
          <p:nvPr/>
        </p:nvSpPr>
        <p:spPr>
          <a:xfrm>
            <a:off x="8439912"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Atribuição de notas de risco (Grades A a G) via algoritmo proprietário de Risk-Based Pricing, calibrando taxa de juros à probabilidade de default.</a:t>
            </a:r>
            <a:endParaRPr lang="en-US" sz="1050" dirty="0"/>
          </a:p>
        </p:txBody>
      </p:sp>
      <p:sp>
        <p:nvSpPr>
          <p:cNvPr id="20" name="Shape 15"/>
          <p:cNvSpPr/>
          <p:nvPr/>
        </p:nvSpPr>
        <p:spPr>
          <a:xfrm>
            <a:off x="502920" y="4864608"/>
            <a:ext cx="11183112" cy="566928"/>
          </a:xfrm>
          <a:prstGeom prst="roundRect">
            <a:avLst>
              <a:gd name="adj" fmla="val 12903"/>
            </a:avLst>
          </a:prstGeom>
          <a:solidFill>
            <a:srgbClr val="E8ECF3"/>
          </a:solidFill>
          <a:ln/>
        </p:spPr>
        <p:txBody>
          <a:bodyPr/>
          <a:lstStyle/>
          <a:p>
            <a:endParaRPr lang="pt-BR"/>
          </a:p>
        </p:txBody>
      </p:sp>
      <p:sp>
        <p:nvSpPr>
          <p:cNvPr id="21" name="Text 16"/>
          <p:cNvSpPr/>
          <p:nvPr/>
        </p:nvSpPr>
        <p:spPr>
          <a:xfrm>
            <a:off x="777240" y="4864608"/>
            <a:ext cx="10634472" cy="566928"/>
          </a:xfrm>
          <a:prstGeom prst="rect">
            <a:avLst/>
          </a:prstGeom>
          <a:noFill/>
          <a:ln/>
        </p:spPr>
        <p:txBody>
          <a:bodyPr wrap="square" lIns="0" tIns="0" rIns="0" bIns="0" rtlCol="0" anchor="ctr"/>
          <a:lstStyle/>
          <a:p>
            <a:pPr marL="0" indent="0">
              <a:lnSpc>
                <a:spcPct val="115000"/>
              </a:lnSpc>
              <a:buNone/>
            </a:pPr>
            <a:r>
              <a:rPr lang="en-US" sz="1350" b="1" dirty="0">
                <a:solidFill>
                  <a:srgbClr val="1B2A44"/>
                </a:solidFill>
              </a:rPr>
              <a:t>1,34 milhão  </a:t>
            </a:r>
            <a:r>
              <a:rPr lang="en-US" sz="1150" dirty="0">
                <a:solidFill>
                  <a:srgbClr val="55606E"/>
                </a:solidFill>
              </a:rPr>
              <a:t>de propostas aprovadas e financiadas ao longo do período analisado (2007–2018) — escala que evidencia a maturidade e a capilaridade do modelo marketplace.</a:t>
            </a:r>
            <a:endParaRPr lang="en-US" sz="1350" dirty="0"/>
          </a:p>
        </p:txBody>
      </p:sp>
      <p:sp>
        <p:nvSpPr>
          <p:cNvPr id="22" name="Text 17"/>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3" name="Text 18"/>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02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 MÉTRICA CENTRAL &amp; ROBUSTEZ</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Robustez do Negócio e Exigência de ROA Superior</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um Modelo Já Altamente Lucrativo Supera os Benchmarks de Mercado</a:t>
            </a:r>
            <a:endParaRPr lang="en-US" sz="1250" dirty="0"/>
          </a:p>
        </p:txBody>
      </p:sp>
      <p:sp>
        <p:nvSpPr>
          <p:cNvPr id="5" name="Text 3"/>
          <p:cNvSpPr/>
          <p:nvPr/>
        </p:nvSpPr>
        <p:spPr>
          <a:xfrm>
            <a:off x="502920" y="1783080"/>
            <a:ext cx="4937760" cy="329184"/>
          </a:xfrm>
          <a:prstGeom prst="rect">
            <a:avLst/>
          </a:prstGeom>
          <a:noFill/>
          <a:ln/>
        </p:spPr>
        <p:txBody>
          <a:bodyPr wrap="square" lIns="0" tIns="0" rIns="0" bIns="0" rtlCol="0" anchor="ctr"/>
          <a:lstStyle/>
          <a:p>
            <a:pPr marL="0" indent="0">
              <a:buNone/>
            </a:pPr>
            <a:r>
              <a:rPr lang="en-US" sz="1500" b="1" dirty="0">
                <a:solidFill>
                  <a:srgbClr val="1B2A44"/>
                </a:solidFill>
                <a:latin typeface="Arial" pitchFamily="34" charset="0"/>
                <a:ea typeface="Arial" pitchFamily="34" charset="-122"/>
                <a:cs typeface="Arial" pitchFamily="34" charset="-120"/>
              </a:rPr>
              <a:t>Um Modelo Lucrativo por Design</a:t>
            </a:r>
            <a:endParaRPr lang="en-US" sz="1500" dirty="0"/>
          </a:p>
        </p:txBody>
      </p:sp>
      <p:sp>
        <p:nvSpPr>
          <p:cNvPr id="6" name="Text 4"/>
          <p:cNvSpPr/>
          <p:nvPr/>
        </p:nvSpPr>
        <p:spPr>
          <a:xfrm>
            <a:off x="502920" y="2157984"/>
            <a:ext cx="4937760" cy="1051560"/>
          </a:xfrm>
          <a:prstGeom prst="rect">
            <a:avLst/>
          </a:prstGeom>
          <a:noFill/>
          <a:ln/>
        </p:spPr>
        <p:txBody>
          <a:bodyPr wrap="square" lIns="0" tIns="0" rIns="0" bIns="0" rtlCol="0" anchor="t"/>
          <a:lstStyle/>
          <a:p>
            <a:pPr marL="0" indent="0">
              <a:lnSpc>
                <a:spcPct val="128000"/>
              </a:lnSpc>
              <a:buNone/>
            </a:pPr>
            <a:r>
              <a:rPr lang="en-US" sz="1200" dirty="0">
                <a:solidFill>
                  <a:srgbClr val="55606E"/>
                </a:solidFill>
                <a:latin typeface="Arial" pitchFamily="34" charset="0"/>
                <a:ea typeface="Arial" pitchFamily="34" charset="-122"/>
                <a:cs typeface="Arial" pitchFamily="34" charset="-120"/>
              </a:rPr>
              <a:t>Com $3,33B em lucro líquido e ROA de 4,43%, o banco já supera o mercado. Ainda assim, sem garantia real, o retorno precisa embutir prêmio de risco para absorver a inadimplência esperada.</a:t>
            </a:r>
            <a:endParaRPr lang="en-US" sz="1200" dirty="0"/>
          </a:p>
        </p:txBody>
      </p:sp>
      <p:sp>
        <p:nvSpPr>
          <p:cNvPr id="7" name="Shape 5"/>
          <p:cNvSpPr/>
          <p:nvPr/>
        </p:nvSpPr>
        <p:spPr>
          <a:xfrm>
            <a:off x="502920" y="3429000"/>
            <a:ext cx="4937760" cy="868680"/>
          </a:xfrm>
          <a:prstGeom prst="roundRect">
            <a:avLst>
              <a:gd name="adj" fmla="val 7368"/>
            </a:avLst>
          </a:prstGeom>
          <a:solidFill>
            <a:srgbClr val="F4F6F8"/>
          </a:solidFill>
          <a:ln/>
        </p:spPr>
        <p:txBody>
          <a:bodyPr/>
          <a:lstStyle/>
          <a:p>
            <a:endParaRPr lang="pt-BR"/>
          </a:p>
        </p:txBody>
      </p:sp>
      <p:sp>
        <p:nvSpPr>
          <p:cNvPr id="8" name="Shape 6"/>
          <p:cNvSpPr/>
          <p:nvPr/>
        </p:nvSpPr>
        <p:spPr>
          <a:xfrm>
            <a:off x="704088" y="3781044"/>
            <a:ext cx="164592" cy="164592"/>
          </a:xfrm>
          <a:prstGeom prst="ellipse">
            <a:avLst/>
          </a:prstGeom>
          <a:solidFill>
            <a:srgbClr val="1B2A44"/>
          </a:solidFill>
          <a:ln/>
        </p:spPr>
        <p:txBody>
          <a:bodyPr/>
          <a:lstStyle/>
          <a:p>
            <a:endParaRPr lang="pt-BR"/>
          </a:p>
        </p:txBody>
      </p:sp>
      <p:sp>
        <p:nvSpPr>
          <p:cNvPr id="9" name="Text 7"/>
          <p:cNvSpPr/>
          <p:nvPr/>
        </p:nvSpPr>
        <p:spPr>
          <a:xfrm>
            <a:off x="1005840" y="351129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Ausência de Colateral</a:t>
            </a:r>
            <a:endParaRPr lang="en-US" sz="1250" dirty="0"/>
          </a:p>
        </p:txBody>
      </p:sp>
      <p:sp>
        <p:nvSpPr>
          <p:cNvPr id="10" name="Text 8"/>
          <p:cNvSpPr/>
          <p:nvPr/>
        </p:nvSpPr>
        <p:spPr>
          <a:xfrm>
            <a:off x="1005840" y="381121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Sem garantia real, a recuperação em default depende quase exclusivamente de cobrança, elevando a perda esperada por unidade de crédito.</a:t>
            </a:r>
            <a:endParaRPr lang="en-US" sz="1000" dirty="0"/>
          </a:p>
        </p:txBody>
      </p:sp>
      <p:sp>
        <p:nvSpPr>
          <p:cNvPr id="11" name="Shape 9"/>
          <p:cNvSpPr/>
          <p:nvPr/>
        </p:nvSpPr>
        <p:spPr>
          <a:xfrm>
            <a:off x="502920" y="4434840"/>
            <a:ext cx="4937760" cy="868680"/>
          </a:xfrm>
          <a:prstGeom prst="roundRect">
            <a:avLst>
              <a:gd name="adj" fmla="val 7368"/>
            </a:avLst>
          </a:prstGeom>
          <a:solidFill>
            <a:srgbClr val="F4F6F8"/>
          </a:solidFill>
          <a:ln/>
        </p:spPr>
        <p:txBody>
          <a:bodyPr/>
          <a:lstStyle/>
          <a:p>
            <a:endParaRPr lang="pt-BR"/>
          </a:p>
        </p:txBody>
      </p:sp>
      <p:sp>
        <p:nvSpPr>
          <p:cNvPr id="12" name="Shape 10"/>
          <p:cNvSpPr/>
          <p:nvPr/>
        </p:nvSpPr>
        <p:spPr>
          <a:xfrm>
            <a:off x="704088" y="4786884"/>
            <a:ext cx="164592" cy="164592"/>
          </a:xfrm>
          <a:prstGeom prst="ellipse">
            <a:avLst/>
          </a:prstGeom>
          <a:solidFill>
            <a:srgbClr val="1B2A44"/>
          </a:solidFill>
          <a:ln/>
        </p:spPr>
        <p:txBody>
          <a:bodyPr/>
          <a:lstStyle/>
          <a:p>
            <a:endParaRPr lang="pt-BR"/>
          </a:p>
        </p:txBody>
      </p:sp>
      <p:sp>
        <p:nvSpPr>
          <p:cNvPr id="13" name="Text 11"/>
          <p:cNvSpPr/>
          <p:nvPr/>
        </p:nvSpPr>
        <p:spPr>
          <a:xfrm>
            <a:off x="1005840" y="451713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Prêmio de Risco Necessário</a:t>
            </a:r>
            <a:endParaRPr lang="en-US" sz="1250" dirty="0"/>
          </a:p>
        </p:txBody>
      </p:sp>
      <p:sp>
        <p:nvSpPr>
          <p:cNvPr id="14" name="Text 12"/>
          <p:cNvSpPr/>
          <p:nvPr/>
        </p:nvSpPr>
        <p:spPr>
          <a:xfrm>
            <a:off x="1005840" y="481705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O Hurdle Rate institucional de 4,00% a.a. define o piso mínimo de ROA para que a originação siga economicamente sustentável.</a:t>
            </a:r>
            <a:endParaRPr lang="en-US" sz="1000" dirty="0"/>
          </a:p>
        </p:txBody>
      </p:sp>
      <p:sp>
        <p:nvSpPr>
          <p:cNvPr id="15" name="Text 13"/>
          <p:cNvSpPr/>
          <p:nvPr/>
        </p:nvSpPr>
        <p:spPr>
          <a:xfrm>
            <a:off x="5760720" y="1783080"/>
            <a:ext cx="5486400" cy="292608"/>
          </a:xfrm>
          <a:prstGeom prst="rect">
            <a:avLst/>
          </a:prstGeom>
          <a:noFill/>
          <a:ln/>
        </p:spPr>
        <p:txBody>
          <a:bodyPr wrap="square" lIns="0" tIns="0" rIns="0" bIns="0" rtlCol="0" anchor="ctr"/>
          <a:lstStyle/>
          <a:p>
            <a:pPr marL="0" indent="0">
              <a:buNone/>
            </a:pPr>
            <a:r>
              <a:rPr lang="en-US" sz="1300" b="1" dirty="0">
                <a:solidFill>
                  <a:srgbClr val="1B2A44"/>
                </a:solidFill>
                <a:latin typeface="Arial" pitchFamily="34" charset="0"/>
                <a:ea typeface="Arial" pitchFamily="34" charset="-122"/>
                <a:cs typeface="Arial" pitchFamily="34" charset="-120"/>
              </a:rPr>
              <a:t>Tabela de Benchmarks de ROA (2018)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2148840"/>
          <a:ext cx="5486400" cy="2852928"/>
        </p:xfrm>
        <a:graphic>
          <a:graphicData uri="http://schemas.openxmlformats.org/drawingml/2006/table">
            <a:tbl>
              <a:tblPr/>
              <a:tblGrid>
                <a:gridCol w="3520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02336">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Referência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ROA (a.a.)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Bancos Comerciais EUA</a:t>
                      </a:r>
                      <a:endParaRPr lang="en-US" sz="1100" dirty="0">
                        <a:latin typeface="Arial" charset="0"/>
                        <a:ea typeface="Arial" charset="0"/>
                        <a:cs typeface="Arial" charset="0"/>
                      </a:endParaRPr>
                    </a:p>
                    <a:p>
                      <a:pPr marL="0" indent="0" algn="l">
                        <a:buNone/>
                      </a:pPr>
                      <a:r>
                        <a:rPr lang="en-US" sz="1100" dirty="0">
                          <a:solidFill>
                            <a:srgbClr val="55606E"/>
                          </a:solidFill>
                          <a:latin typeface="Arial" pitchFamily="34" charset="0"/>
                          <a:ea typeface="Arial" pitchFamily="34" charset="-122"/>
                          <a:cs typeface="Arial" pitchFamily="34" charset="-120"/>
                        </a:rPr>
                        <a:t>(Média FRED, 2018)</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~1,00%–1,32%</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Discover Financial (DFS)</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Synchrony Financial (SYF)</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3,80%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B2A44"/>
                          </a:solidFill>
                          <a:latin typeface="Arial" pitchFamily="34" charset="0"/>
                          <a:ea typeface="Arial" pitchFamily="34" charset="-122"/>
                          <a:cs typeface="Arial" pitchFamily="34" charset="-120"/>
                        </a:rPr>
                        <a:t>Hurdle Institucional (Meta)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tc>
                  <a:txBody>
                    <a:bodyPr/>
                    <a:lstStyle/>
                    <a:p>
                      <a:pPr marL="0" indent="0" algn="r">
                        <a:buNone/>
                      </a:pPr>
                      <a:r>
                        <a:rPr lang="en-US" sz="1300" b="1" dirty="0">
                          <a:solidFill>
                            <a:srgbClr val="1B2A44"/>
                          </a:solidFill>
                          <a:latin typeface="Arial" pitchFamily="34" charset="0"/>
                          <a:ea typeface="Arial" pitchFamily="34" charset="-122"/>
                          <a:cs typeface="Arial" pitchFamily="34" charset="-120"/>
                        </a:rPr>
                        <a:t>4,00%</a:t>
                      </a:r>
                      <a:endParaRPr lang="en-US" sz="13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E8A5D"/>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E8A5D"/>
                          </a:solidFill>
                          <a:latin typeface="Arial" pitchFamily="34" charset="0"/>
                          <a:ea typeface="Arial" pitchFamily="34" charset="-122"/>
                          <a:cs typeface="Arial" pitchFamily="34" charset="-120"/>
                        </a:rPr>
                        <a:t>Resultado Histórico (Real)</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tc>
                  <a:txBody>
                    <a:bodyPr/>
                    <a:lstStyle/>
                    <a:p>
                      <a:pPr marL="0" indent="0" algn="r">
                        <a:buNone/>
                      </a:pPr>
                      <a:r>
                        <a:rPr lang="en-US" sz="1500" b="1" dirty="0">
                          <a:solidFill>
                            <a:srgbClr val="1E8A5D"/>
                          </a:solidFill>
                          <a:latin typeface="Arial" pitchFamily="34" charset="0"/>
                          <a:ea typeface="Arial" pitchFamily="34" charset="-122"/>
                          <a:cs typeface="Arial" pitchFamily="34" charset="-120"/>
                        </a:rPr>
                        <a:t>4,43%</a:t>
                      </a:r>
                      <a:endParaRPr lang="en-US" sz="15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5257800"/>
            <a:ext cx="5486400" cy="274320"/>
          </a:xfrm>
          <a:prstGeom prst="rect">
            <a:avLst/>
          </a:prstGeom>
          <a:noFill/>
          <a:ln/>
        </p:spPr>
        <p:txBody>
          <a:bodyPr wrap="square" lIns="0" tIns="0" rIns="0" bIns="0" rtlCol="0" anchor="ctr"/>
          <a:lstStyle/>
          <a:p>
            <a:pPr marL="0" indent="0">
              <a:buNone/>
            </a:pPr>
            <a:r>
              <a:rPr lang="en-US" sz="950" i="1" dirty="0">
                <a:solidFill>
                  <a:srgbClr val="98A1AD"/>
                </a:solidFill>
                <a:latin typeface="Arial" pitchFamily="34" charset="0"/>
                <a:ea typeface="Arial" pitchFamily="34" charset="-122"/>
                <a:cs typeface="Arial" pitchFamily="34" charset="-120"/>
              </a:rPr>
              <a:t>Resultado consolidado: $3,33B de lucro </a:t>
            </a:r>
            <a:r>
              <a:rPr lang="en-US" sz="950" i="1" dirty="0" err="1">
                <a:solidFill>
                  <a:srgbClr val="98A1AD"/>
                </a:solidFill>
                <a:latin typeface="Arial" pitchFamily="34" charset="0"/>
                <a:ea typeface="Arial" pitchFamily="34" charset="-122"/>
                <a:cs typeface="Arial" pitchFamily="34" charset="-120"/>
              </a:rPr>
              <a:t>líquido</a:t>
            </a:r>
            <a:r>
              <a:rPr lang="en-US" sz="950" i="1" dirty="0">
                <a:solidFill>
                  <a:srgbClr val="98A1AD"/>
                </a:solidFill>
                <a:latin typeface="Arial" pitchFamily="34" charset="0"/>
                <a:ea typeface="Arial" pitchFamily="34" charset="-122"/>
                <a:cs typeface="Arial" pitchFamily="34" charset="-120"/>
              </a:rPr>
              <a:t> </a:t>
            </a:r>
            <a:r>
              <a:rPr lang="en-US" sz="950" i="1" dirty="0" err="1">
                <a:solidFill>
                  <a:srgbClr val="98A1AD"/>
                </a:solidFill>
                <a:latin typeface="Arial" pitchFamily="34" charset="0"/>
                <a:ea typeface="Arial" pitchFamily="34" charset="-122"/>
                <a:cs typeface="Arial" pitchFamily="34" charset="-120"/>
              </a:rPr>
              <a:t>sobre</a:t>
            </a:r>
            <a:r>
              <a:rPr lang="en-US" sz="950" i="1" dirty="0">
                <a:solidFill>
                  <a:srgbClr val="98A1AD"/>
                </a:solidFill>
                <a:latin typeface="Arial" pitchFamily="34" charset="0"/>
                <a:ea typeface="Arial" pitchFamily="34" charset="-122"/>
                <a:cs typeface="Arial" pitchFamily="34" charset="-120"/>
              </a:rPr>
              <a:t> $20,3B financiados (1,34M contratos).</a:t>
            </a:r>
            <a:endParaRPr lang="en-US" sz="950" dirty="0"/>
          </a:p>
        </p:txBody>
      </p:sp>
      <p:sp>
        <p:nvSpPr>
          <p:cNvPr id="18" name="Text 15"/>
          <p:cNvSpPr/>
          <p:nvPr/>
        </p:nvSpPr>
        <p:spPr>
          <a:xfrm>
            <a:off x="502920" y="6044184"/>
            <a:ext cx="11183112" cy="438912"/>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(ROA &amp; Benchmarking Temporal): O Return on Assets (ROA) mede a rentabilidade líquida da carteira (resultado financeiro líquido / capital financiado). Para garantir a homogeneidade da análise, os benchmarks de mercado (FRED, Discover Financial e Synchrony Financial) foram consolidados com base nos relatórios financeiros e dados macroeconômicos oficiais de 2018, alinhando-se rigorosamente ao encerramento da janela histórica do dataset (2007–2018) frente ao Hurdle Rate institucional de 4,00% a.a.</a:t>
            </a:r>
            <a:endParaRPr lang="en-US" sz="75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03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ARQUITETURA ANALÍTICA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Arquitetura Analítica: Segmentação e Engenharia de Atributos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Lentes Proprietárias para Diagnóstico Fino de Risco e Rentabilidade, com Volumetria Completa</a:t>
            </a:r>
            <a:endParaRPr lang="en-US" sz="1250" dirty="0"/>
          </a:p>
        </p:txBody>
      </p:sp>
      <p:sp>
        <p:nvSpPr>
          <p:cNvPr id="5" name="Text 3"/>
          <p:cNvSpPr/>
          <p:nvPr/>
        </p:nvSpPr>
        <p:spPr>
          <a:xfrm>
            <a:off x="50292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Faixas de Renda Data-Driven (USD 2018)</a:t>
            </a:r>
            <a:endParaRPr lang="en-US" sz="1400" dirty="0"/>
          </a:p>
        </p:txBody>
      </p:sp>
      <p:sp>
        <p:nvSpPr>
          <p:cNvPr id="6" name="Shape 4"/>
          <p:cNvSpPr/>
          <p:nvPr/>
        </p:nvSpPr>
        <p:spPr>
          <a:xfrm>
            <a:off x="502920" y="2194560"/>
            <a:ext cx="384048" cy="384048"/>
          </a:xfrm>
          <a:prstGeom prst="ellipse">
            <a:avLst/>
          </a:prstGeom>
          <a:solidFill>
            <a:srgbClr val="1B2A44"/>
          </a:solidFill>
          <a:ln/>
        </p:spPr>
        <p:txBody>
          <a:bodyPr/>
          <a:lstStyle/>
          <a:p>
            <a:endParaRPr lang="pt-BR"/>
          </a:p>
        </p:txBody>
      </p:sp>
      <p:sp>
        <p:nvSpPr>
          <p:cNvPr id="7" name="Text 5"/>
          <p:cNvSpPr/>
          <p:nvPr/>
        </p:nvSpPr>
        <p:spPr>
          <a:xfrm>
            <a:off x="502920" y="219456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a:t>
            </a:r>
            <a:endParaRPr lang="en-US" sz="1250" dirty="0"/>
          </a:p>
        </p:txBody>
      </p:sp>
      <p:sp>
        <p:nvSpPr>
          <p:cNvPr id="8" name="Text 6"/>
          <p:cNvSpPr/>
          <p:nvPr/>
        </p:nvSpPr>
        <p:spPr>
          <a:xfrm>
            <a:off x="1033272" y="2103120"/>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A  </a:t>
            </a:r>
            <a:r>
              <a:rPr lang="en-US" sz="1200" dirty="0">
                <a:solidFill>
                  <a:srgbClr val="55606E"/>
                </a:solidFill>
                <a:latin typeface="Arial" pitchFamily="34" charset="0"/>
                <a:ea typeface="Arial" pitchFamily="34" charset="-122"/>
                <a:cs typeface="Arial" pitchFamily="34" charset="-120"/>
              </a:rPr>
              <a:t>—  Acima de $104.000</a:t>
            </a:r>
            <a:endParaRPr lang="en-US" sz="1200" dirty="0"/>
          </a:p>
        </p:txBody>
      </p:sp>
      <p:sp>
        <p:nvSpPr>
          <p:cNvPr id="9" name="Text 7"/>
          <p:cNvSpPr/>
          <p:nvPr/>
        </p:nvSpPr>
        <p:spPr>
          <a:xfrm>
            <a:off x="1033272" y="2395728"/>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268.487 contratos</a:t>
            </a:r>
            <a:endParaRPr lang="en-US" sz="950" dirty="0"/>
          </a:p>
        </p:txBody>
      </p:sp>
      <p:sp>
        <p:nvSpPr>
          <p:cNvPr id="10" name="Shape 8"/>
          <p:cNvSpPr/>
          <p:nvPr/>
        </p:nvSpPr>
        <p:spPr>
          <a:xfrm>
            <a:off x="502920" y="2889504"/>
            <a:ext cx="384048" cy="384048"/>
          </a:xfrm>
          <a:prstGeom prst="ellipse">
            <a:avLst/>
          </a:prstGeom>
          <a:solidFill>
            <a:srgbClr val="1B2A44"/>
          </a:solidFill>
          <a:ln/>
        </p:spPr>
        <p:txBody>
          <a:bodyPr/>
          <a:lstStyle/>
          <a:p>
            <a:endParaRPr lang="pt-BR"/>
          </a:p>
        </p:txBody>
      </p:sp>
      <p:sp>
        <p:nvSpPr>
          <p:cNvPr id="11" name="Text 9"/>
          <p:cNvSpPr/>
          <p:nvPr/>
        </p:nvSpPr>
        <p:spPr>
          <a:xfrm>
            <a:off x="502920" y="28895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a:t>
            </a:r>
            <a:endParaRPr lang="en-US" sz="1250" dirty="0"/>
          </a:p>
        </p:txBody>
      </p:sp>
      <p:sp>
        <p:nvSpPr>
          <p:cNvPr id="12" name="Text 10"/>
          <p:cNvSpPr/>
          <p:nvPr/>
        </p:nvSpPr>
        <p:spPr>
          <a:xfrm>
            <a:off x="1033272" y="2798064"/>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B  </a:t>
            </a:r>
            <a:r>
              <a:rPr lang="en-US" sz="1200" dirty="0">
                <a:solidFill>
                  <a:srgbClr val="55606E"/>
                </a:solidFill>
                <a:latin typeface="Arial" pitchFamily="34" charset="0"/>
                <a:ea typeface="Arial" pitchFamily="34" charset="-122"/>
                <a:cs typeface="Arial" pitchFamily="34" charset="-120"/>
              </a:rPr>
              <a:t>—  $77.000 a $104.000</a:t>
            </a:r>
            <a:endParaRPr lang="en-US" sz="1200" dirty="0"/>
          </a:p>
        </p:txBody>
      </p:sp>
      <p:sp>
        <p:nvSpPr>
          <p:cNvPr id="13" name="Text 11"/>
          <p:cNvSpPr/>
          <p:nvPr/>
        </p:nvSpPr>
        <p:spPr>
          <a:xfrm>
            <a:off x="1033272" y="3090672"/>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269.294 contratos</a:t>
            </a:r>
            <a:endParaRPr lang="en-US" sz="950" dirty="0"/>
          </a:p>
        </p:txBody>
      </p:sp>
      <p:sp>
        <p:nvSpPr>
          <p:cNvPr id="14" name="Shape 12"/>
          <p:cNvSpPr/>
          <p:nvPr/>
        </p:nvSpPr>
        <p:spPr>
          <a:xfrm>
            <a:off x="502920" y="3584448"/>
            <a:ext cx="384048" cy="384048"/>
          </a:xfrm>
          <a:prstGeom prst="ellipse">
            <a:avLst/>
          </a:prstGeom>
          <a:solidFill>
            <a:srgbClr val="1B2A44"/>
          </a:solidFill>
          <a:ln/>
        </p:spPr>
        <p:txBody>
          <a:bodyPr/>
          <a:lstStyle/>
          <a:p>
            <a:endParaRPr lang="pt-BR"/>
          </a:p>
        </p:txBody>
      </p:sp>
      <p:sp>
        <p:nvSpPr>
          <p:cNvPr id="15" name="Text 13"/>
          <p:cNvSpPr/>
          <p:nvPr/>
        </p:nvSpPr>
        <p:spPr>
          <a:xfrm>
            <a:off x="502920" y="358444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a:t>
            </a:r>
            <a:endParaRPr lang="en-US" sz="1250" dirty="0"/>
          </a:p>
        </p:txBody>
      </p:sp>
      <p:sp>
        <p:nvSpPr>
          <p:cNvPr id="16" name="Text 14"/>
          <p:cNvSpPr/>
          <p:nvPr/>
        </p:nvSpPr>
        <p:spPr>
          <a:xfrm>
            <a:off x="1033272" y="3493008"/>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C  </a:t>
            </a:r>
            <a:r>
              <a:rPr lang="en-US" sz="1200" dirty="0">
                <a:solidFill>
                  <a:srgbClr val="55606E"/>
                </a:solidFill>
                <a:latin typeface="Arial" pitchFamily="34" charset="0"/>
                <a:ea typeface="Arial" pitchFamily="34" charset="-122"/>
                <a:cs typeface="Arial" pitchFamily="34" charset="-120"/>
              </a:rPr>
              <a:t>—  $59.800 a $77.000</a:t>
            </a:r>
            <a:endParaRPr lang="en-US" sz="1200" dirty="0"/>
          </a:p>
        </p:txBody>
      </p:sp>
      <p:sp>
        <p:nvSpPr>
          <p:cNvPr id="17" name="Text 15"/>
          <p:cNvSpPr/>
          <p:nvPr/>
        </p:nvSpPr>
        <p:spPr>
          <a:xfrm>
            <a:off x="1033272" y="3785616"/>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267.598 contratos</a:t>
            </a:r>
            <a:endParaRPr lang="en-US" sz="950" dirty="0"/>
          </a:p>
        </p:txBody>
      </p:sp>
      <p:sp>
        <p:nvSpPr>
          <p:cNvPr id="18" name="Shape 16"/>
          <p:cNvSpPr/>
          <p:nvPr/>
        </p:nvSpPr>
        <p:spPr>
          <a:xfrm>
            <a:off x="502920" y="4279392"/>
            <a:ext cx="384048" cy="384048"/>
          </a:xfrm>
          <a:prstGeom prst="ellipse">
            <a:avLst/>
          </a:prstGeom>
          <a:solidFill>
            <a:srgbClr val="1B2A44"/>
          </a:solidFill>
          <a:ln/>
        </p:spPr>
        <p:txBody>
          <a:bodyPr/>
          <a:lstStyle/>
          <a:p>
            <a:endParaRPr lang="pt-BR"/>
          </a:p>
        </p:txBody>
      </p:sp>
      <p:sp>
        <p:nvSpPr>
          <p:cNvPr id="19" name="Text 17"/>
          <p:cNvSpPr/>
          <p:nvPr/>
        </p:nvSpPr>
        <p:spPr>
          <a:xfrm>
            <a:off x="502920" y="427939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
            </a:r>
            <a:endParaRPr lang="en-US" sz="1250" dirty="0"/>
          </a:p>
        </p:txBody>
      </p:sp>
      <p:sp>
        <p:nvSpPr>
          <p:cNvPr id="20" name="Text 18"/>
          <p:cNvSpPr/>
          <p:nvPr/>
        </p:nvSpPr>
        <p:spPr>
          <a:xfrm>
            <a:off x="1033272" y="4187952"/>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D  </a:t>
            </a:r>
            <a:r>
              <a:rPr lang="en-US" sz="1200" dirty="0">
                <a:solidFill>
                  <a:srgbClr val="55606E"/>
                </a:solidFill>
                <a:latin typeface="Arial" pitchFamily="34" charset="0"/>
                <a:ea typeface="Arial" pitchFamily="34" charset="-122"/>
                <a:cs typeface="Arial" pitchFamily="34" charset="-120"/>
              </a:rPr>
              <a:t>—  $44.100 a $59.800</a:t>
            </a:r>
            <a:endParaRPr lang="en-US" sz="1200" dirty="0"/>
          </a:p>
        </p:txBody>
      </p:sp>
      <p:sp>
        <p:nvSpPr>
          <p:cNvPr id="21" name="Text 19"/>
          <p:cNvSpPr/>
          <p:nvPr/>
        </p:nvSpPr>
        <p:spPr>
          <a:xfrm>
            <a:off x="1033272" y="4480560"/>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268.295 contratos</a:t>
            </a:r>
            <a:endParaRPr lang="en-US" sz="950" dirty="0"/>
          </a:p>
        </p:txBody>
      </p:sp>
      <p:sp>
        <p:nvSpPr>
          <p:cNvPr id="22" name="Shape 20"/>
          <p:cNvSpPr/>
          <p:nvPr/>
        </p:nvSpPr>
        <p:spPr>
          <a:xfrm>
            <a:off x="502920" y="4974336"/>
            <a:ext cx="384048" cy="384048"/>
          </a:xfrm>
          <a:prstGeom prst="ellipse">
            <a:avLst/>
          </a:prstGeom>
          <a:solidFill>
            <a:srgbClr val="1B2A44"/>
          </a:solidFill>
          <a:ln/>
        </p:spPr>
        <p:txBody>
          <a:bodyPr/>
          <a:lstStyle/>
          <a:p>
            <a:endParaRPr lang="pt-BR"/>
          </a:p>
        </p:txBody>
      </p:sp>
      <p:sp>
        <p:nvSpPr>
          <p:cNvPr id="23" name="Text 21"/>
          <p:cNvSpPr/>
          <p:nvPr/>
        </p:nvSpPr>
        <p:spPr>
          <a:xfrm>
            <a:off x="502920" y="497433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E</a:t>
            </a:r>
            <a:endParaRPr lang="en-US" sz="1250" dirty="0"/>
          </a:p>
        </p:txBody>
      </p:sp>
      <p:sp>
        <p:nvSpPr>
          <p:cNvPr id="24" name="Text 22"/>
          <p:cNvSpPr/>
          <p:nvPr/>
        </p:nvSpPr>
        <p:spPr>
          <a:xfrm>
            <a:off x="1033272" y="4882896"/>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E  </a:t>
            </a:r>
            <a:r>
              <a:rPr lang="en-US" sz="1200" dirty="0">
                <a:solidFill>
                  <a:srgbClr val="55606E"/>
                </a:solidFill>
                <a:latin typeface="Arial" pitchFamily="34" charset="0"/>
                <a:ea typeface="Arial" pitchFamily="34" charset="-122"/>
                <a:cs typeface="Arial" pitchFamily="34" charset="-120"/>
              </a:rPr>
              <a:t>—  Até $44.100</a:t>
            </a:r>
            <a:endParaRPr lang="en-US" sz="1200" dirty="0"/>
          </a:p>
        </p:txBody>
      </p:sp>
      <p:sp>
        <p:nvSpPr>
          <p:cNvPr id="25" name="Text 23"/>
          <p:cNvSpPr/>
          <p:nvPr/>
        </p:nvSpPr>
        <p:spPr>
          <a:xfrm>
            <a:off x="1033272" y="5175504"/>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271.315 contratos</a:t>
            </a:r>
            <a:endParaRPr lang="en-US" sz="950" dirty="0"/>
          </a:p>
        </p:txBody>
      </p:sp>
      <p:sp>
        <p:nvSpPr>
          <p:cNvPr id="26" name="Text 24"/>
          <p:cNvSpPr/>
          <p:nvPr/>
        </p:nvSpPr>
        <p:spPr>
          <a:xfrm>
            <a:off x="603504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Comprometimento Orçamentário (Installment-to-Income)</a:t>
            </a:r>
            <a:endParaRPr lang="en-US" sz="1400" dirty="0"/>
          </a:p>
        </p:txBody>
      </p:sp>
      <p:sp>
        <p:nvSpPr>
          <p:cNvPr id="27" name="Shape 25"/>
          <p:cNvSpPr/>
          <p:nvPr/>
        </p:nvSpPr>
        <p:spPr>
          <a:xfrm>
            <a:off x="6035040" y="2084832"/>
            <a:ext cx="5212080" cy="1051560"/>
          </a:xfrm>
          <a:prstGeom prst="roundRect">
            <a:avLst>
              <a:gd name="adj" fmla="val 6087"/>
            </a:avLst>
          </a:prstGeom>
          <a:solidFill>
            <a:srgbClr val="E7F3EE"/>
          </a:solidFill>
          <a:ln/>
        </p:spPr>
        <p:txBody>
          <a:bodyPr/>
          <a:lstStyle/>
          <a:p>
            <a:endParaRPr lang="pt-BR"/>
          </a:p>
        </p:txBody>
      </p:sp>
      <p:sp>
        <p:nvSpPr>
          <p:cNvPr id="28" name="Shape 26"/>
          <p:cNvSpPr/>
          <p:nvPr/>
        </p:nvSpPr>
        <p:spPr>
          <a:xfrm>
            <a:off x="6236208" y="2528316"/>
            <a:ext cx="164592" cy="164592"/>
          </a:xfrm>
          <a:prstGeom prst="ellipse">
            <a:avLst/>
          </a:prstGeom>
          <a:solidFill>
            <a:srgbClr val="1E8A5D"/>
          </a:solidFill>
          <a:ln/>
        </p:spPr>
        <p:txBody>
          <a:bodyPr/>
          <a:lstStyle/>
          <a:p>
            <a:endParaRPr lang="pt-BR"/>
          </a:p>
        </p:txBody>
      </p:sp>
      <p:sp>
        <p:nvSpPr>
          <p:cNvPr id="29" name="Text 27"/>
          <p:cNvSpPr/>
          <p:nvPr/>
        </p:nvSpPr>
        <p:spPr>
          <a:xfrm>
            <a:off x="6537960" y="2167128"/>
            <a:ext cx="4480560" cy="420624"/>
          </a:xfrm>
          <a:prstGeom prst="rect">
            <a:avLst/>
          </a:prstGeom>
          <a:noFill/>
          <a:ln/>
        </p:spPr>
        <p:txBody>
          <a:bodyPr wrap="square" lIns="0" tIns="0" rIns="0" bIns="0" rtlCol="0" anchor="t"/>
          <a:lstStyle/>
          <a:p>
            <a:pPr marL="0" indent="0">
              <a:buNone/>
            </a:pPr>
            <a:r>
              <a:rPr lang="en-US" sz="1250" b="1" dirty="0">
                <a:solidFill>
                  <a:srgbClr val="1E8A5D"/>
                </a:solidFill>
                <a:latin typeface="Arial" pitchFamily="34" charset="0"/>
                <a:ea typeface="Arial" pitchFamily="34" charset="-122"/>
                <a:cs typeface="Arial" pitchFamily="34" charset="-120"/>
              </a:rPr>
              <a:t>Leve</a:t>
            </a:r>
            <a:endParaRPr lang="en-US" sz="1250" dirty="0"/>
          </a:p>
        </p:txBody>
      </p:sp>
      <p:sp>
        <p:nvSpPr>
          <p:cNvPr id="30" name="Text 28"/>
          <p:cNvSpPr/>
          <p:nvPr/>
        </p:nvSpPr>
        <p:spPr>
          <a:xfrm>
            <a:off x="6537960" y="254751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~965 mil contratos (estimado) · $12,58B financiados (Valores Reais) — Abaixo de 10% da renda bruta mensal comprometida com a parcela.</a:t>
            </a:r>
            <a:endParaRPr lang="en-US" sz="1000" dirty="0"/>
          </a:p>
        </p:txBody>
      </p:sp>
      <p:sp>
        <p:nvSpPr>
          <p:cNvPr id="31" name="Shape 29"/>
          <p:cNvSpPr/>
          <p:nvPr/>
        </p:nvSpPr>
        <p:spPr>
          <a:xfrm>
            <a:off x="6035040" y="3273552"/>
            <a:ext cx="5212080" cy="1051560"/>
          </a:xfrm>
          <a:prstGeom prst="roundRect">
            <a:avLst>
              <a:gd name="adj" fmla="val 6087"/>
            </a:avLst>
          </a:prstGeom>
          <a:solidFill>
            <a:srgbClr val="FBF0E0"/>
          </a:solidFill>
          <a:ln/>
        </p:spPr>
        <p:txBody>
          <a:bodyPr/>
          <a:lstStyle/>
          <a:p>
            <a:endParaRPr lang="pt-BR"/>
          </a:p>
        </p:txBody>
      </p:sp>
      <p:sp>
        <p:nvSpPr>
          <p:cNvPr id="32" name="Shape 30"/>
          <p:cNvSpPr/>
          <p:nvPr/>
        </p:nvSpPr>
        <p:spPr>
          <a:xfrm>
            <a:off x="6236208" y="3717036"/>
            <a:ext cx="164592" cy="164592"/>
          </a:xfrm>
          <a:prstGeom prst="ellipse">
            <a:avLst/>
          </a:prstGeom>
          <a:solidFill>
            <a:srgbClr val="C8790F"/>
          </a:solidFill>
          <a:ln/>
        </p:spPr>
        <p:txBody>
          <a:bodyPr/>
          <a:lstStyle/>
          <a:p>
            <a:endParaRPr lang="pt-BR"/>
          </a:p>
        </p:txBody>
      </p:sp>
      <p:sp>
        <p:nvSpPr>
          <p:cNvPr id="33" name="Text 31"/>
          <p:cNvSpPr/>
          <p:nvPr/>
        </p:nvSpPr>
        <p:spPr>
          <a:xfrm>
            <a:off x="6537960" y="3355848"/>
            <a:ext cx="4480560" cy="420624"/>
          </a:xfrm>
          <a:prstGeom prst="rect">
            <a:avLst/>
          </a:prstGeom>
          <a:noFill/>
          <a:ln/>
        </p:spPr>
        <p:txBody>
          <a:bodyPr wrap="square" lIns="0" tIns="0" rIns="0" bIns="0" rtlCol="0" anchor="t"/>
          <a:lstStyle/>
          <a:p>
            <a:pPr marL="0" indent="0">
              <a:buNone/>
            </a:pPr>
            <a:r>
              <a:rPr lang="en-US" sz="1250" b="1" dirty="0">
                <a:solidFill>
                  <a:srgbClr val="C8790F"/>
                </a:solidFill>
                <a:latin typeface="Arial" pitchFamily="34" charset="0"/>
                <a:ea typeface="Arial" pitchFamily="34" charset="-122"/>
                <a:cs typeface="Arial" pitchFamily="34" charset="-120"/>
              </a:rPr>
              <a:t>Moderado  —  "O Miolo"</a:t>
            </a:r>
            <a:endParaRPr lang="en-US" sz="1250" dirty="0"/>
          </a:p>
        </p:txBody>
      </p:sp>
      <p:sp>
        <p:nvSpPr>
          <p:cNvPr id="34" name="Text 32"/>
          <p:cNvSpPr/>
          <p:nvPr/>
        </p:nvSpPr>
        <p:spPr>
          <a:xfrm>
            <a:off x="6537960" y="373623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367.023 contratos · $7,40B financiados — 10% a 20% da renda comprometida, a faixa de maior volume e, como veremos, de maior risco oculto.</a:t>
            </a:r>
            <a:endParaRPr lang="en-US" sz="1000" dirty="0"/>
          </a:p>
        </p:txBody>
      </p:sp>
      <p:sp>
        <p:nvSpPr>
          <p:cNvPr id="35" name="Shape 33"/>
          <p:cNvSpPr/>
          <p:nvPr/>
        </p:nvSpPr>
        <p:spPr>
          <a:xfrm>
            <a:off x="6035040" y="4462272"/>
            <a:ext cx="5212080" cy="1051560"/>
          </a:xfrm>
          <a:prstGeom prst="roundRect">
            <a:avLst>
              <a:gd name="adj" fmla="val 6087"/>
            </a:avLst>
          </a:prstGeom>
          <a:solidFill>
            <a:srgbClr val="FBEAE8"/>
          </a:solidFill>
          <a:ln/>
        </p:spPr>
        <p:txBody>
          <a:bodyPr/>
          <a:lstStyle/>
          <a:p>
            <a:endParaRPr lang="pt-BR"/>
          </a:p>
        </p:txBody>
      </p:sp>
      <p:sp>
        <p:nvSpPr>
          <p:cNvPr id="36" name="Shape 34"/>
          <p:cNvSpPr/>
          <p:nvPr/>
        </p:nvSpPr>
        <p:spPr>
          <a:xfrm>
            <a:off x="6236208" y="4905756"/>
            <a:ext cx="164592" cy="164592"/>
          </a:xfrm>
          <a:prstGeom prst="ellipse">
            <a:avLst/>
          </a:prstGeom>
          <a:solidFill>
            <a:srgbClr val="C0392B"/>
          </a:solidFill>
          <a:ln/>
        </p:spPr>
        <p:txBody>
          <a:bodyPr/>
          <a:lstStyle/>
          <a:p>
            <a:endParaRPr lang="pt-BR"/>
          </a:p>
        </p:txBody>
      </p:sp>
      <p:sp>
        <p:nvSpPr>
          <p:cNvPr id="37" name="Text 35"/>
          <p:cNvSpPr/>
          <p:nvPr/>
        </p:nvSpPr>
        <p:spPr>
          <a:xfrm>
            <a:off x="6537960" y="4544568"/>
            <a:ext cx="4480560" cy="420624"/>
          </a:xfrm>
          <a:prstGeom prst="rect">
            <a:avLst/>
          </a:prstGeom>
          <a:noFill/>
          <a:ln/>
        </p:spPr>
        <p:txBody>
          <a:bodyPr wrap="square" lIns="0" tIns="0" rIns="0" bIns="0" rtlCol="0" anchor="t"/>
          <a:lstStyle/>
          <a:p>
            <a:pPr marL="0" indent="0">
              <a:buNone/>
            </a:pPr>
            <a:r>
              <a:rPr lang="en-US" sz="1250" b="1" dirty="0">
                <a:solidFill>
                  <a:srgbClr val="C0392B"/>
                </a:solidFill>
                <a:latin typeface="Arial" pitchFamily="34" charset="0"/>
                <a:ea typeface="Arial" pitchFamily="34" charset="-122"/>
                <a:cs typeface="Arial" pitchFamily="34" charset="-120"/>
              </a:rPr>
              <a:t>Severo  ("Sufocado")</a:t>
            </a:r>
            <a:endParaRPr lang="en-US" sz="1250" dirty="0"/>
          </a:p>
        </p:txBody>
      </p:sp>
      <p:sp>
        <p:nvSpPr>
          <p:cNvPr id="38" name="Text 36"/>
          <p:cNvSpPr/>
          <p:nvPr/>
        </p:nvSpPr>
        <p:spPr>
          <a:xfrm>
            <a:off x="6537960" y="492495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13.163 contratos · $319M financiados — Acima de 20% da renda comprometida, o perfil intuitivamente mais arriscado da carteira.</a:t>
            </a:r>
            <a:endParaRPr lang="en-US" sz="1000" dirty="0"/>
          </a:p>
        </p:txBody>
      </p:sp>
      <p:sp>
        <p:nvSpPr>
          <p:cNvPr id="39" name="Text 37"/>
          <p:cNvSpPr/>
          <p:nvPr/>
        </p:nvSpPr>
        <p:spPr>
          <a:xfrm>
            <a:off x="502920" y="5916168"/>
            <a:ext cx="11183112" cy="566928"/>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(Feature Engineering &amp; SQL): As classes de renda foram calibradas via quantis sobre os rendimentos anuais corrigidos pelo CPI (Dólares de 2018); a distribuição resulta em ~268 mil contratos por classe. | * Calibração vs. DTI de Mercado: Enquanto o DTI tradicional mede o estresse acima de 30%–35% do orçamento total, esta métrica mede o comprometimento da parcela individual do produto — no crédito sem garantia, acima de 20% o estresse financeiro torna-se crítico, justificando a classificação "Sufocado" pelo colapso empírico do ROA observado nos dados.</a:t>
            </a:r>
            <a:endParaRPr lang="en-US" sz="750" dirty="0"/>
          </a:p>
        </p:txBody>
      </p:sp>
      <p:sp>
        <p:nvSpPr>
          <p:cNvPr id="40" name="Text 38"/>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1" name="Text 39"/>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04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Perigo Silencioso do "Miolo" da Carteira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 Volumetria de $5,02B no Miolo vs. O Mito do Cliente "Sufocado"</a:t>
            </a:r>
            <a:endParaRPr lang="en-US" sz="1250" dirty="0"/>
          </a:p>
        </p:txBody>
      </p:sp>
      <p:graphicFrame>
        <p:nvGraphicFramePr>
          <p:cNvPr id="5" name="Chart 0"/>
          <p:cNvGraphicFramePr/>
          <p:nvPr/>
        </p:nvGraphicFramePr>
        <p:xfrm>
          <a:off x="502920" y="1783080"/>
          <a:ext cx="65379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691640"/>
            <a:ext cx="3794760" cy="1005840"/>
          </a:xfrm>
          <a:prstGeom prst="roundRect">
            <a:avLst>
              <a:gd name="adj" fmla="val 7273"/>
            </a:avLst>
          </a:prstGeom>
          <a:solidFill>
            <a:srgbClr val="F4F6F8"/>
          </a:solidFill>
          <a:ln/>
        </p:spPr>
        <p:txBody>
          <a:bodyPr/>
          <a:lstStyle/>
          <a:p>
            <a:endParaRPr lang="pt-BR"/>
          </a:p>
        </p:txBody>
      </p:sp>
      <p:sp>
        <p:nvSpPr>
          <p:cNvPr id="7" name="Text 4"/>
          <p:cNvSpPr/>
          <p:nvPr/>
        </p:nvSpPr>
        <p:spPr>
          <a:xfrm>
            <a:off x="7589520" y="1801368"/>
            <a:ext cx="3337560" cy="219456"/>
          </a:xfrm>
          <a:prstGeom prst="rect">
            <a:avLst/>
          </a:prstGeom>
          <a:noFill/>
          <a:ln/>
        </p:spPr>
        <p:txBody>
          <a:bodyPr wrap="square" lIns="0" tIns="0" rIns="0" bIns="0" rtlCol="0" anchor="ctr"/>
          <a:lstStyle/>
          <a:p>
            <a:pPr marL="0" indent="0">
              <a:buNone/>
            </a:pPr>
            <a:r>
              <a:rPr lang="en-US" sz="1000" b="1" kern="0" spc="100" dirty="0">
                <a:solidFill>
                  <a:srgbClr val="98A1AD"/>
                </a:solidFill>
                <a:latin typeface="Arial" pitchFamily="34" charset="0"/>
                <a:ea typeface="Arial" pitchFamily="34" charset="-122"/>
                <a:cs typeface="Arial" pitchFamily="34" charset="-120"/>
              </a:rPr>
              <a:t>O MITO DO "SUFOCADO"</a:t>
            </a:r>
            <a:endParaRPr lang="en-US" sz="1000" dirty="0"/>
          </a:p>
        </p:txBody>
      </p:sp>
      <p:sp>
        <p:nvSpPr>
          <p:cNvPr id="8" name="Text 5"/>
          <p:cNvSpPr/>
          <p:nvPr/>
        </p:nvSpPr>
        <p:spPr>
          <a:xfrm>
            <a:off x="7589520" y="2039112"/>
            <a:ext cx="3337560" cy="274320"/>
          </a:xfrm>
          <a:prstGeom prst="rect">
            <a:avLst/>
          </a:prstGeom>
          <a:noFill/>
          <a:ln/>
        </p:spPr>
        <p:txBody>
          <a:bodyPr wrap="square" lIns="0" tIns="0" rIns="0" bIns="0" rtlCol="0" anchor="t"/>
          <a:lstStyle/>
          <a:p>
            <a:pPr marL="0" indent="0">
              <a:buNone/>
            </a:pPr>
            <a:r>
              <a:rPr lang="en-US" sz="1300" b="1" dirty="0">
                <a:solidFill>
                  <a:srgbClr val="55606E"/>
                </a:solidFill>
                <a:latin typeface="Arial" pitchFamily="34" charset="0"/>
                <a:ea typeface="Arial" pitchFamily="34" charset="-122"/>
                <a:cs typeface="Arial" pitchFamily="34" charset="-120"/>
              </a:rPr>
              <a:t>13.163 contratos  •  0,98% da base</a:t>
            </a:r>
            <a:endParaRPr lang="en-US" sz="1300" dirty="0"/>
          </a:p>
        </p:txBody>
      </p:sp>
      <p:sp>
        <p:nvSpPr>
          <p:cNvPr id="9" name="Text 6"/>
          <p:cNvSpPr/>
          <p:nvPr/>
        </p:nvSpPr>
        <p:spPr>
          <a:xfrm>
            <a:off x="7589520" y="2331720"/>
            <a:ext cx="3337560" cy="310896"/>
          </a:xfrm>
          <a:prstGeom prst="rect">
            <a:avLst/>
          </a:prstGeom>
          <a:noFill/>
          <a:ln/>
        </p:spPr>
        <p:txBody>
          <a:bodyPr wrap="square" lIns="0" tIns="0" rIns="0" bIns="0" rtlCol="0" anchor="t"/>
          <a:lstStyle/>
          <a:p>
            <a:pPr marL="0" indent="0">
              <a:buNone/>
            </a:pPr>
            <a:r>
              <a:rPr lang="en-US" sz="1100" dirty="0">
                <a:solidFill>
                  <a:srgbClr val="55606E"/>
                </a:solidFill>
                <a:latin typeface="Arial" pitchFamily="34" charset="0"/>
                <a:ea typeface="Arial" pitchFamily="34" charset="-122"/>
                <a:cs typeface="Arial" pitchFamily="34" charset="-120"/>
              </a:rPr>
              <a:t>$319M financiados  •  $27,6M em custo de oportunidade</a:t>
            </a:r>
            <a:endParaRPr lang="en-US" sz="1100" dirty="0"/>
          </a:p>
        </p:txBody>
      </p:sp>
      <p:sp>
        <p:nvSpPr>
          <p:cNvPr id="10" name="Shape 7"/>
          <p:cNvSpPr/>
          <p:nvPr/>
        </p:nvSpPr>
        <p:spPr>
          <a:xfrm>
            <a:off x="7360920" y="2880360"/>
            <a:ext cx="3794760" cy="1005840"/>
          </a:xfrm>
          <a:prstGeom prst="roundRect">
            <a:avLst>
              <a:gd name="adj" fmla="val 7273"/>
            </a:avLst>
          </a:prstGeom>
          <a:solidFill>
            <a:srgbClr val="FBEAE8"/>
          </a:solidFill>
          <a:ln/>
        </p:spPr>
        <p:txBody>
          <a:bodyPr/>
          <a:lstStyle/>
          <a:p>
            <a:endParaRPr lang="pt-BR"/>
          </a:p>
        </p:txBody>
      </p:sp>
      <p:sp>
        <p:nvSpPr>
          <p:cNvPr id="11" name="Text 8"/>
          <p:cNvSpPr/>
          <p:nvPr/>
        </p:nvSpPr>
        <p:spPr>
          <a:xfrm>
            <a:off x="7589520" y="2990088"/>
            <a:ext cx="3337560" cy="219456"/>
          </a:xfrm>
          <a:prstGeom prst="rect">
            <a:avLst/>
          </a:prstGeom>
          <a:noFill/>
          <a:ln/>
        </p:spPr>
        <p:txBody>
          <a:bodyPr wrap="square" lIns="0" tIns="0" rIns="0" bIns="0" rtlCol="0" anchor="ctr"/>
          <a:lstStyle/>
          <a:p>
            <a:pPr marL="0" indent="0">
              <a:buNone/>
            </a:pPr>
            <a:r>
              <a:rPr lang="en-US" sz="1000" b="1" kern="0" spc="100" dirty="0">
                <a:solidFill>
                  <a:srgbClr val="C0392B"/>
                </a:solidFill>
                <a:latin typeface="Arial" pitchFamily="34" charset="0"/>
                <a:ea typeface="Arial" pitchFamily="34" charset="-122"/>
                <a:cs typeface="Arial" pitchFamily="34" charset="-120"/>
              </a:rPr>
              <a:t>O RALO DO "MIOLO"</a:t>
            </a:r>
            <a:endParaRPr lang="en-US" sz="1000" dirty="0"/>
          </a:p>
        </p:txBody>
      </p:sp>
      <p:sp>
        <p:nvSpPr>
          <p:cNvPr id="12" name="Text 9"/>
          <p:cNvSpPr/>
          <p:nvPr/>
        </p:nvSpPr>
        <p:spPr>
          <a:xfrm>
            <a:off x="7589520" y="3227832"/>
            <a:ext cx="3337560" cy="274320"/>
          </a:xfrm>
          <a:prstGeom prst="rect">
            <a:avLst/>
          </a:prstGeom>
          <a:noFill/>
          <a:ln/>
        </p:spPr>
        <p:txBody>
          <a:bodyPr wrap="square" lIns="0" tIns="0" rIns="0" bIns="0" rtlCol="0" anchor="t"/>
          <a:lstStyle/>
          <a:p>
            <a:pPr marL="0" indent="0">
              <a:buNone/>
            </a:pPr>
            <a:r>
              <a:rPr lang="en-US" sz="1300" b="1" dirty="0">
                <a:solidFill>
                  <a:srgbClr val="C0392B"/>
                </a:solidFill>
                <a:latin typeface="Arial" pitchFamily="34" charset="0"/>
                <a:ea typeface="Arial" pitchFamily="34" charset="-122"/>
                <a:cs typeface="Arial" pitchFamily="34" charset="-120"/>
              </a:rPr>
              <a:t>367.023 contratos  •  27,29% das vendas</a:t>
            </a:r>
            <a:endParaRPr lang="en-US" sz="1300" dirty="0"/>
          </a:p>
        </p:txBody>
      </p:sp>
      <p:sp>
        <p:nvSpPr>
          <p:cNvPr id="13" name="Text 10"/>
          <p:cNvSpPr/>
          <p:nvPr/>
        </p:nvSpPr>
        <p:spPr>
          <a:xfrm>
            <a:off x="7589520" y="3520440"/>
            <a:ext cx="3337560" cy="310896"/>
          </a:xfrm>
          <a:prstGeom prst="rect">
            <a:avLst/>
          </a:prstGeom>
          <a:noFill/>
          <a:ln/>
        </p:spPr>
        <p:txBody>
          <a:bodyPr wrap="square" lIns="0" tIns="0" rIns="0" bIns="0" rtlCol="0" anchor="t"/>
          <a:lstStyle/>
          <a:p>
            <a:pPr marL="0" indent="0">
              <a:buNone/>
            </a:pPr>
            <a:r>
              <a:rPr lang="en-US" sz="1100" b="1" dirty="0">
                <a:solidFill>
                  <a:srgbClr val="C0392B"/>
                </a:solidFill>
                <a:latin typeface="Arial" pitchFamily="34" charset="0"/>
                <a:ea typeface="Arial" pitchFamily="34" charset="-122"/>
                <a:cs typeface="Arial" pitchFamily="34" charset="-120"/>
              </a:rPr>
              <a:t>$7,40B financiados  •  $239,2M em custo (80% do total)</a:t>
            </a:r>
            <a:endParaRPr lang="en-US" sz="1100" dirty="0"/>
          </a:p>
        </p:txBody>
      </p:sp>
      <p:sp>
        <p:nvSpPr>
          <p:cNvPr id="14" name="Shape 11"/>
          <p:cNvSpPr/>
          <p:nvPr/>
        </p:nvSpPr>
        <p:spPr>
          <a:xfrm>
            <a:off x="502920" y="4251960"/>
            <a:ext cx="11183112" cy="1143000"/>
          </a:xfrm>
          <a:prstGeom prst="roundRect">
            <a:avLst>
              <a:gd name="adj" fmla="val 7200"/>
            </a:avLst>
          </a:prstGeom>
          <a:solidFill>
            <a:srgbClr val="E8ECF3"/>
          </a:solidFill>
          <a:ln/>
        </p:spPr>
        <p:txBody>
          <a:bodyPr/>
          <a:lstStyle/>
          <a:p>
            <a:endParaRPr lang="pt-BR"/>
          </a:p>
        </p:txBody>
      </p:sp>
      <p:sp>
        <p:nvSpPr>
          <p:cNvPr id="15" name="Text 12"/>
          <p:cNvSpPr/>
          <p:nvPr/>
        </p:nvSpPr>
        <p:spPr>
          <a:xfrm>
            <a:off x="795528" y="4251960"/>
            <a:ext cx="10597896" cy="1143000"/>
          </a:xfrm>
          <a:prstGeom prst="rect">
            <a:avLst/>
          </a:prstGeom>
          <a:noFill/>
          <a:ln/>
        </p:spPr>
        <p:txBody>
          <a:bodyPr wrap="square" lIns="0" tIns="0" rIns="0" bIns="0" rtlCol="0" anchor="ctr"/>
          <a:lstStyle/>
          <a:p>
            <a:pPr marL="0" indent="0">
              <a:lnSpc>
                <a:spcPct val="125000"/>
              </a:lnSpc>
              <a:buNone/>
            </a:pPr>
            <a:r>
              <a:rPr lang="en-US" sz="1250" b="1" dirty="0">
                <a:solidFill>
                  <a:srgbClr val="1B2A44"/>
                </a:solidFill>
                <a:latin typeface="Arial" pitchFamily="34" charset="0"/>
                <a:ea typeface="Arial" pitchFamily="34" charset="-122"/>
                <a:cs typeface="Arial" pitchFamily="34" charset="-120"/>
              </a:rPr>
              <a:t>A escala é o verdadeiro risco: </a:t>
            </a:r>
            <a:r>
              <a:rPr lang="en-US" sz="1250" dirty="0">
                <a:solidFill>
                  <a:srgbClr val="55606E"/>
                </a:solidFill>
                <a:latin typeface="Arial" pitchFamily="34" charset="0"/>
                <a:ea typeface="Arial" pitchFamily="34" charset="-122"/>
                <a:cs typeface="Arial" pitchFamily="34" charset="-120"/>
              </a:rPr>
              <a:t>o "Sufocado" concentra apenas 0,98% dos contratos, mas o "Miolo" representa 27,29% da base — 28 vezes mais volume. Cada ponto percentual de ROA abaixo do hurdle nesta faixa se multiplica por uma escala 28x maior, transformando um risco aparentemente moderado no maior dreno de caixa do banco: $239,2M.</a:t>
            </a:r>
            <a:endParaRPr lang="en-US" sz="1250" dirty="0"/>
          </a:p>
        </p:txBody>
      </p:sp>
      <p:sp>
        <p:nvSpPr>
          <p:cNvPr id="16" name="Text 13"/>
          <p:cNvSpPr/>
          <p:nvPr/>
        </p:nvSpPr>
        <p:spPr>
          <a:xfrm>
            <a:off x="502920" y="6025896"/>
            <a:ext cx="11183112" cy="457200"/>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(Custo de Oportunidade &amp; Duration Efetiva): O Custo de Oportunidade ($ USD) é a diferença entre o Hurdle Rate (4,00% a.a.) e o ROA real de cada célula, multiplicada pelo volume financiado e ajustada pela Duration Efetiva dos contratos (horizonte médio ponderado de 3,76 anos) — convertendo a lacuna percentual anualizada em valor financeiro acumulado no ciclo de vida real dos empréstimos (2007–2018).</a:t>
            </a:r>
            <a:endParaRPr lang="en-US" sz="750" dirty="0"/>
          </a:p>
        </p:txBody>
      </p:sp>
      <p:sp>
        <p:nvSpPr>
          <p:cNvPr id="17" name="Text 1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8" name="Text 1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05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EPICENTROS DE PERDA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Detalhamento por Nota de Crédito no Miolo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Grades C, D e E Concentram $185,7M (78%) do Custo de Oportunidade do Miolo</a:t>
            </a:r>
            <a:endParaRPr lang="en-US" sz="1250" dirty="0"/>
          </a:p>
        </p:txBody>
      </p:sp>
      <p:sp>
        <p:nvSpPr>
          <p:cNvPr id="5" name="Shape 3"/>
          <p:cNvSpPr/>
          <p:nvPr/>
        </p:nvSpPr>
        <p:spPr>
          <a:xfrm>
            <a:off x="502920"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6" name="Shape 4"/>
          <p:cNvSpPr/>
          <p:nvPr/>
        </p:nvSpPr>
        <p:spPr>
          <a:xfrm>
            <a:off x="502920" y="1783080"/>
            <a:ext cx="3520440" cy="457200"/>
          </a:xfrm>
          <a:prstGeom prst="roundRect">
            <a:avLst>
              <a:gd name="adj" fmla="val 18000"/>
            </a:avLst>
          </a:prstGeom>
          <a:solidFill>
            <a:srgbClr val="C8790F"/>
          </a:solidFill>
          <a:ln/>
        </p:spPr>
        <p:txBody>
          <a:bodyPr/>
          <a:lstStyle/>
          <a:p>
            <a:endParaRPr lang="pt-BR"/>
          </a:p>
        </p:txBody>
      </p:sp>
      <p:sp>
        <p:nvSpPr>
          <p:cNvPr id="7" name="Shape 5"/>
          <p:cNvSpPr/>
          <p:nvPr/>
        </p:nvSpPr>
        <p:spPr>
          <a:xfrm>
            <a:off x="502920" y="2057400"/>
            <a:ext cx="3520440" cy="182880"/>
          </a:xfrm>
          <a:prstGeom prst="rect">
            <a:avLst/>
          </a:prstGeom>
          <a:solidFill>
            <a:srgbClr val="C8790F"/>
          </a:solidFill>
          <a:ln/>
        </p:spPr>
        <p:txBody>
          <a:bodyPr/>
          <a:lstStyle/>
          <a:p>
            <a:endParaRPr lang="pt-BR"/>
          </a:p>
        </p:txBody>
      </p:sp>
      <p:sp>
        <p:nvSpPr>
          <p:cNvPr id="8" name="Text 6"/>
          <p:cNvSpPr/>
          <p:nvPr/>
        </p:nvSpPr>
        <p:spPr>
          <a:xfrm>
            <a:off x="758952"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C</a:t>
            </a:r>
            <a:endParaRPr lang="en-US" sz="1400" dirty="0"/>
          </a:p>
        </p:txBody>
      </p:sp>
      <p:sp>
        <p:nvSpPr>
          <p:cNvPr id="9" name="Text 7"/>
          <p:cNvSpPr/>
          <p:nvPr/>
        </p:nvSpPr>
        <p:spPr>
          <a:xfrm>
            <a:off x="758952"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10" name="Text 8"/>
          <p:cNvSpPr/>
          <p:nvPr/>
        </p:nvSpPr>
        <p:spPr>
          <a:xfrm>
            <a:off x="758952"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105.652</a:t>
            </a:r>
            <a:endParaRPr lang="en-US" sz="1200" dirty="0"/>
          </a:p>
        </p:txBody>
      </p:sp>
      <p:sp>
        <p:nvSpPr>
          <p:cNvPr id="11" name="Text 9"/>
          <p:cNvSpPr/>
          <p:nvPr/>
        </p:nvSpPr>
        <p:spPr>
          <a:xfrm>
            <a:off x="758952"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12" name="Text 10"/>
          <p:cNvSpPr/>
          <p:nvPr/>
        </p:nvSpPr>
        <p:spPr>
          <a:xfrm>
            <a:off x="758952"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$2,07B</a:t>
            </a:r>
            <a:endParaRPr lang="en-US" sz="1200" dirty="0"/>
          </a:p>
        </p:txBody>
      </p:sp>
      <p:sp>
        <p:nvSpPr>
          <p:cNvPr id="13" name="Text 11"/>
          <p:cNvSpPr/>
          <p:nvPr/>
        </p:nvSpPr>
        <p:spPr>
          <a:xfrm>
            <a:off x="758952"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14" name="Text 12"/>
          <p:cNvSpPr/>
          <p:nvPr/>
        </p:nvSpPr>
        <p:spPr>
          <a:xfrm>
            <a:off x="758952" y="3300984"/>
            <a:ext cx="3008376" cy="237744"/>
          </a:xfrm>
          <a:prstGeom prst="rect">
            <a:avLst/>
          </a:prstGeom>
          <a:noFill/>
          <a:ln/>
        </p:spPr>
        <p:txBody>
          <a:bodyPr wrap="square" lIns="0" tIns="0" rIns="0" bIns="0" rtlCol="0" anchor="ctr"/>
          <a:lstStyle/>
          <a:p>
            <a:pPr marL="0" indent="0">
              <a:buNone/>
            </a:pPr>
            <a:r>
              <a:rPr lang="en-US" sz="1300" b="1" dirty="0">
                <a:solidFill>
                  <a:srgbClr val="C8790F"/>
                </a:solidFill>
                <a:latin typeface="Arial" pitchFamily="34" charset="0"/>
                <a:ea typeface="Arial" pitchFamily="34" charset="-122"/>
                <a:cs typeface="Arial" pitchFamily="34" charset="-120"/>
              </a:rPr>
              <a:t>3,58%</a:t>
            </a:r>
            <a:endParaRPr lang="en-US" sz="1300" dirty="0"/>
          </a:p>
        </p:txBody>
      </p:sp>
      <p:sp>
        <p:nvSpPr>
          <p:cNvPr id="15" name="Text 13"/>
          <p:cNvSpPr/>
          <p:nvPr/>
        </p:nvSpPr>
        <p:spPr>
          <a:xfrm>
            <a:off x="758952"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16" name="Text 14"/>
          <p:cNvSpPr/>
          <p:nvPr/>
        </p:nvSpPr>
        <p:spPr>
          <a:xfrm>
            <a:off x="758952" y="3703320"/>
            <a:ext cx="3008376" cy="237744"/>
          </a:xfrm>
          <a:prstGeom prst="rect">
            <a:avLst/>
          </a:prstGeom>
          <a:noFill/>
          <a:ln/>
        </p:spPr>
        <p:txBody>
          <a:bodyPr wrap="square" lIns="0" tIns="0" rIns="0" bIns="0" rtlCol="0" anchor="ctr"/>
          <a:lstStyle/>
          <a:p>
            <a:pPr marL="0" indent="0">
              <a:buNone/>
            </a:pPr>
            <a:r>
              <a:rPr lang="en-US" sz="1500" b="1" dirty="0">
                <a:solidFill>
                  <a:srgbClr val="C8790F"/>
                </a:solidFill>
                <a:latin typeface="Arial" pitchFamily="34" charset="0"/>
                <a:ea typeface="Arial" pitchFamily="34" charset="-122"/>
                <a:cs typeface="Arial" pitchFamily="34" charset="-120"/>
              </a:rPr>
              <a:t>$42,1M</a:t>
            </a:r>
            <a:endParaRPr lang="en-US" sz="1500" dirty="0"/>
          </a:p>
        </p:txBody>
      </p:sp>
      <p:sp>
        <p:nvSpPr>
          <p:cNvPr id="17" name="Shape 15"/>
          <p:cNvSpPr/>
          <p:nvPr/>
        </p:nvSpPr>
        <p:spPr>
          <a:xfrm>
            <a:off x="4334256"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18" name="Shape 16"/>
          <p:cNvSpPr/>
          <p:nvPr/>
        </p:nvSpPr>
        <p:spPr>
          <a:xfrm>
            <a:off x="4334256" y="1783080"/>
            <a:ext cx="3520440" cy="457200"/>
          </a:xfrm>
          <a:prstGeom prst="roundRect">
            <a:avLst>
              <a:gd name="adj" fmla="val 18000"/>
            </a:avLst>
          </a:prstGeom>
          <a:solidFill>
            <a:srgbClr val="C0392B"/>
          </a:solidFill>
          <a:ln/>
        </p:spPr>
        <p:txBody>
          <a:bodyPr/>
          <a:lstStyle/>
          <a:p>
            <a:endParaRPr lang="pt-BR"/>
          </a:p>
        </p:txBody>
      </p:sp>
      <p:sp>
        <p:nvSpPr>
          <p:cNvPr id="19" name="Shape 17"/>
          <p:cNvSpPr/>
          <p:nvPr/>
        </p:nvSpPr>
        <p:spPr>
          <a:xfrm>
            <a:off x="4334256" y="2057400"/>
            <a:ext cx="3520440" cy="182880"/>
          </a:xfrm>
          <a:prstGeom prst="rect">
            <a:avLst/>
          </a:prstGeom>
          <a:solidFill>
            <a:srgbClr val="C0392B"/>
          </a:solidFill>
          <a:ln/>
        </p:spPr>
        <p:txBody>
          <a:bodyPr/>
          <a:lstStyle/>
          <a:p>
            <a:endParaRPr lang="pt-BR"/>
          </a:p>
        </p:txBody>
      </p:sp>
      <p:sp>
        <p:nvSpPr>
          <p:cNvPr id="20" name="Text 18"/>
          <p:cNvSpPr/>
          <p:nvPr/>
        </p:nvSpPr>
        <p:spPr>
          <a:xfrm>
            <a:off x="4590288"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D</a:t>
            </a:r>
            <a:endParaRPr lang="en-US" sz="1400" dirty="0"/>
          </a:p>
        </p:txBody>
      </p:sp>
      <p:sp>
        <p:nvSpPr>
          <p:cNvPr id="21" name="Text 19"/>
          <p:cNvSpPr/>
          <p:nvPr/>
        </p:nvSpPr>
        <p:spPr>
          <a:xfrm>
            <a:off x="4590288"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22" name="Text 20"/>
          <p:cNvSpPr/>
          <p:nvPr/>
        </p:nvSpPr>
        <p:spPr>
          <a:xfrm>
            <a:off x="4590288"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74.151</a:t>
            </a:r>
            <a:endParaRPr lang="en-US" sz="1200" dirty="0"/>
          </a:p>
        </p:txBody>
      </p:sp>
      <p:sp>
        <p:nvSpPr>
          <p:cNvPr id="23" name="Text 21"/>
          <p:cNvSpPr/>
          <p:nvPr/>
        </p:nvSpPr>
        <p:spPr>
          <a:xfrm>
            <a:off x="4590288"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24" name="Text 22"/>
          <p:cNvSpPr/>
          <p:nvPr/>
        </p:nvSpPr>
        <p:spPr>
          <a:xfrm>
            <a:off x="4590288"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$1,50B</a:t>
            </a:r>
            <a:endParaRPr lang="en-US" sz="1200" dirty="0"/>
          </a:p>
        </p:txBody>
      </p:sp>
      <p:sp>
        <p:nvSpPr>
          <p:cNvPr id="25" name="Text 23"/>
          <p:cNvSpPr/>
          <p:nvPr/>
        </p:nvSpPr>
        <p:spPr>
          <a:xfrm>
            <a:off x="4590288"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26" name="Text 24"/>
          <p:cNvSpPr/>
          <p:nvPr/>
        </p:nvSpPr>
        <p:spPr>
          <a:xfrm>
            <a:off x="4590288"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2,76%</a:t>
            </a:r>
            <a:endParaRPr lang="en-US" sz="1300" dirty="0"/>
          </a:p>
        </p:txBody>
      </p:sp>
      <p:sp>
        <p:nvSpPr>
          <p:cNvPr id="27" name="Text 25"/>
          <p:cNvSpPr/>
          <p:nvPr/>
        </p:nvSpPr>
        <p:spPr>
          <a:xfrm>
            <a:off x="4590288"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28" name="Text 26"/>
          <p:cNvSpPr/>
          <p:nvPr/>
        </p:nvSpPr>
        <p:spPr>
          <a:xfrm>
            <a:off x="4590288"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$78,6M</a:t>
            </a:r>
            <a:endParaRPr lang="en-US" sz="1500" dirty="0"/>
          </a:p>
        </p:txBody>
      </p:sp>
      <p:sp>
        <p:nvSpPr>
          <p:cNvPr id="29" name="Shape 27"/>
          <p:cNvSpPr/>
          <p:nvPr/>
        </p:nvSpPr>
        <p:spPr>
          <a:xfrm>
            <a:off x="8165592"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30" name="Shape 28"/>
          <p:cNvSpPr/>
          <p:nvPr/>
        </p:nvSpPr>
        <p:spPr>
          <a:xfrm>
            <a:off x="8165592" y="1783080"/>
            <a:ext cx="3520440" cy="457200"/>
          </a:xfrm>
          <a:prstGeom prst="roundRect">
            <a:avLst>
              <a:gd name="adj" fmla="val 18000"/>
            </a:avLst>
          </a:prstGeom>
          <a:solidFill>
            <a:srgbClr val="C0392B"/>
          </a:solidFill>
          <a:ln/>
        </p:spPr>
        <p:txBody>
          <a:bodyPr/>
          <a:lstStyle/>
          <a:p>
            <a:endParaRPr lang="pt-BR"/>
          </a:p>
        </p:txBody>
      </p:sp>
      <p:sp>
        <p:nvSpPr>
          <p:cNvPr id="31" name="Shape 29"/>
          <p:cNvSpPr/>
          <p:nvPr/>
        </p:nvSpPr>
        <p:spPr>
          <a:xfrm>
            <a:off x="8165592" y="2057400"/>
            <a:ext cx="3520440" cy="182880"/>
          </a:xfrm>
          <a:prstGeom prst="rect">
            <a:avLst/>
          </a:prstGeom>
          <a:solidFill>
            <a:srgbClr val="C0392B"/>
          </a:solidFill>
          <a:ln/>
        </p:spPr>
        <p:txBody>
          <a:bodyPr/>
          <a:lstStyle/>
          <a:p>
            <a:endParaRPr lang="pt-BR"/>
          </a:p>
        </p:txBody>
      </p:sp>
      <p:sp>
        <p:nvSpPr>
          <p:cNvPr id="32" name="Text 30"/>
          <p:cNvSpPr/>
          <p:nvPr/>
        </p:nvSpPr>
        <p:spPr>
          <a:xfrm>
            <a:off x="8421624"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E</a:t>
            </a:r>
            <a:endParaRPr lang="en-US" sz="1400" dirty="0"/>
          </a:p>
        </p:txBody>
      </p:sp>
      <p:sp>
        <p:nvSpPr>
          <p:cNvPr id="33" name="Text 31"/>
          <p:cNvSpPr/>
          <p:nvPr/>
        </p:nvSpPr>
        <p:spPr>
          <a:xfrm>
            <a:off x="8421624"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34" name="Text 32"/>
          <p:cNvSpPr/>
          <p:nvPr/>
        </p:nvSpPr>
        <p:spPr>
          <a:xfrm>
            <a:off x="8421624"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42.252</a:t>
            </a:r>
            <a:endParaRPr lang="en-US" sz="1200" dirty="0"/>
          </a:p>
        </p:txBody>
      </p:sp>
      <p:sp>
        <p:nvSpPr>
          <p:cNvPr id="35" name="Text 33"/>
          <p:cNvSpPr/>
          <p:nvPr/>
        </p:nvSpPr>
        <p:spPr>
          <a:xfrm>
            <a:off x="8421624"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36" name="Text 34"/>
          <p:cNvSpPr/>
          <p:nvPr/>
        </p:nvSpPr>
        <p:spPr>
          <a:xfrm>
            <a:off x="8421624"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$913M</a:t>
            </a:r>
            <a:endParaRPr lang="en-US" sz="1200" dirty="0"/>
          </a:p>
        </p:txBody>
      </p:sp>
      <p:sp>
        <p:nvSpPr>
          <p:cNvPr id="37" name="Text 35"/>
          <p:cNvSpPr/>
          <p:nvPr/>
        </p:nvSpPr>
        <p:spPr>
          <a:xfrm>
            <a:off x="8421624"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38" name="Text 36"/>
          <p:cNvSpPr/>
          <p:nvPr/>
        </p:nvSpPr>
        <p:spPr>
          <a:xfrm>
            <a:off x="8421624"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2,40%</a:t>
            </a:r>
            <a:endParaRPr lang="en-US" sz="1300" dirty="0"/>
          </a:p>
        </p:txBody>
      </p:sp>
      <p:sp>
        <p:nvSpPr>
          <p:cNvPr id="39" name="Text 37"/>
          <p:cNvSpPr/>
          <p:nvPr/>
        </p:nvSpPr>
        <p:spPr>
          <a:xfrm>
            <a:off x="8421624"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40" name="Text 38"/>
          <p:cNvSpPr/>
          <p:nvPr/>
        </p:nvSpPr>
        <p:spPr>
          <a:xfrm>
            <a:off x="8421624"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$65,0M</a:t>
            </a:r>
            <a:endParaRPr lang="en-US" sz="1500" dirty="0"/>
          </a:p>
        </p:txBody>
      </p:sp>
      <p:sp>
        <p:nvSpPr>
          <p:cNvPr id="41" name="Shape 39"/>
          <p:cNvSpPr/>
          <p:nvPr/>
        </p:nvSpPr>
        <p:spPr>
          <a:xfrm>
            <a:off x="502920" y="4270248"/>
            <a:ext cx="11183112" cy="777240"/>
          </a:xfrm>
          <a:prstGeom prst="roundRect">
            <a:avLst>
              <a:gd name="adj" fmla="val 9412"/>
            </a:avLst>
          </a:prstGeom>
          <a:solidFill>
            <a:srgbClr val="F4F6F8"/>
          </a:solidFill>
          <a:ln/>
        </p:spPr>
        <p:txBody>
          <a:bodyPr/>
          <a:lstStyle/>
          <a:p>
            <a:endParaRPr lang="pt-BR"/>
          </a:p>
        </p:txBody>
      </p:sp>
      <p:sp>
        <p:nvSpPr>
          <p:cNvPr id="42" name="Text 40"/>
          <p:cNvSpPr/>
          <p:nvPr/>
        </p:nvSpPr>
        <p:spPr>
          <a:xfrm>
            <a:off x="777240" y="4270248"/>
            <a:ext cx="10634472" cy="77724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Demais Grades (A/B, F/G): </a:t>
            </a:r>
            <a:r>
              <a:rPr lang="en-US" sz="1100" dirty="0">
                <a:solidFill>
                  <a:srgbClr val="55606E"/>
                </a:solidFill>
                <a:latin typeface="Arial" pitchFamily="34" charset="0"/>
                <a:ea typeface="Arial" pitchFamily="34" charset="-122"/>
                <a:cs typeface="Arial" pitchFamily="34" charset="-120"/>
              </a:rPr>
              <a:t>144.968 contratos · $2,93B financiados · $53,5M em custo  —  </a:t>
            </a:r>
            <a:r>
              <a:rPr lang="en-US" sz="1100" b="1" dirty="0">
                <a:solidFill>
                  <a:srgbClr val="1B2A44"/>
                </a:solidFill>
                <a:latin typeface="Arial" pitchFamily="34" charset="0"/>
                <a:ea typeface="Arial" pitchFamily="34" charset="-122"/>
                <a:cs typeface="Arial" pitchFamily="34" charset="-120"/>
              </a:rPr>
              <a:t>Total no Miolo: </a:t>
            </a:r>
            <a:r>
              <a:rPr lang="en-US" sz="1100" dirty="0">
                <a:solidFill>
                  <a:srgbClr val="55606E"/>
                </a:solidFill>
                <a:latin typeface="Arial" pitchFamily="34" charset="0"/>
                <a:ea typeface="Arial" pitchFamily="34" charset="-122"/>
                <a:cs typeface="Arial" pitchFamily="34" charset="-120"/>
              </a:rPr>
              <a:t>367.023 contratos · $7,40B financiados · $239,2M em custo de oportunidade (78% concentrado em Grades C, D e E).</a:t>
            </a:r>
            <a:endParaRPr lang="en-US" sz="1100" dirty="0"/>
          </a:p>
        </p:txBody>
      </p:sp>
      <p:sp>
        <p:nvSpPr>
          <p:cNvPr id="43" name="Text 4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4" name="Text 4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06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MATRIZ INTEGRADA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Visão Completa de Performance por Nota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ROA Real e Custo de Oportunidade — Todas as Faixas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810512"/>
          <a:ext cx="11183112" cy="3602736"/>
        </p:xfrm>
        <a:graphic>
          <a:graphicData uri="http://schemas.openxmlformats.org/drawingml/2006/table">
            <a:tbl>
              <a:tblPr/>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2542032">
                  <a:extLst>
                    <a:ext uri="{9D8B030D-6E8A-4147-A177-3AD203B41FA5}">
                      <a16:colId xmlns:a16="http://schemas.microsoft.com/office/drawing/2014/main" val="20005"/>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Nota de Crédito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Comprometimento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Contratos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Volume Financiado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ROA Real (a.a.)</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Custo de Oportunidade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A/B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121.844</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$2,40B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$4,7M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C</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105.652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$2,07B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3,58%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$42,1M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D</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74.151</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$1,50B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$78,6M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42.252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$913M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2,40%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$65,0M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F/G</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23.124</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$524,5M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$48,8M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1B2A44"/>
                          </a:solidFill>
                          <a:latin typeface="Arial" pitchFamily="34" charset="0"/>
                          <a:ea typeface="Arial" pitchFamily="34" charset="-122"/>
                          <a:cs typeface="Arial" pitchFamily="34" charset="-120"/>
                        </a:rPr>
                        <a:t>Subtotal Miolo</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367.023</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$7,40B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3,38%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100" b="1" dirty="0">
                          <a:solidFill>
                            <a:srgbClr val="C0392B"/>
                          </a:solidFill>
                          <a:latin typeface="Arial" pitchFamily="34" charset="0"/>
                          <a:ea typeface="Arial" pitchFamily="34" charset="-122"/>
                          <a:cs typeface="Arial" pitchFamily="34" charset="-120"/>
                        </a:rPr>
                        <a:t>$239,2M (80%)</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extLst>
                  <a:ext uri="{0D108BD9-81ED-4DB2-BD59-A6C34878D82A}">
                    <a16:rowId xmlns:a16="http://schemas.microsoft.com/office/drawing/2014/main" val="10006"/>
                  </a:ext>
                </a:extLst>
              </a:tr>
              <a:tr h="402336">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Sufocado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Acima de 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13.163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$319M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1,37%</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$27,6M (9%)</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7"/>
                  </a:ext>
                </a:extLst>
              </a:tr>
              <a:tr h="457200">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Total do Banco</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Todas as Faixas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1.344.989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$20,30B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4,36%</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$299,5M</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8"/>
                  </a:ext>
                </a:extLst>
              </a:tr>
            </a:tbl>
          </a:graphicData>
        </a:graphic>
      </p:graphicFrame>
      <p:sp>
        <p:nvSpPr>
          <p:cNvPr id="6" name="Text 3"/>
          <p:cNvSpPr/>
          <p:nvPr/>
        </p:nvSpPr>
        <p:spPr>
          <a:xfrm>
            <a:off x="502920" y="5742432"/>
            <a:ext cx="11183112" cy="320040"/>
          </a:xfrm>
          <a:prstGeom prst="rect">
            <a:avLst/>
          </a:prstGeom>
          <a:noFill/>
          <a:ln/>
        </p:spPr>
        <p:txBody>
          <a:bodyPr wrap="square" lIns="0" tIns="0" rIns="0" bIns="0" rtlCol="0" anchor="ctr"/>
          <a:lstStyle/>
          <a:p>
            <a:pPr marL="0" indent="0" algn="ctr">
              <a:buNone/>
            </a:pPr>
            <a:r>
              <a:rPr lang="en-US" sz="1050" i="1" dirty="0">
                <a:solidFill>
                  <a:srgbClr val="98A1AD"/>
                </a:solidFill>
                <a:latin typeface="Arial" pitchFamily="34" charset="0"/>
                <a:ea typeface="Arial" pitchFamily="34" charset="-122"/>
                <a:cs typeface="Arial" pitchFamily="34" charset="-120"/>
              </a:rPr>
              <a:t>O Miolo (10%–20%) responde por 27,29% dos contratos e 80% de todo o custo de oportunidade do banco — a mais clara evidência do risco oculto na escala.</a:t>
            </a:r>
            <a:endParaRPr lang="en-US" sz="1050" dirty="0"/>
          </a:p>
        </p:txBody>
      </p:sp>
      <p:sp>
        <p:nvSpPr>
          <p:cNvPr id="7" name="Text 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5" name="Text 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07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 Elasticidade do Prazo e a Armadilha dos 60 Meses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a Duration de 5 Anos Alavanca a Classe Alta, mas Colapsa a Base da Pirâmide</a:t>
            </a:r>
            <a:endParaRPr lang="en-US" sz="1250" dirty="0"/>
          </a:p>
        </p:txBody>
      </p:sp>
      <p:graphicFrame>
        <p:nvGraphicFramePr>
          <p:cNvPr id="5" name="Chart 0"/>
          <p:cNvGraphicFramePr/>
          <p:nvPr/>
        </p:nvGraphicFramePr>
        <p:xfrm>
          <a:off x="502920" y="178308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95360" y="1783080"/>
            <a:ext cx="3063240" cy="2148840"/>
          </a:xfrm>
          <a:prstGeom prst="roundRect">
            <a:avLst>
              <a:gd name="adj" fmla="val 3404"/>
            </a:avLst>
          </a:prstGeom>
          <a:solidFill>
            <a:srgbClr val="F4F6F8"/>
          </a:solidFill>
          <a:ln/>
        </p:spPr>
        <p:txBody>
          <a:bodyPr/>
          <a:lstStyle/>
          <a:p>
            <a:endParaRPr lang="pt-BR"/>
          </a:p>
        </p:txBody>
      </p:sp>
      <p:sp>
        <p:nvSpPr>
          <p:cNvPr id="7" name="Text 4"/>
          <p:cNvSpPr/>
          <p:nvPr/>
        </p:nvSpPr>
        <p:spPr>
          <a:xfrm>
            <a:off x="8796528" y="1956816"/>
            <a:ext cx="2660904" cy="237744"/>
          </a:xfrm>
          <a:prstGeom prst="rect">
            <a:avLst/>
          </a:prstGeom>
          <a:noFill/>
          <a:ln/>
        </p:spPr>
        <p:txBody>
          <a:bodyPr wrap="square" lIns="0" tIns="0" rIns="0" bIns="0" rtlCol="0" anchor="ctr"/>
          <a:lstStyle/>
          <a:p>
            <a:pPr marL="0" indent="0">
              <a:buNone/>
            </a:pPr>
            <a:r>
              <a:rPr lang="en-US" sz="1000" b="1" kern="0" spc="100" dirty="0">
                <a:solidFill>
                  <a:srgbClr val="1B2A44"/>
                </a:solidFill>
                <a:latin typeface="Arial" pitchFamily="34" charset="0"/>
                <a:ea typeface="Arial" pitchFamily="34" charset="-122"/>
                <a:cs typeface="Arial" pitchFamily="34" charset="-120"/>
              </a:rPr>
              <a:t>CONCEITO: FADIGA DE PRAZO</a:t>
            </a:r>
            <a:endParaRPr lang="en-US" sz="1000" dirty="0"/>
          </a:p>
        </p:txBody>
      </p:sp>
      <p:sp>
        <p:nvSpPr>
          <p:cNvPr id="8" name="Text 5"/>
          <p:cNvSpPr/>
          <p:nvPr/>
        </p:nvSpPr>
        <p:spPr>
          <a:xfrm>
            <a:off x="8796528" y="2249424"/>
            <a:ext cx="2660904" cy="1600200"/>
          </a:xfrm>
          <a:prstGeom prst="rect">
            <a:avLst/>
          </a:prstGeom>
          <a:noFill/>
          <a:ln/>
        </p:spPr>
        <p:txBody>
          <a:bodyPr wrap="square" lIns="0" tIns="0" rIns="0" bIns="0" rtlCol="0" anchor="t"/>
          <a:lstStyle/>
          <a:p>
            <a:pPr marL="0" indent="0">
              <a:lnSpc>
                <a:spcPct val="128000"/>
              </a:lnSpc>
              <a:buNone/>
            </a:pPr>
            <a:r>
              <a:rPr lang="en-US" sz="1050" dirty="0">
                <a:solidFill>
                  <a:srgbClr val="55606E"/>
                </a:solidFill>
                <a:latin typeface="Arial" pitchFamily="34" charset="0"/>
                <a:ea typeface="Arial" pitchFamily="34" charset="-122"/>
                <a:cs typeface="Arial" pitchFamily="34" charset="-120"/>
              </a:rPr>
              <a:t>Em perfis de renda frágil, o risco acumulado ao longo de 5 anos não é linear — a inadimplência das famílias mais vulneráveis se acelera e supera a receita adicional de juros gerada pelo prazo estendido.</a:t>
            </a:r>
            <a:endParaRPr lang="en-US" sz="1050" dirty="0"/>
          </a:p>
        </p:txBody>
      </p:sp>
      <p:sp>
        <p:nvSpPr>
          <p:cNvPr id="9" name="Shape 6"/>
          <p:cNvSpPr/>
          <p:nvPr/>
        </p:nvSpPr>
        <p:spPr>
          <a:xfrm>
            <a:off x="8595360" y="4069080"/>
            <a:ext cx="3063240" cy="1508760"/>
          </a:xfrm>
          <a:prstGeom prst="roundRect">
            <a:avLst>
              <a:gd name="adj" fmla="val 4848"/>
            </a:avLst>
          </a:prstGeom>
          <a:solidFill>
            <a:srgbClr val="E8ECF3"/>
          </a:solidFill>
          <a:ln/>
        </p:spPr>
        <p:txBody>
          <a:bodyPr/>
          <a:lstStyle/>
          <a:p>
            <a:endParaRPr lang="pt-BR"/>
          </a:p>
        </p:txBody>
      </p:sp>
      <p:sp>
        <p:nvSpPr>
          <p:cNvPr id="10" name="Text 7"/>
          <p:cNvSpPr/>
          <p:nvPr/>
        </p:nvSpPr>
        <p:spPr>
          <a:xfrm>
            <a:off x="8796528" y="4206240"/>
            <a:ext cx="2660904" cy="219456"/>
          </a:xfrm>
          <a:prstGeom prst="rect">
            <a:avLst/>
          </a:prstGeom>
          <a:noFill/>
          <a:ln/>
        </p:spPr>
        <p:txBody>
          <a:bodyPr wrap="square" lIns="0" tIns="0" rIns="0" bIns="0" rtlCol="0" anchor="ctr"/>
          <a:lstStyle/>
          <a:p>
            <a:pPr marL="0" indent="0">
              <a:buNone/>
            </a:pPr>
            <a:r>
              <a:rPr lang="en-US" sz="950" b="1" kern="0" spc="100" dirty="0">
                <a:solidFill>
                  <a:srgbClr val="1B2A44"/>
                </a:solidFill>
                <a:latin typeface="Arial" pitchFamily="34" charset="0"/>
                <a:ea typeface="Arial" pitchFamily="34" charset="-122"/>
                <a:cs typeface="Arial" pitchFamily="34" charset="-120"/>
              </a:rPr>
              <a:t>A DIVERGÊNCIA</a:t>
            </a:r>
            <a:endParaRPr lang="en-US" sz="950" dirty="0"/>
          </a:p>
        </p:txBody>
      </p:sp>
      <p:sp>
        <p:nvSpPr>
          <p:cNvPr id="11" name="Text 8"/>
          <p:cNvSpPr/>
          <p:nvPr/>
        </p:nvSpPr>
        <p:spPr>
          <a:xfrm>
            <a:off x="8796528" y="4462272"/>
            <a:ext cx="2660904" cy="1051560"/>
          </a:xfrm>
          <a:prstGeom prst="rect">
            <a:avLst/>
          </a:prstGeom>
          <a:noFill/>
          <a:ln/>
        </p:spPr>
        <p:txBody>
          <a:bodyPr wrap="square" lIns="0" tIns="0" rIns="0" bIns="0" rtlCol="0" anchor="t"/>
          <a:lstStyle/>
          <a:p>
            <a:pPr marL="0" indent="0">
              <a:lnSpc>
                <a:spcPct val="125000"/>
              </a:lnSpc>
              <a:buNone/>
            </a:pPr>
            <a:r>
              <a:rPr lang="en-US" sz="1050" dirty="0">
                <a:solidFill>
                  <a:srgbClr val="55606E"/>
                </a:solidFill>
                <a:latin typeface="Arial" pitchFamily="34" charset="0"/>
                <a:ea typeface="Arial" pitchFamily="34" charset="-122"/>
                <a:cs typeface="Arial" pitchFamily="34" charset="-120"/>
              </a:rPr>
              <a:t>Classes A e B ganham com o prazo estendido. Classes D e E colapsam. O detalhamento completo, com volumetria e impacto em $, está na próxima página.</a:t>
            </a:r>
            <a:endParaRPr lang="en-US" sz="1050" dirty="0"/>
          </a:p>
        </p:txBody>
      </p:sp>
      <p:sp>
        <p:nvSpPr>
          <p:cNvPr id="12" name="Text 9"/>
          <p:cNvSpPr/>
          <p:nvPr/>
        </p:nvSpPr>
        <p:spPr>
          <a:xfrm>
            <a:off x="502920" y="6080760"/>
            <a:ext cx="11183112" cy="402336"/>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(Fadiga Temporal de Crédito): A análise de elasticidade de prazo demonstra a divergência na curva de perda esperada (EL) ao longo da duration. Em perfis de renda frágil (Classes D e E), o risco acumulado não é linear, mas exponencial a partir do 36º mês, superando a receita de juros gerada pela extensão do prazo.</a:t>
            </a:r>
            <a:endParaRPr lang="en-US" sz="800" dirty="0"/>
          </a:p>
        </p:txBody>
      </p:sp>
      <p:sp>
        <p:nvSpPr>
          <p:cNvPr id="13" name="Text 10"/>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4" name="Text 11"/>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08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 — DETALHAMENTO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Volumetria e Impacto Financeiro por Classe de Renda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e Resultado Nominal em Cada Prazo</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3182112"/>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2313432">
                  <a:extLst>
                    <a:ext uri="{9D8B030D-6E8A-4147-A177-3AD203B41FA5}">
                      <a16:colId xmlns:a16="http://schemas.microsoft.com/office/drawing/2014/main" val="20006"/>
                    </a:ext>
                  </a:extLst>
                </a:gridCol>
              </a:tblGrid>
              <a:tr h="438912">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Classe</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Contratos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Volume Financiado</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36m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60m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Δ (p.p.)</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Impacto Nominal</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A</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268.487</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$4,21B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5,29%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++0,95 p.p.</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+$96,0M</a:t>
                      </a:r>
                      <a:endParaRPr lang="en-US" sz="130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269.294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4,59%</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++0,36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+$32,2M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C</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267.598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$3,68B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4,18%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4,02%</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-0,16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55606E"/>
                          </a:solidFill>
                          <a:latin typeface="Arial" pitchFamily="34" charset="0"/>
                          <a:ea typeface="Arial" pitchFamily="34" charset="-122"/>
                          <a:cs typeface="Arial" pitchFamily="34" charset="-120"/>
                        </a:rPr>
                        <a:t>Neutro (-$11,9M)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D</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268.295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$3,41B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3,00%</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-0,94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-$51,4M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E</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271.315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$3,15B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2,91%</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1,58%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-1,33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-$34,2M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02920" y="5257800"/>
            <a:ext cx="11183112" cy="777240"/>
          </a:xfrm>
          <a:prstGeom prst="roundRect">
            <a:avLst>
              <a:gd name="adj" fmla="val 9412"/>
            </a:avLst>
          </a:prstGeom>
          <a:solidFill>
            <a:srgbClr val="E8ECF3"/>
          </a:solidFill>
          <a:ln/>
        </p:spPr>
        <p:txBody>
          <a:bodyPr/>
          <a:lstStyle/>
          <a:p>
            <a:endParaRPr lang="pt-BR"/>
          </a:p>
        </p:txBody>
      </p:sp>
      <p:sp>
        <p:nvSpPr>
          <p:cNvPr id="7" name="Text 4"/>
          <p:cNvSpPr/>
          <p:nvPr/>
        </p:nvSpPr>
        <p:spPr>
          <a:xfrm>
            <a:off x="777240" y="5257800"/>
            <a:ext cx="10634472" cy="777240"/>
          </a:xfrm>
          <a:prstGeom prst="rect">
            <a:avLst/>
          </a:prstGeom>
          <a:noFill/>
          <a:ln/>
        </p:spPr>
        <p:txBody>
          <a:bodyPr wrap="square" lIns="0" tIns="0" rIns="0" bIns="0" rtlCol="0" anchor="ctr"/>
          <a:lstStyle/>
          <a:p>
            <a:pPr marL="0" indent="0">
              <a:lnSpc>
                <a:spcPct val="122000"/>
              </a:lnSpc>
              <a:buNone/>
            </a:pPr>
            <a:r>
              <a:rPr lang="en-US" sz="1150" b="1" dirty="0">
                <a:solidFill>
                  <a:srgbClr val="1B2A44"/>
                </a:solidFill>
                <a:latin typeface="Arial" pitchFamily="34" charset="0"/>
                <a:ea typeface="Arial" pitchFamily="34" charset="-122"/>
                <a:cs typeface="Arial" pitchFamily="34" charset="-120"/>
              </a:rPr>
              <a:t>A média esconde o risco: </a:t>
            </a:r>
            <a:r>
              <a:rPr lang="en-US" sz="1150" dirty="0">
                <a:solidFill>
                  <a:srgbClr val="55606E"/>
                </a:solidFill>
                <a:latin typeface="Arial" pitchFamily="34" charset="0"/>
                <a:ea typeface="Arial" pitchFamily="34" charset="-122"/>
                <a:cs typeface="Arial" pitchFamily="34" charset="-120"/>
              </a:rPr>
              <a:t>o impacto agregado da extensão para 60 meses é de +$30,7M líquidos no total — mas essa média mascara um ganho de +$128,2M nas Classes A e B e uma perda de -$85,6M nas Classes D e E.</a:t>
            </a:r>
            <a:endParaRPr lang="en-US" sz="1150" dirty="0"/>
          </a:p>
        </p:txBody>
      </p:sp>
      <p:sp>
        <p:nvSpPr>
          <p:cNvPr id="8" name="Text 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9" name="Text 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09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ESTUDO DE CASO ESPECIAL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Paradoxo da Precificação na Grade 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Análise de $196,4M Financiados: Por que o Prazo de 60 Meses Salva a Pior Nota de Crédito</a:t>
            </a:r>
            <a:endParaRPr lang="en-US" sz="1250" dirty="0"/>
          </a:p>
        </p:txBody>
      </p:sp>
      <p:sp>
        <p:nvSpPr>
          <p:cNvPr id="5" name="Text 3"/>
          <p:cNvSpPr/>
          <p:nvPr/>
        </p:nvSpPr>
        <p:spPr>
          <a:xfrm>
            <a:off x="502920" y="1664208"/>
            <a:ext cx="11183112" cy="292608"/>
          </a:xfrm>
          <a:prstGeom prst="rect">
            <a:avLst/>
          </a:prstGeom>
          <a:noFill/>
          <a:ln/>
        </p:spPr>
        <p:txBody>
          <a:bodyPr wrap="square" lIns="0" tIns="0" rIns="0" bIns="0" rtlCol="0" anchor="ctr"/>
          <a:lstStyle/>
          <a:p>
            <a:pPr marL="0" indent="0">
              <a:buNone/>
            </a:pPr>
            <a:r>
              <a:rPr lang="en-US" sz="1250" b="1" dirty="0">
                <a:solidFill>
                  <a:srgbClr val="1B2A44"/>
                </a:solidFill>
                <a:latin typeface="Arial" pitchFamily="34" charset="0"/>
                <a:ea typeface="Arial" pitchFamily="34" charset="-122"/>
                <a:cs typeface="Arial" pitchFamily="34" charset="-120"/>
              </a:rPr>
              <a:t>Volumetria Total Grade G:  </a:t>
            </a:r>
            <a:r>
              <a:rPr lang="en-US" sz="1250" dirty="0">
                <a:solidFill>
                  <a:srgbClr val="55606E"/>
                </a:solidFill>
                <a:latin typeface="Arial" pitchFamily="34" charset="0"/>
                <a:ea typeface="Arial" pitchFamily="34" charset="-122"/>
                <a:cs typeface="Arial" pitchFamily="34" charset="-120"/>
              </a:rPr>
              <a:t>9.126 contratos  •  $196,4M financiados</a:t>
            </a:r>
            <a:endParaRPr lang="en-US" sz="1250" dirty="0"/>
          </a:p>
        </p:txBody>
      </p:sp>
      <p:sp>
        <p:nvSpPr>
          <p:cNvPr id="6" name="Shape 4"/>
          <p:cNvSpPr/>
          <p:nvPr/>
        </p:nvSpPr>
        <p:spPr>
          <a:xfrm>
            <a:off x="896112" y="2103120"/>
            <a:ext cx="4892040" cy="2514600"/>
          </a:xfrm>
          <a:prstGeom prst="roundRect">
            <a:avLst>
              <a:gd name="adj" fmla="val 3273"/>
            </a:avLst>
          </a:prstGeom>
          <a:solidFill>
            <a:srgbClr val="FBEAE8"/>
          </a:solidFill>
          <a:ln/>
        </p:spPr>
        <p:txBody>
          <a:bodyPr/>
          <a:lstStyle/>
          <a:p>
            <a:endParaRPr lang="pt-BR"/>
          </a:p>
        </p:txBody>
      </p:sp>
      <p:sp>
        <p:nvSpPr>
          <p:cNvPr id="7" name="Text 5"/>
          <p:cNvSpPr/>
          <p:nvPr/>
        </p:nvSpPr>
        <p:spPr>
          <a:xfrm>
            <a:off x="1188720" y="2304288"/>
            <a:ext cx="4306824" cy="237744"/>
          </a:xfrm>
          <a:prstGeom prst="rect">
            <a:avLst/>
          </a:prstGeom>
          <a:noFill/>
          <a:ln/>
        </p:spPr>
        <p:txBody>
          <a:bodyPr wrap="square" lIns="0" tIns="0" rIns="0" bIns="0" rtlCol="0" anchor="ctr"/>
          <a:lstStyle/>
          <a:p>
            <a:pPr marL="0" indent="0">
              <a:buNone/>
            </a:pPr>
            <a:r>
              <a:rPr lang="en-US" sz="1050" b="1" kern="0" spc="100" dirty="0">
                <a:solidFill>
                  <a:srgbClr val="C0392B"/>
                </a:solidFill>
                <a:latin typeface="Arial" pitchFamily="34" charset="0"/>
                <a:ea typeface="Arial" pitchFamily="34" charset="-122"/>
                <a:cs typeface="Arial" pitchFamily="34" charset="-120"/>
              </a:rPr>
              <a:t>GRADE G  —  36 MESES</a:t>
            </a:r>
            <a:endParaRPr lang="en-US" sz="1050" dirty="0"/>
          </a:p>
        </p:txBody>
      </p:sp>
      <p:sp>
        <p:nvSpPr>
          <p:cNvPr id="8" name="Text 6"/>
          <p:cNvSpPr/>
          <p:nvPr/>
        </p:nvSpPr>
        <p:spPr>
          <a:xfrm>
            <a:off x="1188720" y="2560320"/>
            <a:ext cx="4306824" cy="777240"/>
          </a:xfrm>
          <a:prstGeom prst="rect">
            <a:avLst/>
          </a:prstGeom>
          <a:noFill/>
          <a:ln/>
        </p:spPr>
        <p:txBody>
          <a:bodyPr wrap="square" lIns="0" tIns="0" rIns="0" bIns="0" rtlCol="0" anchor="ctr"/>
          <a:lstStyle/>
          <a:p>
            <a:pPr marL="0" indent="0">
              <a:buNone/>
            </a:pPr>
            <a:r>
              <a:rPr lang="en-US" sz="4200" b="1" dirty="0">
                <a:solidFill>
                  <a:srgbClr val="C0392B"/>
                </a:solidFill>
                <a:latin typeface="Arial" pitchFamily="34" charset="0"/>
                <a:ea typeface="Arial" pitchFamily="34" charset="-122"/>
                <a:cs typeface="Arial" pitchFamily="34" charset="-120"/>
              </a:rPr>
              <a:t>-1,52%</a:t>
            </a:r>
            <a:endParaRPr lang="en-US" sz="4200" dirty="0"/>
          </a:p>
        </p:txBody>
      </p:sp>
      <p:sp>
        <p:nvSpPr>
          <p:cNvPr id="9" name="Text 7"/>
          <p:cNvSpPr/>
          <p:nvPr/>
        </p:nvSpPr>
        <p:spPr>
          <a:xfrm>
            <a:off x="1188720"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Prejuízo Líquido</a:t>
            </a:r>
            <a:endParaRPr lang="en-US" sz="1150" dirty="0"/>
          </a:p>
        </p:txBody>
      </p:sp>
      <p:sp>
        <p:nvSpPr>
          <p:cNvPr id="10" name="Text 8"/>
          <p:cNvSpPr/>
          <p:nvPr/>
        </p:nvSpPr>
        <p:spPr>
          <a:xfrm>
            <a:off x="1188720"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1.518 contratos  •  $23,1M financiados</a:t>
            </a:r>
            <a:endParaRPr lang="en-US" sz="1000" dirty="0"/>
          </a:p>
        </p:txBody>
      </p:sp>
      <p:sp>
        <p:nvSpPr>
          <p:cNvPr id="11" name="Shape 9"/>
          <p:cNvSpPr/>
          <p:nvPr/>
        </p:nvSpPr>
        <p:spPr>
          <a:xfrm>
            <a:off x="1188720" y="3931920"/>
            <a:ext cx="4306824" cy="9144"/>
          </a:xfrm>
          <a:prstGeom prst="rect">
            <a:avLst/>
          </a:prstGeom>
          <a:solidFill>
            <a:srgbClr val="C0392B">
              <a:alpha val="40000"/>
            </a:srgbClr>
          </a:solidFill>
          <a:ln/>
        </p:spPr>
        <p:txBody>
          <a:bodyPr/>
          <a:lstStyle/>
          <a:p>
            <a:endParaRPr lang="pt-BR"/>
          </a:p>
        </p:txBody>
      </p:sp>
      <p:sp>
        <p:nvSpPr>
          <p:cNvPr id="12" name="Text 10"/>
          <p:cNvSpPr/>
          <p:nvPr/>
        </p:nvSpPr>
        <p:spPr>
          <a:xfrm>
            <a:off x="1188720"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Prejuízo Nominal:  </a:t>
            </a:r>
            <a:r>
              <a:rPr lang="en-US" sz="1500" b="1" dirty="0">
                <a:solidFill>
                  <a:srgbClr val="C0392B"/>
                </a:solidFill>
              </a:rPr>
              <a:t>-$1,05M</a:t>
            </a:r>
            <a:endParaRPr lang="en-US" sz="1200" dirty="0"/>
          </a:p>
        </p:txBody>
      </p:sp>
      <p:sp>
        <p:nvSpPr>
          <p:cNvPr id="13" name="Shape 11"/>
          <p:cNvSpPr/>
          <p:nvPr/>
        </p:nvSpPr>
        <p:spPr>
          <a:xfrm>
            <a:off x="6355080" y="2103120"/>
            <a:ext cx="4892040" cy="2514600"/>
          </a:xfrm>
          <a:prstGeom prst="roundRect">
            <a:avLst>
              <a:gd name="adj" fmla="val 3273"/>
            </a:avLst>
          </a:prstGeom>
          <a:solidFill>
            <a:srgbClr val="E7F3EE"/>
          </a:solidFill>
          <a:ln/>
        </p:spPr>
        <p:txBody>
          <a:bodyPr/>
          <a:lstStyle/>
          <a:p>
            <a:endParaRPr lang="pt-BR"/>
          </a:p>
        </p:txBody>
      </p:sp>
      <p:sp>
        <p:nvSpPr>
          <p:cNvPr id="14" name="Text 12"/>
          <p:cNvSpPr/>
          <p:nvPr/>
        </p:nvSpPr>
        <p:spPr>
          <a:xfrm>
            <a:off x="6647688" y="2304288"/>
            <a:ext cx="4306824" cy="237744"/>
          </a:xfrm>
          <a:prstGeom prst="rect">
            <a:avLst/>
          </a:prstGeom>
          <a:noFill/>
          <a:ln/>
        </p:spPr>
        <p:txBody>
          <a:bodyPr wrap="square" lIns="0" tIns="0" rIns="0" bIns="0" rtlCol="0" anchor="ctr"/>
          <a:lstStyle/>
          <a:p>
            <a:pPr marL="0" indent="0">
              <a:buNone/>
            </a:pPr>
            <a:r>
              <a:rPr lang="en-US" sz="1050" b="1" kern="0" spc="100" dirty="0">
                <a:solidFill>
                  <a:srgbClr val="1E8A5D"/>
                </a:solidFill>
                <a:latin typeface="Arial" pitchFamily="34" charset="0"/>
                <a:ea typeface="Arial" pitchFamily="34" charset="-122"/>
                <a:cs typeface="Arial" pitchFamily="34" charset="-120"/>
              </a:rPr>
              <a:t>GRADE G  —  60 MESES</a:t>
            </a:r>
            <a:endParaRPr lang="en-US" sz="1050" dirty="0"/>
          </a:p>
        </p:txBody>
      </p:sp>
      <p:sp>
        <p:nvSpPr>
          <p:cNvPr id="15" name="Text 13"/>
          <p:cNvSpPr/>
          <p:nvPr/>
        </p:nvSpPr>
        <p:spPr>
          <a:xfrm>
            <a:off x="6647688" y="2560320"/>
            <a:ext cx="4306824" cy="777240"/>
          </a:xfrm>
          <a:prstGeom prst="rect">
            <a:avLst/>
          </a:prstGeom>
          <a:noFill/>
          <a:ln/>
        </p:spPr>
        <p:txBody>
          <a:bodyPr wrap="square" lIns="0" tIns="0" rIns="0" bIns="0" rtlCol="0" anchor="ctr"/>
          <a:lstStyle/>
          <a:p>
            <a:pPr marL="0" indent="0">
              <a:buNone/>
            </a:pPr>
            <a:r>
              <a:rPr lang="en-US" sz="4200" b="1" dirty="0">
                <a:solidFill>
                  <a:srgbClr val="1E8A5D"/>
                </a:solidFill>
                <a:latin typeface="Arial" pitchFamily="34" charset="0"/>
                <a:ea typeface="Arial" pitchFamily="34" charset="-122"/>
                <a:cs typeface="Arial" pitchFamily="34" charset="-120"/>
              </a:rPr>
              <a:t>+3,76%</a:t>
            </a:r>
            <a:endParaRPr lang="en-US" sz="4200" dirty="0"/>
          </a:p>
        </p:txBody>
      </p:sp>
      <p:sp>
        <p:nvSpPr>
          <p:cNvPr id="16" name="Text 14"/>
          <p:cNvSpPr/>
          <p:nvPr/>
        </p:nvSpPr>
        <p:spPr>
          <a:xfrm>
            <a:off x="6647688"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Lucro Líquido</a:t>
            </a:r>
            <a:endParaRPr lang="en-US" sz="1150" dirty="0"/>
          </a:p>
        </p:txBody>
      </p:sp>
      <p:sp>
        <p:nvSpPr>
          <p:cNvPr id="17" name="Text 15"/>
          <p:cNvSpPr/>
          <p:nvPr/>
        </p:nvSpPr>
        <p:spPr>
          <a:xfrm>
            <a:off x="6647688"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7.608 contratos  •  $173,3M financiados</a:t>
            </a:r>
            <a:endParaRPr lang="en-US" sz="1000" dirty="0"/>
          </a:p>
        </p:txBody>
      </p:sp>
      <p:sp>
        <p:nvSpPr>
          <p:cNvPr id="18" name="Shape 16"/>
          <p:cNvSpPr/>
          <p:nvPr/>
        </p:nvSpPr>
        <p:spPr>
          <a:xfrm>
            <a:off x="6647688" y="3931920"/>
            <a:ext cx="4306824" cy="9144"/>
          </a:xfrm>
          <a:prstGeom prst="rect">
            <a:avLst/>
          </a:prstGeom>
          <a:solidFill>
            <a:srgbClr val="1E8A5D">
              <a:alpha val="40000"/>
            </a:srgbClr>
          </a:solidFill>
          <a:ln/>
        </p:spPr>
        <p:txBody>
          <a:bodyPr/>
          <a:lstStyle/>
          <a:p>
            <a:endParaRPr lang="pt-BR"/>
          </a:p>
        </p:txBody>
      </p:sp>
      <p:sp>
        <p:nvSpPr>
          <p:cNvPr id="19" name="Text 17"/>
          <p:cNvSpPr/>
          <p:nvPr/>
        </p:nvSpPr>
        <p:spPr>
          <a:xfrm>
            <a:off x="6647688"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Lucro Nominal:  </a:t>
            </a:r>
            <a:r>
              <a:rPr lang="en-US" sz="1500" b="1" dirty="0">
                <a:solidFill>
                  <a:srgbClr val="1E8A5D"/>
                </a:solidFill>
              </a:rPr>
              <a:t>+$32,59M</a:t>
            </a:r>
            <a:endParaRPr lang="en-US" sz="1200" dirty="0"/>
          </a:p>
        </p:txBody>
      </p:sp>
      <p:sp>
        <p:nvSpPr>
          <p:cNvPr id="20" name="Text 18"/>
          <p:cNvSpPr/>
          <p:nvPr/>
        </p:nvSpPr>
        <p:spPr>
          <a:xfrm>
            <a:off x="5788152" y="3086100"/>
            <a:ext cx="566928" cy="548640"/>
          </a:xfrm>
          <a:prstGeom prst="rect">
            <a:avLst/>
          </a:prstGeom>
          <a:noFill/>
          <a:ln/>
        </p:spPr>
        <p:txBody>
          <a:bodyPr wrap="square" lIns="0" tIns="0" rIns="0" bIns="0" rtlCol="0" anchor="ctr"/>
          <a:lstStyle/>
          <a:p>
            <a:pPr marL="0" indent="0" algn="ctr">
              <a:buNone/>
            </a:pPr>
            <a:r>
              <a:rPr lang="en-US" sz="3000" b="1" dirty="0">
                <a:solidFill>
                  <a:srgbClr val="1B2A44"/>
                </a:solidFill>
                <a:latin typeface="Arial" pitchFamily="34" charset="0"/>
                <a:ea typeface="Arial" pitchFamily="34" charset="-122"/>
                <a:cs typeface="Arial" pitchFamily="34" charset="-120"/>
              </a:rPr>
              <a:t>→</a:t>
            </a:r>
            <a:endParaRPr lang="en-US" sz="3000" dirty="0"/>
          </a:p>
        </p:txBody>
      </p:sp>
      <p:sp>
        <p:nvSpPr>
          <p:cNvPr id="21" name="Text 19"/>
          <p:cNvSpPr/>
          <p:nvPr/>
        </p:nvSpPr>
        <p:spPr>
          <a:xfrm>
            <a:off x="896112"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36 meses, a receita de juros acumulada ainda não compensa os calotes iniciais concentrados na pior classe de risco do banco.</a:t>
            </a:r>
            <a:endParaRPr lang="en-US" sz="1100" dirty="0"/>
          </a:p>
        </p:txBody>
      </p:sp>
      <p:sp>
        <p:nvSpPr>
          <p:cNvPr id="22" name="Text 20"/>
          <p:cNvSpPr/>
          <p:nvPr/>
        </p:nvSpPr>
        <p:spPr>
          <a:xfrm>
            <a:off x="6355080"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60 meses, a margem bruta de juros dos adimplentes ao longo do prazo estendido absorve os calotes e gera lucro líquido consistente.</a:t>
            </a:r>
            <a:endParaRPr lang="en-US" sz="1100" dirty="0"/>
          </a:p>
        </p:txBody>
      </p:sp>
      <p:sp>
        <p:nvSpPr>
          <p:cNvPr id="23"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4"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10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PLANO DE AÇÃO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Plano de Ação Estratégico &amp; Recomendações ao Comitê</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Três Intervenções Imediatas com Ganho Financeiro Estimado</a:t>
            </a:r>
            <a:endParaRPr lang="en-US" sz="1250" dirty="0"/>
          </a:p>
        </p:txBody>
      </p:sp>
      <p:sp>
        <p:nvSpPr>
          <p:cNvPr id="5" name="Shape 3"/>
          <p:cNvSpPr/>
          <p:nvPr/>
        </p:nvSpPr>
        <p:spPr>
          <a:xfrm>
            <a:off x="502920"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057400"/>
            <a:ext cx="530352" cy="530352"/>
          </a:xfrm>
          <a:prstGeom prst="ellipse">
            <a:avLst/>
          </a:prstGeom>
          <a:solidFill>
            <a:srgbClr val="1B2A44"/>
          </a:solidFill>
          <a:ln/>
        </p:spPr>
        <p:txBody>
          <a:bodyPr/>
          <a:lstStyle/>
          <a:p>
            <a:endParaRPr lang="pt-BR"/>
          </a:p>
        </p:txBody>
      </p:sp>
      <p:pic>
        <p:nvPicPr>
          <p:cNvPr id="7" name="Image 0" descr="/home/claude/deck/assets/trava.png"/>
          <p:cNvPicPr>
            <a:picLocks noChangeAspect="1"/>
          </p:cNvPicPr>
          <p:nvPr/>
        </p:nvPicPr>
        <p:blipFill>
          <a:blip r:embed="rId3"/>
          <a:stretch>
            <a:fillRect/>
          </a:stretch>
        </p:blipFill>
        <p:spPr>
          <a:xfrm>
            <a:off x="896112" y="2176272"/>
            <a:ext cx="292608" cy="292608"/>
          </a:xfrm>
          <a:prstGeom prst="rect">
            <a:avLst/>
          </a:prstGeom>
        </p:spPr>
      </p:pic>
      <p:sp>
        <p:nvSpPr>
          <p:cNvPr id="8" name="Text 5"/>
          <p:cNvSpPr/>
          <p:nvPr/>
        </p:nvSpPr>
        <p:spPr>
          <a:xfrm>
            <a:off x="777240"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1. Trava Cirúrgica Temporal</a:t>
            </a:r>
            <a:endParaRPr lang="en-US" sz="1400" dirty="0"/>
          </a:p>
        </p:txBody>
      </p:sp>
      <p:sp>
        <p:nvSpPr>
          <p:cNvPr id="9" name="Text 6"/>
          <p:cNvSpPr/>
          <p:nvPr/>
        </p:nvSpPr>
        <p:spPr>
          <a:xfrm>
            <a:off x="777240"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Bloqueio do prazo de 60 meses para as Classes D e E, redirecionando 100% do fluxo de originação para o prazo de 36 meses.</a:t>
            </a:r>
            <a:endParaRPr lang="en-US" sz="1050" dirty="0"/>
          </a:p>
        </p:txBody>
      </p:sp>
      <p:sp>
        <p:nvSpPr>
          <p:cNvPr id="10" name="Shape 7"/>
          <p:cNvSpPr/>
          <p:nvPr/>
        </p:nvSpPr>
        <p:spPr>
          <a:xfrm>
            <a:off x="777240" y="4800600"/>
            <a:ext cx="2971800" cy="548640"/>
          </a:xfrm>
          <a:prstGeom prst="roundRect">
            <a:avLst>
              <a:gd name="adj" fmla="val 10000"/>
            </a:avLst>
          </a:prstGeom>
          <a:solidFill>
            <a:srgbClr val="E7F3EE"/>
          </a:solidFill>
          <a:ln/>
        </p:spPr>
        <p:txBody>
          <a:bodyPr/>
          <a:lstStyle/>
          <a:p>
            <a:endParaRPr lang="pt-BR"/>
          </a:p>
        </p:txBody>
      </p:sp>
      <p:sp>
        <p:nvSpPr>
          <p:cNvPr id="11" name="Text 8"/>
          <p:cNvSpPr/>
          <p:nvPr/>
        </p:nvSpPr>
        <p:spPr>
          <a:xfrm>
            <a:off x="914400"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Evita até $85,6M em perdas (Classes D e E)</a:t>
            </a:r>
            <a:endParaRPr lang="en-US" sz="1150" dirty="0"/>
          </a:p>
        </p:txBody>
      </p:sp>
      <p:sp>
        <p:nvSpPr>
          <p:cNvPr id="12" name="Shape 9"/>
          <p:cNvSpPr/>
          <p:nvPr/>
        </p:nvSpPr>
        <p:spPr>
          <a:xfrm>
            <a:off x="4334256"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3" name="Shape 10"/>
          <p:cNvSpPr/>
          <p:nvPr/>
        </p:nvSpPr>
        <p:spPr>
          <a:xfrm>
            <a:off x="4608576" y="2057400"/>
            <a:ext cx="530352" cy="530352"/>
          </a:xfrm>
          <a:prstGeom prst="ellipse">
            <a:avLst/>
          </a:prstGeom>
          <a:solidFill>
            <a:srgbClr val="1B2A44"/>
          </a:solidFill>
          <a:ln/>
        </p:spPr>
        <p:txBody>
          <a:bodyPr/>
          <a:lstStyle/>
          <a:p>
            <a:endParaRPr lang="pt-BR"/>
          </a:p>
        </p:txBody>
      </p:sp>
      <p:pic>
        <p:nvPicPr>
          <p:cNvPr id="14" name="Image 1" descr="/home/claude/deck/assets/reprecificacao.png"/>
          <p:cNvPicPr>
            <a:picLocks noChangeAspect="1"/>
          </p:cNvPicPr>
          <p:nvPr/>
        </p:nvPicPr>
        <p:blipFill>
          <a:blip r:embed="rId4"/>
          <a:stretch>
            <a:fillRect/>
          </a:stretch>
        </p:blipFill>
        <p:spPr>
          <a:xfrm>
            <a:off x="4727448" y="2176272"/>
            <a:ext cx="292608" cy="292608"/>
          </a:xfrm>
          <a:prstGeom prst="rect">
            <a:avLst/>
          </a:prstGeom>
        </p:spPr>
      </p:pic>
      <p:sp>
        <p:nvSpPr>
          <p:cNvPr id="15" name="Text 11"/>
          <p:cNvSpPr/>
          <p:nvPr/>
        </p:nvSpPr>
        <p:spPr>
          <a:xfrm>
            <a:off x="4608576"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2. Reprecificação do Miolo</a:t>
            </a:r>
            <a:endParaRPr lang="en-US" sz="1400" dirty="0"/>
          </a:p>
        </p:txBody>
      </p:sp>
      <p:sp>
        <p:nvSpPr>
          <p:cNvPr id="16" name="Text 12"/>
          <p:cNvSpPr/>
          <p:nvPr/>
        </p:nvSpPr>
        <p:spPr>
          <a:xfrm>
            <a:off x="4608576"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Ajuste de +45 a +80 bps nas Grades C, D e E dentro da faixa de comprometimento de renda de 10% a 20%.</a:t>
            </a:r>
            <a:endParaRPr lang="en-US" sz="1050" dirty="0"/>
          </a:p>
        </p:txBody>
      </p:sp>
      <p:sp>
        <p:nvSpPr>
          <p:cNvPr id="17" name="Shape 13"/>
          <p:cNvSpPr/>
          <p:nvPr/>
        </p:nvSpPr>
        <p:spPr>
          <a:xfrm>
            <a:off x="4608576" y="4800600"/>
            <a:ext cx="2971800" cy="548640"/>
          </a:xfrm>
          <a:prstGeom prst="roundRect">
            <a:avLst>
              <a:gd name="adj" fmla="val 10000"/>
            </a:avLst>
          </a:prstGeom>
          <a:solidFill>
            <a:srgbClr val="E7F3EE"/>
          </a:solidFill>
          <a:ln/>
        </p:spPr>
        <p:txBody>
          <a:bodyPr/>
          <a:lstStyle/>
          <a:p>
            <a:endParaRPr lang="pt-BR"/>
          </a:p>
        </p:txBody>
      </p:sp>
      <p:sp>
        <p:nvSpPr>
          <p:cNvPr id="18" name="Text 14"/>
          <p:cNvSpPr/>
          <p:nvPr/>
        </p:nvSpPr>
        <p:spPr>
          <a:xfrm>
            <a:off x="4745736"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Resgate direto de até $239,2M no Miolo</a:t>
            </a:r>
            <a:endParaRPr lang="en-US" sz="1150" dirty="0"/>
          </a:p>
        </p:txBody>
      </p:sp>
      <p:sp>
        <p:nvSpPr>
          <p:cNvPr id="19" name="Shape 15"/>
          <p:cNvSpPr/>
          <p:nvPr/>
        </p:nvSpPr>
        <p:spPr>
          <a:xfrm>
            <a:off x="8165592"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20" name="Shape 16"/>
          <p:cNvSpPr/>
          <p:nvPr/>
        </p:nvSpPr>
        <p:spPr>
          <a:xfrm>
            <a:off x="8439912" y="2057400"/>
            <a:ext cx="530352" cy="530352"/>
          </a:xfrm>
          <a:prstGeom prst="ellipse">
            <a:avLst/>
          </a:prstGeom>
          <a:solidFill>
            <a:srgbClr val="1B2A44"/>
          </a:solidFill>
          <a:ln/>
        </p:spPr>
        <p:txBody>
          <a:bodyPr/>
          <a:lstStyle/>
          <a:p>
            <a:endParaRPr lang="pt-BR"/>
          </a:p>
        </p:txBody>
      </p:sp>
      <p:pic>
        <p:nvPicPr>
          <p:cNvPr id="21" name="Image 2" descr="/home/claude/deck/assets/realocacao.png"/>
          <p:cNvPicPr>
            <a:picLocks noChangeAspect="1"/>
          </p:cNvPicPr>
          <p:nvPr/>
        </p:nvPicPr>
        <p:blipFill>
          <a:blip r:embed="rId5"/>
          <a:stretch>
            <a:fillRect/>
          </a:stretch>
        </p:blipFill>
        <p:spPr>
          <a:xfrm>
            <a:off x="8558784" y="2176272"/>
            <a:ext cx="292608" cy="292608"/>
          </a:xfrm>
          <a:prstGeom prst="rect">
            <a:avLst/>
          </a:prstGeom>
        </p:spPr>
      </p:pic>
      <p:sp>
        <p:nvSpPr>
          <p:cNvPr id="22" name="Text 17"/>
          <p:cNvSpPr/>
          <p:nvPr/>
        </p:nvSpPr>
        <p:spPr>
          <a:xfrm>
            <a:off x="8439912"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3. Realocação da Grade G</a:t>
            </a:r>
            <a:endParaRPr lang="en-US" sz="1400" dirty="0"/>
          </a:p>
        </p:txBody>
      </p:sp>
      <p:sp>
        <p:nvSpPr>
          <p:cNvPr id="23" name="Text 18"/>
          <p:cNvSpPr/>
          <p:nvPr/>
        </p:nvSpPr>
        <p:spPr>
          <a:xfrm>
            <a:off x="8439912"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Eliminação do prazo de 36 meses na Grade G, canalizando 100% da originação para o prazo de 60 meses.</a:t>
            </a:r>
            <a:endParaRPr lang="en-US" sz="1050" dirty="0"/>
          </a:p>
        </p:txBody>
      </p:sp>
      <p:sp>
        <p:nvSpPr>
          <p:cNvPr id="24" name="Shape 19"/>
          <p:cNvSpPr/>
          <p:nvPr/>
        </p:nvSpPr>
        <p:spPr>
          <a:xfrm>
            <a:off x="8439912" y="4800600"/>
            <a:ext cx="2971800" cy="548640"/>
          </a:xfrm>
          <a:prstGeom prst="roundRect">
            <a:avLst>
              <a:gd name="adj" fmla="val 10000"/>
            </a:avLst>
          </a:prstGeom>
          <a:solidFill>
            <a:srgbClr val="E7F3EE"/>
          </a:solidFill>
          <a:ln/>
        </p:spPr>
        <p:txBody>
          <a:bodyPr/>
          <a:lstStyle/>
          <a:p>
            <a:endParaRPr lang="pt-BR"/>
          </a:p>
        </p:txBody>
      </p:sp>
      <p:sp>
        <p:nvSpPr>
          <p:cNvPr id="25" name="Text 20"/>
          <p:cNvSpPr/>
          <p:nvPr/>
        </p:nvSpPr>
        <p:spPr>
          <a:xfrm>
            <a:off x="8577072"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Reverte -$1,05M e soma +$4,3M em lucro</a:t>
            </a:r>
            <a:endParaRPr lang="en-US" sz="1150" dirty="0"/>
          </a:p>
        </p:txBody>
      </p:sp>
      <p:sp>
        <p:nvSpPr>
          <p:cNvPr id="26"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7"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11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CONCLUSÃO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Conclusão &amp; Projeção de Valor Destravado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Transformando Inteligência de Dados em Liderança Rentável de Mercado</a:t>
            </a:r>
            <a:endParaRPr lang="en-US" sz="1250" dirty="0"/>
          </a:p>
        </p:txBody>
      </p:sp>
      <p:sp>
        <p:nvSpPr>
          <p:cNvPr id="5" name="Shape 3"/>
          <p:cNvSpPr/>
          <p:nvPr/>
        </p:nvSpPr>
        <p:spPr>
          <a:xfrm>
            <a:off x="502920" y="1783080"/>
            <a:ext cx="5349240" cy="1554480"/>
          </a:xfrm>
          <a:prstGeom prst="roundRect">
            <a:avLst>
              <a:gd name="adj" fmla="val 5294"/>
            </a:avLst>
          </a:prstGeom>
          <a:solidFill>
            <a:srgbClr val="F4F6F8"/>
          </a:solidFill>
          <a:ln/>
        </p:spPr>
        <p:txBody>
          <a:bodyPr/>
          <a:lstStyle/>
          <a:p>
            <a:endParaRPr lang="pt-BR"/>
          </a:p>
        </p:txBody>
      </p:sp>
      <p:sp>
        <p:nvSpPr>
          <p:cNvPr id="6" name="Text 4"/>
          <p:cNvSpPr/>
          <p:nvPr/>
        </p:nvSpPr>
        <p:spPr>
          <a:xfrm>
            <a:off x="704088" y="1911096"/>
            <a:ext cx="4946904" cy="777240"/>
          </a:xfrm>
          <a:prstGeom prst="rect">
            <a:avLst/>
          </a:prstGeom>
          <a:noFill/>
          <a:ln/>
        </p:spPr>
        <p:txBody>
          <a:bodyPr wrap="square" lIns="0" tIns="0" rIns="0" bIns="0" rtlCol="0" anchor="b"/>
          <a:lstStyle/>
          <a:p>
            <a:pPr marL="0" indent="0" algn="l">
              <a:buNone/>
            </a:pPr>
            <a:r>
              <a:rPr lang="en-US" sz="2500" b="1" dirty="0">
                <a:solidFill>
                  <a:srgbClr val="1E8A5D"/>
                </a:solidFill>
                <a:latin typeface="Arial" pitchFamily="34" charset="0"/>
                <a:ea typeface="Arial" pitchFamily="34" charset="-122"/>
                <a:cs typeface="Arial" pitchFamily="34" charset="-120"/>
              </a:rPr>
              <a:t>4,43% → 4,90%</a:t>
            </a:r>
            <a:endParaRPr lang="en-US" sz="2500" dirty="0"/>
          </a:p>
        </p:txBody>
      </p:sp>
      <p:sp>
        <p:nvSpPr>
          <p:cNvPr id="7" name="Text 5"/>
          <p:cNvSpPr/>
          <p:nvPr/>
        </p:nvSpPr>
        <p:spPr>
          <a:xfrm>
            <a:off x="704088"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Elevação Projetada do ROA Global Consolidado da Carteira</a:t>
            </a:r>
            <a:endParaRPr lang="en-US" sz="950" dirty="0"/>
          </a:p>
        </p:txBody>
      </p:sp>
      <p:sp>
        <p:nvSpPr>
          <p:cNvPr id="8" name="Shape 6"/>
          <p:cNvSpPr/>
          <p:nvPr/>
        </p:nvSpPr>
        <p:spPr>
          <a:xfrm>
            <a:off x="6336792" y="1783080"/>
            <a:ext cx="5349240" cy="1554480"/>
          </a:xfrm>
          <a:prstGeom prst="roundRect">
            <a:avLst>
              <a:gd name="adj" fmla="val 5294"/>
            </a:avLst>
          </a:prstGeom>
          <a:solidFill>
            <a:srgbClr val="F4F6F8"/>
          </a:solidFill>
          <a:ln/>
        </p:spPr>
        <p:txBody>
          <a:bodyPr/>
          <a:lstStyle/>
          <a:p>
            <a:endParaRPr lang="pt-BR"/>
          </a:p>
        </p:txBody>
      </p:sp>
      <p:sp>
        <p:nvSpPr>
          <p:cNvPr id="9" name="Text 7"/>
          <p:cNvSpPr/>
          <p:nvPr/>
        </p:nvSpPr>
        <p:spPr>
          <a:xfrm>
            <a:off x="6537960" y="1911096"/>
            <a:ext cx="4946904" cy="777240"/>
          </a:xfrm>
          <a:prstGeom prst="rect">
            <a:avLst/>
          </a:prstGeom>
          <a:noFill/>
          <a:ln/>
        </p:spPr>
        <p:txBody>
          <a:bodyPr wrap="square" lIns="0" tIns="0" rIns="0" bIns="0" rtlCol="0" anchor="b"/>
          <a:lstStyle/>
          <a:p>
            <a:pPr marL="0" indent="0" algn="l">
              <a:buNone/>
            </a:pPr>
            <a:r>
              <a:rPr lang="en-US" sz="2800" b="1" dirty="0">
                <a:solidFill>
                  <a:srgbClr val="1E8A5D"/>
                </a:solidFill>
                <a:latin typeface="Arial" pitchFamily="34" charset="0"/>
                <a:ea typeface="Arial" pitchFamily="34" charset="-122"/>
                <a:cs typeface="Arial" pitchFamily="34" charset="-120"/>
              </a:rPr>
              <a:t>até $239M</a:t>
            </a:r>
            <a:endParaRPr lang="en-US" sz="2800" dirty="0"/>
          </a:p>
        </p:txBody>
      </p:sp>
      <p:sp>
        <p:nvSpPr>
          <p:cNvPr id="10" name="Text 8"/>
          <p:cNvSpPr/>
          <p:nvPr/>
        </p:nvSpPr>
        <p:spPr>
          <a:xfrm>
            <a:off x="6537960"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Custo de Oportunidade Resgatado no Cenário-Alvo</a:t>
            </a:r>
            <a:endParaRPr lang="en-US" sz="950" dirty="0"/>
          </a:p>
        </p:txBody>
      </p:sp>
      <p:sp>
        <p:nvSpPr>
          <p:cNvPr id="11" name="Text 9"/>
          <p:cNvSpPr/>
          <p:nvPr/>
        </p:nvSpPr>
        <p:spPr>
          <a:xfrm>
            <a:off x="502920" y="3529584"/>
            <a:ext cx="11183112" cy="237744"/>
          </a:xfrm>
          <a:prstGeom prst="rect">
            <a:avLst/>
          </a:prstGeom>
          <a:noFill/>
          <a:ln/>
        </p:spPr>
        <p:txBody>
          <a:bodyPr wrap="square" lIns="0" tIns="0" rIns="0" bIns="0" rtlCol="0" anchor="ctr"/>
          <a:lstStyle/>
          <a:p>
            <a:pPr marL="0" indent="0">
              <a:buNone/>
            </a:pPr>
            <a:r>
              <a:rPr lang="en-US" sz="1100" b="1" kern="0" spc="100" dirty="0">
                <a:solidFill>
                  <a:srgbClr val="1B2A44"/>
                </a:solidFill>
                <a:latin typeface="Arial" pitchFamily="34" charset="0"/>
                <a:ea typeface="Arial" pitchFamily="34" charset="-122"/>
                <a:cs typeface="Arial" pitchFamily="34" charset="-120"/>
              </a:rPr>
              <a:t>CONSOLIDAÇÃO DA LIDERANÇA EM ROA HIGH-YIELD</a:t>
            </a:r>
            <a:endParaRPr lang="en-US" sz="1100" dirty="0"/>
          </a:p>
        </p:txBody>
      </p:sp>
      <p:graphicFrame>
        <p:nvGraphicFramePr>
          <p:cNvPr id="12" name="Chart 0"/>
          <p:cNvGraphicFramePr/>
          <p:nvPr/>
        </p:nvGraphicFramePr>
        <p:xfrm>
          <a:off x="502920" y="3803904"/>
          <a:ext cx="7315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8001000" y="3803904"/>
            <a:ext cx="2770632" cy="1325880"/>
          </a:xfrm>
          <a:prstGeom prst="roundRect">
            <a:avLst>
              <a:gd name="adj" fmla="val 5517"/>
            </a:avLst>
          </a:prstGeom>
          <a:solidFill>
            <a:srgbClr val="F4F6F8"/>
          </a:solidFill>
          <a:ln/>
        </p:spPr>
        <p:txBody>
          <a:bodyPr/>
          <a:lstStyle/>
          <a:p>
            <a:endParaRPr lang="pt-BR"/>
          </a:p>
        </p:txBody>
      </p:sp>
      <p:sp>
        <p:nvSpPr>
          <p:cNvPr id="14" name="Text 11"/>
          <p:cNvSpPr/>
          <p:nvPr/>
        </p:nvSpPr>
        <p:spPr>
          <a:xfrm>
            <a:off x="8183880" y="3931920"/>
            <a:ext cx="2404872" cy="201168"/>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ESCALA JÁ CONSOLIDADA</a:t>
            </a:r>
            <a:endParaRPr lang="en-US" sz="850" dirty="0"/>
          </a:p>
        </p:txBody>
      </p:sp>
      <p:sp>
        <p:nvSpPr>
          <p:cNvPr id="15" name="Text 12"/>
          <p:cNvSpPr/>
          <p:nvPr/>
        </p:nvSpPr>
        <p:spPr>
          <a:xfrm>
            <a:off x="8183880" y="4151376"/>
            <a:ext cx="2404872" cy="502920"/>
          </a:xfrm>
          <a:prstGeom prst="rect">
            <a:avLst/>
          </a:prstGeom>
          <a:noFill/>
          <a:ln/>
        </p:spPr>
        <p:txBody>
          <a:bodyPr wrap="square" lIns="0" tIns="0" rIns="0" bIns="0" rtlCol="0" anchor="ctr"/>
          <a:lstStyle/>
          <a:p>
            <a:pPr marL="0" indent="0">
              <a:lnSpc>
                <a:spcPct val="115000"/>
              </a:lnSpc>
              <a:buNone/>
            </a:pPr>
            <a:r>
              <a:rPr lang="en-US" sz="1300" b="1" dirty="0">
                <a:solidFill>
                  <a:srgbClr val="1B2A44"/>
                </a:solidFill>
                <a:latin typeface="Arial" pitchFamily="34" charset="0"/>
                <a:ea typeface="Arial" pitchFamily="34" charset="-122"/>
                <a:cs typeface="Arial" pitchFamily="34" charset="-120"/>
              </a:rPr>
              <a:t>$20,3B  •  1,34M contratos</a:t>
            </a:r>
            <a:endParaRPr lang="en-US" sz="1300" dirty="0"/>
          </a:p>
        </p:txBody>
      </p:sp>
      <p:sp>
        <p:nvSpPr>
          <p:cNvPr id="16" name="Text 13"/>
          <p:cNvSpPr/>
          <p:nvPr/>
        </p:nvSpPr>
        <p:spPr>
          <a:xfrm>
            <a:off x="8183880" y="4709160"/>
            <a:ext cx="2404872" cy="365760"/>
          </a:xfrm>
          <a:prstGeom prst="rect">
            <a:avLst/>
          </a:prstGeom>
          <a:noFill/>
          <a:ln/>
        </p:spPr>
        <p:txBody>
          <a:bodyPr wrap="square" lIns="0" tIns="0" rIns="0" bIns="0" rtlCol="0" anchor="ctr"/>
          <a:lstStyle/>
          <a:p>
            <a:pPr marL="0" indent="0">
              <a:buNone/>
            </a:pPr>
            <a:r>
              <a:rPr lang="en-US" sz="950" dirty="0">
                <a:solidFill>
                  <a:srgbClr val="55606E"/>
                </a:solidFill>
                <a:latin typeface="Arial" pitchFamily="34" charset="0"/>
                <a:ea typeface="Arial" pitchFamily="34" charset="-122"/>
                <a:cs typeface="Arial" pitchFamily="34" charset="-120"/>
              </a:rPr>
              <a:t>$3,33B em lucro líquido já gerado</a:t>
            </a:r>
            <a:endParaRPr lang="en-US" sz="950" dirty="0"/>
          </a:p>
        </p:txBody>
      </p:sp>
      <p:sp>
        <p:nvSpPr>
          <p:cNvPr id="17" name="Text 14"/>
          <p:cNvSpPr/>
          <p:nvPr/>
        </p:nvSpPr>
        <p:spPr>
          <a:xfrm>
            <a:off x="502920" y="5440680"/>
            <a:ext cx="11183112" cy="502920"/>
          </a:xfrm>
          <a:prstGeom prst="rect">
            <a:avLst/>
          </a:prstGeom>
          <a:noFill/>
          <a:ln/>
        </p:spPr>
        <p:txBody>
          <a:bodyPr wrap="square" lIns="0" tIns="0" rIns="0" bIns="0" rtlCol="0" anchor="ctr"/>
          <a:lstStyle/>
          <a:p>
            <a:pPr marL="0" indent="0" algn="ctr">
              <a:lnSpc>
                <a:spcPct val="120000"/>
              </a:lnSpc>
              <a:buNone/>
            </a:pPr>
            <a:r>
              <a:rPr lang="en-US" sz="1100" i="1" dirty="0">
                <a:solidFill>
                  <a:srgbClr val="55606E"/>
                </a:solidFill>
                <a:latin typeface="Arial" pitchFamily="34" charset="0"/>
                <a:ea typeface="Arial" pitchFamily="34" charset="-122"/>
                <a:cs typeface="Arial" pitchFamily="34" charset="-120"/>
              </a:rPr>
              <a:t>A inteligência de dados aplicada à precificação por risco transforma uma carteira já lucrativa ($3,33B em resultado) em uma máquina ainda mais eficiente de geração de caixa — elevando o Happen Bank ao topo do mercado de crédito pessoal high-yield.</a:t>
            </a:r>
            <a:endParaRPr lang="en-US" sz="1100" dirty="0"/>
          </a:p>
        </p:txBody>
      </p:sp>
      <p:sp>
        <p:nvSpPr>
          <p:cNvPr id="18" name="Text 15"/>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(Governança &amp; Simulação): As projeções de ROA incremental consideram a manutenção das taxas de atrito de proposta e elasticidade de demanda do ciclo 2007–2018, assumindo neutralidade de choque macroeconômico externo.</a:t>
            </a:r>
            <a:endParaRPr lang="en-US" sz="80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2432</Words>
  <Application>Microsoft Office PowerPoint</Application>
  <PresentationFormat>Widescreen</PresentationFormat>
  <Paragraphs>317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Thiago da Silva</cp:lastModifiedBy>
  <cp:revision>3</cp:revision>
  <dcterms:created xsi:type="dcterms:W3CDTF">2026-07-22T18:53:27Z</dcterms:created>
  <dcterms:modified xsi:type="dcterms:W3CDTF">2026-07-26T10:45:10Z</dcterms:modified>
</cp:coreProperties>
</file>