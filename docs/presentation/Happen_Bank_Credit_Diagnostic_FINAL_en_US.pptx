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2"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4"/>
                </a:solidFill>
                <a:latin typeface="Arial"/>
              </a:defRPr>
            </a:pPr>
            <a:r>
              <a:rPr lang="en-US" sz="1200" b="0" i="0" u="none" strike="noStrike">
                <a:solidFill>
                  <a:srgbClr val="1B2A44"/>
                </a:solidFill>
                <a:latin typeface="Arial"/>
              </a:rPr>
              <a:t>Origination Volume vs. Opportunity Cost (%)</a:t>
            </a:r>
          </a:p>
        </c:rich>
      </c:tx>
      <c:overlay val="0"/>
    </c:title>
    <c:autoTitleDeleted val="0"/>
    <c:plotArea>
      <c:layout/>
      <c:barChart>
        <c:barDir val="col"/>
        <c:grouping val="clustered"/>
        <c:varyColors val="0"/>
        <c:ser>
          <c:idx val="0"/>
          <c:order val="0"/>
          <c:tx>
            <c:strRef>
              <c:f>Sheet1!$B$1</c:f>
              <c:strCache>
                <c:ptCount val="1"/>
                <c:pt idx="0">
                  <c:v>% of Origination Volume</c:v>
                </c:pt>
              </c:strCache>
            </c:strRef>
          </c:tx>
          <c:spPr>
            <a:solidFill>
              <a:srgbClr val="1B2A44"/>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Squeezed (&gt;20%)</c:v>
                </c:pt>
                <c:pt idx="1">
                  <c:v>Middle (10%–20%)</c:v>
                </c:pt>
              </c:strCache>
            </c:strRef>
          </c:cat>
          <c:val>
            <c:numRef>
              <c:f>Sheet1!$B$2:$B$3</c:f>
              <c:numCache>
                <c:formatCode>General</c:formatCode>
                <c:ptCount val="2"/>
                <c:pt idx="0">
                  <c:v>0.98</c:v>
                </c:pt>
                <c:pt idx="1">
                  <c:v>27.29</c:v>
                </c:pt>
              </c:numCache>
            </c:numRef>
          </c:val>
          <c:extLst>
            <c:ext xmlns:c16="http://schemas.microsoft.com/office/drawing/2014/chart" uri="{C3380CC4-5D6E-409C-BE32-E72D297353CC}">
              <c16:uniqueId val="{00000000-2057-4A54-A5FD-CD62BDB7459E}"/>
            </c:ext>
          </c:extLst>
        </c:ser>
        <c:ser>
          <c:idx val="1"/>
          <c:order val="1"/>
          <c:tx>
            <c:strRef>
              <c:f>Sheet1!$C$1</c:f>
              <c:strCache>
                <c:ptCount val="1"/>
                <c:pt idx="0">
                  <c:v>% of Opportunity Cost</c:v>
                </c:pt>
              </c:strCache>
            </c:strRef>
          </c:tx>
          <c:spPr>
            <a:solidFill>
              <a:srgbClr val="C0392B"/>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Squeezed (&gt;20%)</c:v>
                </c:pt>
                <c:pt idx="1">
                  <c:v>Middle (10%–20%)</c:v>
                </c:pt>
              </c:strCache>
            </c:strRef>
          </c:cat>
          <c:val>
            <c:numRef>
              <c:f>Sheet1!$C$2:$C$3</c:f>
              <c:numCache>
                <c:formatCode>General</c:formatCode>
                <c:ptCount val="2"/>
                <c:pt idx="0">
                  <c:v>9.1999999999999993</c:v>
                </c:pt>
                <c:pt idx="1">
                  <c:v>80</c:v>
                </c:pt>
              </c:numCache>
            </c:numRef>
          </c:val>
          <c:extLst>
            <c:ext xmlns:c16="http://schemas.microsoft.com/office/drawing/2014/chart" uri="{C3380CC4-5D6E-409C-BE32-E72D297353CC}">
              <c16:uniqueId val="{00000001-2057-4A54-A5FD-CD62BDB7459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92"/>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A44"/>
                </a:solidFill>
                <a:latin typeface="Arial"/>
              </a:defRPr>
            </a:pPr>
            <a:r>
              <a:rPr lang="en-US" sz="1250" b="0" i="0" u="none" strike="noStrike">
                <a:solidFill>
                  <a:srgbClr val="1B2A44"/>
                </a:solidFill>
                <a:latin typeface="Arial"/>
              </a:rPr>
              <a:t>ROA by Income Class: 36 vs. 60 Months</a:t>
            </a:r>
          </a:p>
        </c:rich>
      </c:tx>
      <c:overlay val="0"/>
    </c:title>
    <c:autoTitleDeleted val="0"/>
    <c:plotArea>
      <c:layout/>
      <c:lineChart>
        <c:grouping val="standard"/>
        <c:varyColors val="0"/>
        <c:ser>
          <c:idx val="0"/>
          <c:order val="0"/>
          <c:tx>
            <c:strRef>
              <c:f>Sheet1!$B$1</c:f>
              <c:strCache>
                <c:ptCount val="1"/>
                <c:pt idx="0">
                  <c:v>Class A</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Sheet1!$B$2:$B$3</c:f>
              <c:numCache>
                <c:formatCode>General</c:formatCode>
                <c:ptCount val="2"/>
                <c:pt idx="0">
                  <c:v>5.29</c:v>
                </c:pt>
                <c:pt idx="1">
                  <c:v>6.24</c:v>
                </c:pt>
              </c:numCache>
            </c:numRef>
          </c:val>
          <c:smooth val="0"/>
          <c:extLst>
            <c:ext xmlns:c16="http://schemas.microsoft.com/office/drawing/2014/chart" uri="{C3380CC4-5D6E-409C-BE32-E72D297353CC}">
              <c16:uniqueId val="{00000000-A83C-4C82-983B-AD348BE6E78F}"/>
            </c:ext>
          </c:extLst>
        </c:ser>
        <c:ser>
          <c:idx val="1"/>
          <c:order val="1"/>
          <c:tx>
            <c:strRef>
              <c:f>Sheet1!$C$1</c:f>
              <c:strCache>
                <c:ptCount val="1"/>
                <c:pt idx="0">
                  <c:v>Class B</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Sheet1!$C$2:$C$3</c:f>
              <c:numCache>
                <c:formatCode>General</c:formatCode>
                <c:ptCount val="2"/>
                <c:pt idx="0">
                  <c:v>4.59</c:v>
                </c:pt>
                <c:pt idx="1">
                  <c:v>4.95</c:v>
                </c:pt>
              </c:numCache>
            </c:numRef>
          </c:val>
          <c:smooth val="0"/>
          <c:extLst>
            <c:ext xmlns:c16="http://schemas.microsoft.com/office/drawing/2014/chart" uri="{C3380CC4-5D6E-409C-BE32-E72D297353CC}">
              <c16:uniqueId val="{00000001-A83C-4C82-983B-AD348BE6E78F}"/>
            </c:ext>
          </c:extLst>
        </c:ser>
        <c:ser>
          <c:idx val="2"/>
          <c:order val="2"/>
          <c:tx>
            <c:strRef>
              <c:f>Sheet1!$D$1</c:f>
              <c:strCache>
                <c:ptCount val="1"/>
                <c:pt idx="0">
                  <c:v>Class C</c:v>
                </c:pt>
              </c:strCache>
            </c:strRef>
          </c:tx>
          <c:spPr>
            <a:ln w="34925" cap="flat">
              <a:solidFill>
                <a:srgbClr val="C8790F"/>
              </a:solidFill>
              <a:prstDash val="solid"/>
              <a:round/>
            </a:ln>
            <a:effectLst/>
          </c:spPr>
          <c:marker>
            <c:symbol val="circle"/>
            <c:size val="8"/>
            <c:spPr>
              <a:solidFill>
                <a:srgbClr val="C8790F"/>
              </a:solidFill>
              <a:ln w="9525" cap="flat">
                <a:solidFill>
                  <a:srgbClr val="C8790F"/>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Sheet1!$D$2:$D$3</c:f>
              <c:numCache>
                <c:formatCode>General</c:formatCode>
                <c:ptCount val="2"/>
                <c:pt idx="0">
                  <c:v>4.18</c:v>
                </c:pt>
                <c:pt idx="1">
                  <c:v>4.0199999999999996</c:v>
                </c:pt>
              </c:numCache>
            </c:numRef>
          </c:val>
          <c:smooth val="0"/>
          <c:extLst>
            <c:ext xmlns:c16="http://schemas.microsoft.com/office/drawing/2014/chart" uri="{C3380CC4-5D6E-409C-BE32-E72D297353CC}">
              <c16:uniqueId val="{00000002-A83C-4C82-983B-AD348BE6E78F}"/>
            </c:ext>
          </c:extLst>
        </c:ser>
        <c:ser>
          <c:idx val="3"/>
          <c:order val="3"/>
          <c:tx>
            <c:strRef>
              <c:f>Sheet1!$E$1</c:f>
              <c:strCache>
                <c:ptCount val="1"/>
                <c:pt idx="0">
                  <c:v>Class D</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Sheet1!$E$2:$E$3</c:f>
              <c:numCache>
                <c:formatCode>General</c:formatCode>
                <c:ptCount val="2"/>
                <c:pt idx="0">
                  <c:v>3.94</c:v>
                </c:pt>
                <c:pt idx="1">
                  <c:v>3</c:v>
                </c:pt>
              </c:numCache>
            </c:numRef>
          </c:val>
          <c:smooth val="0"/>
          <c:extLst>
            <c:ext xmlns:c16="http://schemas.microsoft.com/office/drawing/2014/chart" uri="{C3380CC4-5D6E-409C-BE32-E72D297353CC}">
              <c16:uniqueId val="{00000003-A83C-4C82-983B-AD348BE6E78F}"/>
            </c:ext>
          </c:extLst>
        </c:ser>
        <c:ser>
          <c:idx val="4"/>
          <c:order val="4"/>
          <c:tx>
            <c:strRef>
              <c:f>Sheet1!$F$1</c:f>
              <c:strCache>
                <c:ptCount val="1"/>
                <c:pt idx="0">
                  <c:v>Class E</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Sheet1!$F$2:$F$3</c:f>
              <c:numCache>
                <c:formatCode>General</c:formatCode>
                <c:ptCount val="2"/>
                <c:pt idx="0">
                  <c:v>2.91</c:v>
                </c:pt>
                <c:pt idx="1">
                  <c:v>1.58</c:v>
                </c:pt>
              </c:numCache>
            </c:numRef>
          </c:val>
          <c:smooth val="0"/>
          <c:extLst>
            <c:ext xmlns:c16="http://schemas.microsoft.com/office/drawing/2014/chart" uri="{C3380CC4-5D6E-409C-BE32-E72D297353CC}">
              <c16:uniqueId val="{00000004-A83C-4C82-983B-AD348BE6E78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7"/>
          <c:min val="1"/>
        </c:scaling>
        <c:delete val="0"/>
        <c:axPos val="l"/>
        <c:majorGridlines>
          <c:spPr>
            <a:ln w="9525" cap="flat">
              <a:solidFill>
                <a:srgbClr val="E3E6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E"/>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Projected ROA (p.a.)</c:v>
                </c:pt>
              </c:strCache>
            </c:strRef>
          </c:tx>
          <c:spPr>
            <a:solidFill>
              <a:srgbClr val="1B2A44">
                <a:alpha val="100000"/>
              </a:srgbClr>
            </a:solidFill>
            <a:ln w="9525" cap="flat">
              <a:solidFill>
                <a:srgbClr val="1B2A44"/>
              </a:solidFill>
              <a:prstDash val="solid"/>
              <a:round/>
            </a:ln>
            <a:effectLst/>
          </c:spPr>
          <c:invertIfNegative val="0"/>
          <c:dLbls>
            <c:numFmt formatCode="0.00&quot;%&quot;" sourceLinked="0"/>
            <c:spPr>
              <a:noFill/>
              <a:ln>
                <a:noFill/>
              </a:ln>
              <a:effectLst/>
            </c:spPr>
            <c:txPr>
              <a:bodyPr/>
              <a:lstStyle/>
              <a:p>
                <a:pPr>
                  <a:defRPr sz="1100" b="0" i="0" u="none" strike="noStrike">
                    <a:solidFill>
                      <a:srgbClr val="1B2A44"/>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Discover (DFS)</c:v>
                </c:pt>
                <c:pt idx="1">
                  <c:v>Synchrony (SYF)</c:v>
                </c:pt>
                <c:pt idx="2">
                  <c:v>Happen Bank (Projected)</c:v>
                </c:pt>
              </c:strCache>
            </c:strRef>
          </c:cat>
          <c:val>
            <c:numRef>
              <c:f>Sheet1!$B$2:$B$4</c:f>
              <c:numCache>
                <c:formatCode>General</c:formatCode>
                <c:ptCount val="3"/>
                <c:pt idx="0">
                  <c:v>2.7</c:v>
                </c:pt>
                <c:pt idx="1">
                  <c:v>3.8</c:v>
                </c:pt>
                <c:pt idx="2">
                  <c:v>4.9000000000000004</c:v>
                </c:pt>
              </c:numCache>
            </c:numRef>
          </c:val>
          <c:extLst>
            <c:ext xmlns:c16="http://schemas.microsoft.com/office/drawing/2014/chart" uri="{C3380CC4-5D6E-409C-BE32-E72D297353CC}">
              <c16:uniqueId val="{00000000-1A4F-4039-94AA-7178132B79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87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0" y="-2377440"/>
            <a:ext cx="6035040" cy="6035040"/>
          </a:xfrm>
          <a:prstGeom prst="ellipse">
            <a:avLst/>
          </a:prstGeom>
          <a:solidFill>
            <a:srgbClr val="1B2A44">
              <a:alpha val="6000"/>
            </a:srgbClr>
          </a:solidFill>
          <a:ln/>
        </p:spPr>
        <p:txBody>
          <a:bodyPr/>
          <a:lstStyle/>
          <a:p>
            <a:endParaRPr lang="pt-BR"/>
          </a:p>
        </p:txBody>
      </p:sp>
      <p:sp>
        <p:nvSpPr>
          <p:cNvPr id="3" name="Shape 1"/>
          <p:cNvSpPr/>
          <p:nvPr/>
        </p:nvSpPr>
        <p:spPr>
          <a:xfrm>
            <a:off x="10332720" y="4206240"/>
            <a:ext cx="3840480" cy="3840480"/>
          </a:xfrm>
          <a:prstGeom prst="ellipse">
            <a:avLst/>
          </a:prstGeom>
          <a:solidFill>
            <a:srgbClr val="1B2A44">
              <a:alpha val="4000"/>
            </a:srgbClr>
          </a:solidFill>
          <a:ln/>
        </p:spPr>
        <p:txBody>
          <a:bodyPr/>
          <a:lstStyle/>
          <a:p>
            <a:endParaRPr lang="pt-BR"/>
          </a:p>
        </p:txBody>
      </p:sp>
      <p:sp>
        <p:nvSpPr>
          <p:cNvPr id="4" name="Text 2"/>
          <p:cNvSpPr/>
          <p:nvPr/>
        </p:nvSpPr>
        <p:spPr>
          <a:xfrm>
            <a:off x="502920" y="457200"/>
            <a:ext cx="9144000" cy="237744"/>
          </a:xfrm>
          <a:prstGeom prst="rect">
            <a:avLst/>
          </a:prstGeom>
          <a:noFill/>
          <a:ln/>
        </p:spPr>
        <p:txBody>
          <a:bodyPr wrap="square" lIns="0" tIns="0" rIns="0" bIns="0" rtlCol="0" anchor="ctr"/>
          <a:lstStyle/>
          <a:p>
            <a:pPr marL="0" indent="0">
              <a:buNone/>
            </a:pPr>
            <a:r>
              <a:rPr lang="en-US" sz="1150" b="1" kern="0" spc="190" dirty="0">
                <a:solidFill>
                  <a:srgbClr val="1B2A44"/>
                </a:solidFill>
                <a:latin typeface="Arial" pitchFamily="34" charset="0"/>
                <a:ea typeface="Arial" pitchFamily="34" charset="-122"/>
                <a:cs typeface="Arial" pitchFamily="34" charset="-120"/>
              </a:rPr>
              <a:t>EXECUTIVE DIAGNOSTIC — CREDIT &amp; ANALYTICS</a:t>
            </a:r>
            <a:endParaRPr lang="en-US" sz="1150" dirty="0"/>
          </a:p>
        </p:txBody>
      </p:sp>
      <p:sp>
        <p:nvSpPr>
          <p:cNvPr id="5" name="Text 3"/>
          <p:cNvSpPr/>
          <p:nvPr/>
        </p:nvSpPr>
        <p:spPr>
          <a:xfrm>
            <a:off x="502920" y="786384"/>
            <a:ext cx="10789920" cy="1051560"/>
          </a:xfrm>
          <a:prstGeom prst="rect">
            <a:avLst/>
          </a:prstGeom>
          <a:noFill/>
          <a:ln/>
        </p:spPr>
        <p:txBody>
          <a:bodyPr wrap="square" lIns="0" tIns="0" rIns="0" bIns="0" rtlCol="0" anchor="t"/>
          <a:lstStyle/>
          <a:p>
            <a:pPr marL="0" indent="0">
              <a:lnSpc>
                <a:spcPct val="108000"/>
              </a:lnSpc>
              <a:buNone/>
            </a:pPr>
            <a:r>
              <a:rPr lang="en-US" sz="3000" b="1" dirty="0">
                <a:solidFill>
                  <a:srgbClr val="1B2A44"/>
                </a:solidFill>
                <a:latin typeface="Arial" pitchFamily="34" charset="0"/>
                <a:ea typeface="Arial" pitchFamily="34" charset="-122"/>
                <a:cs typeface="Arial" pitchFamily="34" charset="-120"/>
              </a:rPr>
              <a:t>Credit Performance Diagnostic &amp; Scale Reassessment</a:t>
            </a:r>
            <a:endParaRPr lang="en-US" sz="3000" dirty="0"/>
          </a:p>
        </p:txBody>
      </p:sp>
      <p:sp>
        <p:nvSpPr>
          <p:cNvPr id="6" name="Text 4"/>
          <p:cNvSpPr/>
          <p:nvPr/>
        </p:nvSpPr>
        <p:spPr>
          <a:xfrm>
            <a:off x="502920" y="1975104"/>
            <a:ext cx="9875520" cy="594360"/>
          </a:xfrm>
          <a:prstGeom prst="rect">
            <a:avLst/>
          </a:prstGeom>
          <a:noFill/>
          <a:ln/>
        </p:spPr>
        <p:txBody>
          <a:bodyPr wrap="square" lIns="0" tIns="0" rIns="0" bIns="0" rtlCol="0" anchor="t"/>
          <a:lstStyle/>
          <a:p>
            <a:pPr marL="0" indent="0">
              <a:lnSpc>
                <a:spcPct val="115000"/>
              </a:lnSpc>
              <a:buNone/>
            </a:pPr>
            <a:r>
              <a:rPr lang="en-US" sz="1450" dirty="0">
                <a:solidFill>
                  <a:srgbClr val="55606E"/>
                </a:solidFill>
                <a:latin typeface="Arial" pitchFamily="34" charset="0"/>
                <a:ea typeface="Arial" pitchFamily="34" charset="-122"/>
                <a:cs typeface="Arial" pitchFamily="34" charset="-120"/>
              </a:rPr>
              <a:t>Optimizing the Profitability of an Already Highly Lucrative Portfolio ($3.33B in Net Profit Generated) and Recovering $299M in Opportunity Cost</a:t>
            </a:r>
            <a:endParaRPr lang="en-US" sz="1450" dirty="0"/>
          </a:p>
        </p:txBody>
      </p:sp>
      <p:sp>
        <p:nvSpPr>
          <p:cNvPr id="7" name="Text 5"/>
          <p:cNvSpPr/>
          <p:nvPr/>
        </p:nvSpPr>
        <p:spPr>
          <a:xfrm>
            <a:off x="502920" y="2761488"/>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AUTHOR</a:t>
            </a:r>
            <a:endParaRPr lang="en-US" sz="1000" dirty="0"/>
          </a:p>
        </p:txBody>
      </p:sp>
      <p:sp>
        <p:nvSpPr>
          <p:cNvPr id="8" name="Text 6"/>
          <p:cNvSpPr/>
          <p:nvPr/>
        </p:nvSpPr>
        <p:spPr>
          <a:xfrm>
            <a:off x="1874520" y="2734056"/>
            <a:ext cx="8778240" cy="292608"/>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Thiago da Silva</a:t>
            </a:r>
            <a:endParaRPr lang="en-US" sz="1150" dirty="0"/>
          </a:p>
        </p:txBody>
      </p:sp>
      <p:sp>
        <p:nvSpPr>
          <p:cNvPr id="9" name="Text 7"/>
          <p:cNvSpPr/>
          <p:nvPr/>
        </p:nvSpPr>
        <p:spPr>
          <a:xfrm>
            <a:off x="502920" y="310896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SCOPE</a:t>
            </a:r>
            <a:endParaRPr lang="en-US" sz="1000" dirty="0"/>
          </a:p>
        </p:txBody>
      </p:sp>
      <p:sp>
        <p:nvSpPr>
          <p:cNvPr id="10" name="Text 8"/>
          <p:cNvSpPr/>
          <p:nvPr/>
        </p:nvSpPr>
        <p:spPr>
          <a:xfrm>
            <a:off x="1874520" y="3081528"/>
            <a:ext cx="8869680" cy="50292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SQL &amp; Power BI Pipeline  •  1.34 Million Closed Contracts  •  $20.3 Billion in Capital Funded (2007–2018)</a:t>
            </a:r>
            <a:endParaRPr lang="en-US" sz="1150" dirty="0"/>
          </a:p>
        </p:txBody>
      </p:sp>
      <p:sp>
        <p:nvSpPr>
          <p:cNvPr id="11" name="Text 9"/>
          <p:cNvSpPr/>
          <p:nvPr/>
        </p:nvSpPr>
        <p:spPr>
          <a:xfrm>
            <a:off x="502920" y="361188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SOURCE</a:t>
            </a:r>
            <a:endParaRPr lang="en-US" sz="1000" dirty="0"/>
          </a:p>
        </p:txBody>
      </p:sp>
      <p:sp>
        <p:nvSpPr>
          <p:cNvPr id="12" name="Text 10"/>
          <p:cNvSpPr/>
          <p:nvPr/>
        </p:nvSpPr>
        <p:spPr>
          <a:xfrm>
            <a:off x="1874520" y="3584448"/>
            <a:ext cx="8869680" cy="36576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Kaggle — Lending Club Loan Data (2007–2018Q4), accepted_2007_to_2018Q4.csv</a:t>
            </a:r>
            <a:endParaRPr lang="en-US" sz="1150" dirty="0"/>
          </a:p>
        </p:txBody>
      </p:sp>
      <p:sp>
        <p:nvSpPr>
          <p:cNvPr id="13" name="Shape 11"/>
          <p:cNvSpPr/>
          <p:nvPr/>
        </p:nvSpPr>
        <p:spPr>
          <a:xfrm>
            <a:off x="502920" y="4224528"/>
            <a:ext cx="2617470" cy="1170432"/>
          </a:xfrm>
          <a:prstGeom prst="roundRect">
            <a:avLst>
              <a:gd name="adj" fmla="val 7031"/>
            </a:avLst>
          </a:prstGeom>
          <a:solidFill>
            <a:srgbClr val="F4F6F8"/>
          </a:solidFill>
          <a:ln/>
        </p:spPr>
        <p:txBody>
          <a:bodyPr/>
          <a:lstStyle/>
          <a:p>
            <a:endParaRPr lang="pt-BR"/>
          </a:p>
        </p:txBody>
      </p:sp>
      <p:sp>
        <p:nvSpPr>
          <p:cNvPr id="14" name="Text 12"/>
          <p:cNvSpPr/>
          <p:nvPr/>
        </p:nvSpPr>
        <p:spPr>
          <a:xfrm>
            <a:off x="704088"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$3.33B</a:t>
            </a:r>
            <a:endParaRPr lang="en-US" sz="2300" dirty="0"/>
          </a:p>
        </p:txBody>
      </p:sp>
      <p:sp>
        <p:nvSpPr>
          <p:cNvPr id="15" name="Text 13"/>
          <p:cNvSpPr/>
          <p:nvPr/>
        </p:nvSpPr>
        <p:spPr>
          <a:xfrm>
            <a:off x="704088"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Accumulated Net Income</a:t>
            </a:r>
            <a:endParaRPr lang="en-US" sz="950" dirty="0"/>
          </a:p>
        </p:txBody>
      </p:sp>
      <p:sp>
        <p:nvSpPr>
          <p:cNvPr id="16" name="Shape 14"/>
          <p:cNvSpPr/>
          <p:nvPr/>
        </p:nvSpPr>
        <p:spPr>
          <a:xfrm>
            <a:off x="3358134" y="4224528"/>
            <a:ext cx="2617470" cy="1170432"/>
          </a:xfrm>
          <a:prstGeom prst="roundRect">
            <a:avLst>
              <a:gd name="adj" fmla="val 7031"/>
            </a:avLst>
          </a:prstGeom>
          <a:solidFill>
            <a:srgbClr val="F4F6F8"/>
          </a:solidFill>
          <a:ln/>
        </p:spPr>
        <p:txBody>
          <a:bodyPr/>
          <a:lstStyle/>
          <a:p>
            <a:endParaRPr lang="pt-BR"/>
          </a:p>
        </p:txBody>
      </p:sp>
      <p:sp>
        <p:nvSpPr>
          <p:cNvPr id="17" name="Text 15"/>
          <p:cNvSpPr/>
          <p:nvPr/>
        </p:nvSpPr>
        <p:spPr>
          <a:xfrm>
            <a:off x="3559302"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$20.3B</a:t>
            </a:r>
            <a:endParaRPr lang="en-US" sz="2300" dirty="0"/>
          </a:p>
        </p:txBody>
      </p:sp>
      <p:sp>
        <p:nvSpPr>
          <p:cNvPr id="18" name="Text 16"/>
          <p:cNvSpPr/>
          <p:nvPr/>
        </p:nvSpPr>
        <p:spPr>
          <a:xfrm>
            <a:off x="3559302"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Total Volume Funded</a:t>
            </a:r>
            <a:endParaRPr lang="en-US" sz="950" dirty="0"/>
          </a:p>
        </p:txBody>
      </p:sp>
      <p:sp>
        <p:nvSpPr>
          <p:cNvPr id="19" name="Shape 17"/>
          <p:cNvSpPr/>
          <p:nvPr/>
        </p:nvSpPr>
        <p:spPr>
          <a:xfrm>
            <a:off x="6213348" y="4224528"/>
            <a:ext cx="2617470" cy="1170432"/>
          </a:xfrm>
          <a:prstGeom prst="roundRect">
            <a:avLst>
              <a:gd name="adj" fmla="val 7031"/>
            </a:avLst>
          </a:prstGeom>
          <a:solidFill>
            <a:srgbClr val="F4F6F8"/>
          </a:solidFill>
          <a:ln/>
        </p:spPr>
        <p:txBody>
          <a:bodyPr/>
          <a:lstStyle/>
          <a:p>
            <a:endParaRPr lang="pt-BR"/>
          </a:p>
        </p:txBody>
      </p:sp>
      <p:sp>
        <p:nvSpPr>
          <p:cNvPr id="20" name="Text 18"/>
          <p:cNvSpPr/>
          <p:nvPr/>
        </p:nvSpPr>
        <p:spPr>
          <a:xfrm>
            <a:off x="6414516"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1.34M</a:t>
            </a:r>
            <a:endParaRPr lang="en-US" sz="2300" dirty="0"/>
          </a:p>
        </p:txBody>
      </p:sp>
      <p:sp>
        <p:nvSpPr>
          <p:cNvPr id="21" name="Text 19"/>
          <p:cNvSpPr/>
          <p:nvPr/>
        </p:nvSpPr>
        <p:spPr>
          <a:xfrm>
            <a:off x="6414516"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Closed Credit Cycles</a:t>
            </a:r>
            <a:endParaRPr lang="en-US" sz="950" dirty="0"/>
          </a:p>
        </p:txBody>
      </p:sp>
      <p:sp>
        <p:nvSpPr>
          <p:cNvPr id="22" name="Shape 20"/>
          <p:cNvSpPr/>
          <p:nvPr/>
        </p:nvSpPr>
        <p:spPr>
          <a:xfrm>
            <a:off x="9068562" y="4224528"/>
            <a:ext cx="2617470" cy="1170432"/>
          </a:xfrm>
          <a:prstGeom prst="roundRect">
            <a:avLst>
              <a:gd name="adj" fmla="val 7031"/>
            </a:avLst>
          </a:prstGeom>
          <a:solidFill>
            <a:srgbClr val="F4F6F8"/>
          </a:solidFill>
          <a:ln/>
        </p:spPr>
        <p:txBody>
          <a:bodyPr/>
          <a:lstStyle/>
          <a:p>
            <a:endParaRPr lang="pt-BR"/>
          </a:p>
        </p:txBody>
      </p:sp>
      <p:sp>
        <p:nvSpPr>
          <p:cNvPr id="23" name="Text 21"/>
          <p:cNvSpPr/>
          <p:nvPr/>
        </p:nvSpPr>
        <p:spPr>
          <a:xfrm>
            <a:off x="9269730"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4.43%</a:t>
            </a:r>
            <a:endParaRPr lang="en-US" sz="2300" dirty="0"/>
          </a:p>
        </p:txBody>
      </p:sp>
      <p:sp>
        <p:nvSpPr>
          <p:cNvPr id="24" name="Text 22"/>
          <p:cNvSpPr/>
          <p:nvPr/>
        </p:nvSpPr>
        <p:spPr>
          <a:xfrm>
            <a:off x="9269730"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Current Consolidated ROA</a:t>
            </a:r>
            <a:endParaRPr lang="en-US" sz="950" dirty="0"/>
          </a:p>
        </p:txBody>
      </p:sp>
      <p:sp>
        <p:nvSpPr>
          <p:cNvPr id="25" name="Text 23"/>
          <p:cNvSpPr/>
          <p:nvPr/>
        </p:nvSpPr>
        <p:spPr>
          <a:xfrm>
            <a:off x="502920" y="5522976"/>
            <a:ext cx="11183112" cy="274320"/>
          </a:xfrm>
          <a:prstGeom prst="rect">
            <a:avLst/>
          </a:prstGeom>
          <a:noFill/>
          <a:ln/>
        </p:spPr>
        <p:txBody>
          <a:bodyPr wrap="square" lIns="0" tIns="0" rIns="0" bIns="0" rtlCol="0" anchor="ctr"/>
          <a:lstStyle/>
          <a:p>
            <a:pPr marL="0" indent="0">
              <a:buNone/>
            </a:pPr>
            <a:r>
              <a:rPr lang="en-US" sz="1050" i="1" dirty="0">
                <a:solidFill>
                  <a:srgbClr val="98A1AD"/>
                </a:solidFill>
                <a:latin typeface="Arial" pitchFamily="34" charset="0"/>
                <a:ea typeface="Arial" pitchFamily="34" charset="-122"/>
                <a:cs typeface="Arial" pitchFamily="34" charset="-120"/>
              </a:rPr>
              <a:t>An already highly profitable portfolio — the analysis ahead reveals where to unlock even more value at scale.</a:t>
            </a:r>
            <a:endParaRPr lang="en-US" sz="1050" dirty="0"/>
          </a:p>
        </p:txBody>
      </p:sp>
      <p:sp>
        <p:nvSpPr>
          <p:cNvPr id="26" name="Text 24"/>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Monetary Note: All financial figures in this study were inflation-adjusted via CPI to Constant 2018 Dollars, neutralizing distortions between the 2007 and 2018 vintages.</a:t>
            </a:r>
            <a:endParaRPr lang="en-US" sz="800" dirty="0"/>
          </a:p>
        </p:txBody>
      </p:sp>
      <p:sp>
        <p:nvSpPr>
          <p:cNvPr id="27" name="Text 2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8" name="Text 2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01 / 12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 BUSINESS MODEL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The Business Model &amp; Credit Marketplace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Disruption in Unsecured Personal Credit (Unsecured Consumer Loans)</a:t>
            </a:r>
            <a:endParaRPr lang="en-US" sz="1250" dirty="0"/>
          </a:p>
        </p:txBody>
      </p:sp>
      <p:sp>
        <p:nvSpPr>
          <p:cNvPr id="5" name="Shape 3"/>
          <p:cNvSpPr/>
          <p:nvPr/>
        </p:nvSpPr>
        <p:spPr>
          <a:xfrm>
            <a:off x="502920"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148840"/>
            <a:ext cx="548640" cy="548640"/>
          </a:xfrm>
          <a:prstGeom prst="ellipse">
            <a:avLst/>
          </a:prstGeom>
          <a:solidFill>
            <a:srgbClr val="1B2A44"/>
          </a:solidFill>
          <a:ln/>
        </p:spPr>
        <p:txBody>
          <a:bodyPr/>
          <a:lstStyle/>
          <a:p>
            <a:endParaRPr lang="pt-BR"/>
          </a:p>
        </p:txBody>
      </p:sp>
      <p:pic>
        <p:nvPicPr>
          <p:cNvPr id="7" name="Image 0" descr="/home/claude/deck/assets/marketplace.png"/>
          <p:cNvPicPr>
            <a:picLocks noChangeAspect="1"/>
          </p:cNvPicPr>
          <p:nvPr/>
        </p:nvPicPr>
        <p:blipFill>
          <a:blip r:embed="rId3"/>
          <a:stretch>
            <a:fillRect/>
          </a:stretch>
        </p:blipFill>
        <p:spPr>
          <a:xfrm>
            <a:off x="905256" y="2276856"/>
            <a:ext cx="292608" cy="292608"/>
          </a:xfrm>
          <a:prstGeom prst="rect">
            <a:avLst/>
          </a:prstGeom>
        </p:spPr>
      </p:pic>
      <p:sp>
        <p:nvSpPr>
          <p:cNvPr id="8" name="Text 5"/>
          <p:cNvSpPr/>
          <p:nvPr/>
        </p:nvSpPr>
        <p:spPr>
          <a:xfrm>
            <a:off x="777240"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Marketplace Model</a:t>
            </a:r>
            <a:endParaRPr lang="en-US" sz="1450" dirty="0"/>
          </a:p>
        </p:txBody>
      </p:sp>
      <p:sp>
        <p:nvSpPr>
          <p:cNvPr id="9" name="Text 6"/>
          <p:cNvSpPr/>
          <p:nvPr/>
        </p:nvSpPr>
        <p:spPr>
          <a:xfrm>
            <a:off x="777240"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Digital disintermediation and operational efficiency: 100% digital origination, with no physical branches or traditional teller infrastructure.</a:t>
            </a:r>
            <a:endParaRPr lang="en-US" sz="1050" dirty="0"/>
          </a:p>
        </p:txBody>
      </p:sp>
      <p:sp>
        <p:nvSpPr>
          <p:cNvPr id="10" name="Shape 7"/>
          <p:cNvSpPr/>
          <p:nvPr/>
        </p:nvSpPr>
        <p:spPr>
          <a:xfrm>
            <a:off x="4334256"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1" name="Shape 8"/>
          <p:cNvSpPr/>
          <p:nvPr/>
        </p:nvSpPr>
        <p:spPr>
          <a:xfrm>
            <a:off x="4608576" y="2148840"/>
            <a:ext cx="548640" cy="548640"/>
          </a:xfrm>
          <a:prstGeom prst="ellipse">
            <a:avLst/>
          </a:prstGeom>
          <a:solidFill>
            <a:srgbClr val="1B2A44"/>
          </a:solidFill>
          <a:ln/>
        </p:spPr>
        <p:txBody>
          <a:bodyPr/>
          <a:lstStyle/>
          <a:p>
            <a:endParaRPr lang="pt-BR"/>
          </a:p>
        </p:txBody>
      </p:sp>
      <p:pic>
        <p:nvPicPr>
          <p:cNvPr id="12" name="Image 1" descr="/home/claude/deck/assets/produto.png"/>
          <p:cNvPicPr>
            <a:picLocks noChangeAspect="1"/>
          </p:cNvPicPr>
          <p:nvPr/>
        </p:nvPicPr>
        <p:blipFill>
          <a:blip r:embed="rId4"/>
          <a:stretch>
            <a:fillRect/>
          </a:stretch>
        </p:blipFill>
        <p:spPr>
          <a:xfrm>
            <a:off x="4736592" y="2276856"/>
            <a:ext cx="292608" cy="292608"/>
          </a:xfrm>
          <a:prstGeom prst="rect">
            <a:avLst/>
          </a:prstGeom>
        </p:spPr>
      </p:pic>
      <p:sp>
        <p:nvSpPr>
          <p:cNvPr id="13" name="Text 9"/>
          <p:cNvSpPr/>
          <p:nvPr/>
        </p:nvSpPr>
        <p:spPr>
          <a:xfrm>
            <a:off x="4608576"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The Product</a:t>
            </a:r>
            <a:endParaRPr lang="en-US" sz="1450" dirty="0"/>
          </a:p>
        </p:txBody>
      </p:sp>
      <p:sp>
        <p:nvSpPr>
          <p:cNvPr id="14" name="Text 10"/>
          <p:cNvSpPr/>
          <p:nvPr/>
        </p:nvSpPr>
        <p:spPr>
          <a:xfrm>
            <a:off x="4608576"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Fixed-rate personal loans over 36 and 60 months, focused primarily on consolidating credit card debt and other high-rate liabilities.</a:t>
            </a:r>
            <a:endParaRPr lang="en-US" sz="1050" dirty="0"/>
          </a:p>
        </p:txBody>
      </p:sp>
      <p:sp>
        <p:nvSpPr>
          <p:cNvPr id="15" name="Shape 11"/>
          <p:cNvSpPr/>
          <p:nvPr/>
        </p:nvSpPr>
        <p:spPr>
          <a:xfrm>
            <a:off x="8165592"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6" name="Shape 12"/>
          <p:cNvSpPr/>
          <p:nvPr/>
        </p:nvSpPr>
        <p:spPr>
          <a:xfrm>
            <a:off x="8439912" y="2148840"/>
            <a:ext cx="548640" cy="548640"/>
          </a:xfrm>
          <a:prstGeom prst="ellipse">
            <a:avLst/>
          </a:prstGeom>
          <a:solidFill>
            <a:srgbClr val="1B2A44"/>
          </a:solidFill>
          <a:ln/>
        </p:spPr>
        <p:txBody>
          <a:bodyPr/>
          <a:lstStyle/>
          <a:p>
            <a:endParaRPr lang="pt-BR"/>
          </a:p>
        </p:txBody>
      </p:sp>
      <p:pic>
        <p:nvPicPr>
          <p:cNvPr id="17" name="Image 2" descr="/home/claude/deck/assets/underwriting.png"/>
          <p:cNvPicPr>
            <a:picLocks noChangeAspect="1"/>
          </p:cNvPicPr>
          <p:nvPr/>
        </p:nvPicPr>
        <p:blipFill>
          <a:blip r:embed="rId5"/>
          <a:stretch>
            <a:fillRect/>
          </a:stretch>
        </p:blipFill>
        <p:spPr>
          <a:xfrm>
            <a:off x="8567928" y="2276856"/>
            <a:ext cx="292608" cy="292608"/>
          </a:xfrm>
          <a:prstGeom prst="rect">
            <a:avLst/>
          </a:prstGeom>
        </p:spPr>
      </p:pic>
      <p:sp>
        <p:nvSpPr>
          <p:cNvPr id="18" name="Text 13"/>
          <p:cNvSpPr/>
          <p:nvPr/>
        </p:nvSpPr>
        <p:spPr>
          <a:xfrm>
            <a:off x="8439912"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Underwriting</a:t>
            </a:r>
            <a:endParaRPr lang="en-US" sz="1450" dirty="0"/>
          </a:p>
        </p:txBody>
      </p:sp>
      <p:sp>
        <p:nvSpPr>
          <p:cNvPr id="19" name="Text 14"/>
          <p:cNvSpPr/>
          <p:nvPr/>
        </p:nvSpPr>
        <p:spPr>
          <a:xfrm>
            <a:off x="8439912"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Risk grade assignment (Grades A through G) via a proprietary Risk-Based Pricing algorithm, calibrating interest rates to default probability.</a:t>
            </a:r>
            <a:endParaRPr lang="en-US" sz="1050" dirty="0"/>
          </a:p>
        </p:txBody>
      </p:sp>
      <p:sp>
        <p:nvSpPr>
          <p:cNvPr id="20" name="Shape 15"/>
          <p:cNvSpPr/>
          <p:nvPr/>
        </p:nvSpPr>
        <p:spPr>
          <a:xfrm>
            <a:off x="502920" y="4864608"/>
            <a:ext cx="11183112" cy="566928"/>
          </a:xfrm>
          <a:prstGeom prst="roundRect">
            <a:avLst>
              <a:gd name="adj" fmla="val 12903"/>
            </a:avLst>
          </a:prstGeom>
          <a:solidFill>
            <a:srgbClr val="E8ECF3"/>
          </a:solidFill>
          <a:ln/>
        </p:spPr>
        <p:txBody>
          <a:bodyPr/>
          <a:lstStyle/>
          <a:p>
            <a:endParaRPr lang="pt-BR"/>
          </a:p>
        </p:txBody>
      </p:sp>
      <p:sp>
        <p:nvSpPr>
          <p:cNvPr id="21" name="Text 16"/>
          <p:cNvSpPr/>
          <p:nvPr/>
        </p:nvSpPr>
        <p:spPr>
          <a:xfrm>
            <a:off x="777240" y="4864608"/>
            <a:ext cx="10634472" cy="566928"/>
          </a:xfrm>
          <a:prstGeom prst="rect">
            <a:avLst/>
          </a:prstGeom>
          <a:noFill/>
          <a:ln/>
        </p:spPr>
        <p:txBody>
          <a:bodyPr wrap="square" lIns="0" tIns="0" rIns="0" bIns="0" rtlCol="0" anchor="ctr"/>
          <a:lstStyle/>
          <a:p>
            <a:pPr marL="0" indent="0">
              <a:lnSpc>
                <a:spcPct val="115000"/>
              </a:lnSpc>
              <a:buNone/>
            </a:pPr>
            <a:r>
              <a:rPr lang="en-US" sz="1350" b="1" dirty="0">
                <a:solidFill>
                  <a:srgbClr val="1B2A44"/>
                </a:solidFill>
              </a:rPr>
              <a:t>1.34 million  </a:t>
            </a:r>
            <a:r>
              <a:rPr lang="en-US" sz="1150" dirty="0">
                <a:solidFill>
                  <a:srgbClr val="55606E"/>
                </a:solidFill>
              </a:rPr>
              <a:t>applications approved and funded over the period analyzed (2007–2018) — a scale that reflects the maturity and reach of the marketplace model.</a:t>
            </a:r>
            <a:endParaRPr lang="en-US" sz="1350" dirty="0"/>
          </a:p>
        </p:txBody>
      </p:sp>
      <p:sp>
        <p:nvSpPr>
          <p:cNvPr id="22" name="Text 17"/>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3" name="Text 18"/>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02 / 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 CORE METRIC &amp; ROBUSTNESS</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Business Robustness and the Case for Superior ROA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How an Already Highly Profitable Model Outperforms Market Benchmarks</a:t>
            </a:r>
            <a:endParaRPr lang="en-US" sz="1250" dirty="0"/>
          </a:p>
        </p:txBody>
      </p:sp>
      <p:sp>
        <p:nvSpPr>
          <p:cNvPr id="5" name="Text 3"/>
          <p:cNvSpPr/>
          <p:nvPr/>
        </p:nvSpPr>
        <p:spPr>
          <a:xfrm>
            <a:off x="502920" y="1783080"/>
            <a:ext cx="4937760" cy="329184"/>
          </a:xfrm>
          <a:prstGeom prst="rect">
            <a:avLst/>
          </a:prstGeom>
          <a:noFill/>
          <a:ln/>
        </p:spPr>
        <p:txBody>
          <a:bodyPr wrap="square" lIns="0" tIns="0" rIns="0" bIns="0" rtlCol="0" anchor="ctr"/>
          <a:lstStyle/>
          <a:p>
            <a:pPr marL="0" indent="0">
              <a:buNone/>
            </a:pPr>
            <a:r>
              <a:rPr lang="en-US" sz="1500" b="1" dirty="0">
                <a:solidFill>
                  <a:srgbClr val="1B2A44"/>
                </a:solidFill>
                <a:latin typeface="Arial" pitchFamily="34" charset="0"/>
                <a:ea typeface="Arial" pitchFamily="34" charset="-122"/>
                <a:cs typeface="Arial" pitchFamily="34" charset="-120"/>
              </a:rPr>
              <a:t>A Profitable Model by Design</a:t>
            </a:r>
            <a:endParaRPr lang="en-US" sz="1500" dirty="0"/>
          </a:p>
        </p:txBody>
      </p:sp>
      <p:sp>
        <p:nvSpPr>
          <p:cNvPr id="6" name="Text 4"/>
          <p:cNvSpPr/>
          <p:nvPr/>
        </p:nvSpPr>
        <p:spPr>
          <a:xfrm>
            <a:off x="502920" y="2157984"/>
            <a:ext cx="4937760" cy="1051560"/>
          </a:xfrm>
          <a:prstGeom prst="rect">
            <a:avLst/>
          </a:prstGeom>
          <a:noFill/>
          <a:ln/>
        </p:spPr>
        <p:txBody>
          <a:bodyPr wrap="square" lIns="0" tIns="0" rIns="0" bIns="0" rtlCol="0" anchor="t"/>
          <a:lstStyle/>
          <a:p>
            <a:pPr marL="0" indent="0">
              <a:lnSpc>
                <a:spcPct val="128000"/>
              </a:lnSpc>
              <a:buNone/>
            </a:pPr>
            <a:r>
              <a:rPr lang="en-US" sz="1200" dirty="0">
                <a:solidFill>
                  <a:srgbClr val="55606E"/>
                </a:solidFill>
                <a:latin typeface="Arial" pitchFamily="34" charset="0"/>
                <a:ea typeface="Arial" pitchFamily="34" charset="-122"/>
                <a:cs typeface="Arial" pitchFamily="34" charset="-120"/>
              </a:rPr>
              <a:t>With $3.33B in net profit and a 4.43% ROA, the bank already outperforms the market. Even so, without real collateral, returns must embed a risk premium to absorb expected delinquency.</a:t>
            </a:r>
            <a:endParaRPr lang="en-US" sz="1200" dirty="0"/>
          </a:p>
        </p:txBody>
      </p:sp>
      <p:sp>
        <p:nvSpPr>
          <p:cNvPr id="7" name="Shape 5"/>
          <p:cNvSpPr/>
          <p:nvPr/>
        </p:nvSpPr>
        <p:spPr>
          <a:xfrm>
            <a:off x="502920" y="3429000"/>
            <a:ext cx="4937760" cy="868680"/>
          </a:xfrm>
          <a:prstGeom prst="roundRect">
            <a:avLst>
              <a:gd name="adj" fmla="val 7368"/>
            </a:avLst>
          </a:prstGeom>
          <a:solidFill>
            <a:srgbClr val="F4F6F8"/>
          </a:solidFill>
          <a:ln/>
        </p:spPr>
        <p:txBody>
          <a:bodyPr/>
          <a:lstStyle/>
          <a:p>
            <a:endParaRPr lang="pt-BR"/>
          </a:p>
        </p:txBody>
      </p:sp>
      <p:sp>
        <p:nvSpPr>
          <p:cNvPr id="8" name="Shape 6"/>
          <p:cNvSpPr/>
          <p:nvPr/>
        </p:nvSpPr>
        <p:spPr>
          <a:xfrm>
            <a:off x="704088" y="3781044"/>
            <a:ext cx="164592" cy="164592"/>
          </a:xfrm>
          <a:prstGeom prst="ellipse">
            <a:avLst/>
          </a:prstGeom>
          <a:solidFill>
            <a:srgbClr val="1B2A44"/>
          </a:solidFill>
          <a:ln/>
        </p:spPr>
        <p:txBody>
          <a:bodyPr/>
          <a:lstStyle/>
          <a:p>
            <a:endParaRPr lang="pt-BR"/>
          </a:p>
        </p:txBody>
      </p:sp>
      <p:sp>
        <p:nvSpPr>
          <p:cNvPr id="9" name="Text 7"/>
          <p:cNvSpPr/>
          <p:nvPr/>
        </p:nvSpPr>
        <p:spPr>
          <a:xfrm>
            <a:off x="1005840" y="351129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Absence of Collateral</a:t>
            </a:r>
            <a:endParaRPr lang="en-US" sz="1250" dirty="0"/>
          </a:p>
        </p:txBody>
      </p:sp>
      <p:sp>
        <p:nvSpPr>
          <p:cNvPr id="10" name="Text 8"/>
          <p:cNvSpPr/>
          <p:nvPr/>
        </p:nvSpPr>
        <p:spPr>
          <a:xfrm>
            <a:off x="1005840" y="381121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Without real collateral, recovery upon default depends almost exclusively on collections, raising the expected loss per unit of credit.</a:t>
            </a:r>
            <a:endParaRPr lang="en-US" sz="1000" dirty="0"/>
          </a:p>
        </p:txBody>
      </p:sp>
      <p:sp>
        <p:nvSpPr>
          <p:cNvPr id="11" name="Shape 9"/>
          <p:cNvSpPr/>
          <p:nvPr/>
        </p:nvSpPr>
        <p:spPr>
          <a:xfrm>
            <a:off x="502920" y="4434840"/>
            <a:ext cx="4937760" cy="868680"/>
          </a:xfrm>
          <a:prstGeom prst="roundRect">
            <a:avLst>
              <a:gd name="adj" fmla="val 7368"/>
            </a:avLst>
          </a:prstGeom>
          <a:solidFill>
            <a:srgbClr val="F4F6F8"/>
          </a:solidFill>
          <a:ln/>
        </p:spPr>
        <p:txBody>
          <a:bodyPr/>
          <a:lstStyle/>
          <a:p>
            <a:endParaRPr lang="pt-BR"/>
          </a:p>
        </p:txBody>
      </p:sp>
      <p:sp>
        <p:nvSpPr>
          <p:cNvPr id="12" name="Shape 10"/>
          <p:cNvSpPr/>
          <p:nvPr/>
        </p:nvSpPr>
        <p:spPr>
          <a:xfrm>
            <a:off x="704088" y="4786884"/>
            <a:ext cx="164592" cy="164592"/>
          </a:xfrm>
          <a:prstGeom prst="ellipse">
            <a:avLst/>
          </a:prstGeom>
          <a:solidFill>
            <a:srgbClr val="1B2A44"/>
          </a:solidFill>
          <a:ln/>
        </p:spPr>
        <p:txBody>
          <a:bodyPr/>
          <a:lstStyle/>
          <a:p>
            <a:endParaRPr lang="pt-BR"/>
          </a:p>
        </p:txBody>
      </p:sp>
      <p:sp>
        <p:nvSpPr>
          <p:cNvPr id="13" name="Text 11"/>
          <p:cNvSpPr/>
          <p:nvPr/>
        </p:nvSpPr>
        <p:spPr>
          <a:xfrm>
            <a:off x="1005840" y="451713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Required Risk Premium</a:t>
            </a:r>
            <a:endParaRPr lang="en-US" sz="1250" dirty="0"/>
          </a:p>
        </p:txBody>
      </p:sp>
      <p:sp>
        <p:nvSpPr>
          <p:cNvPr id="14" name="Text 12"/>
          <p:cNvSpPr/>
          <p:nvPr/>
        </p:nvSpPr>
        <p:spPr>
          <a:xfrm>
            <a:off x="1005840" y="481705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The institutional Hurdle Rate of 4.00% p.a. defines the minimum ROA floor for origination to remain economically sustainable.</a:t>
            </a:r>
            <a:endParaRPr lang="en-US" sz="1000" dirty="0"/>
          </a:p>
        </p:txBody>
      </p:sp>
      <p:sp>
        <p:nvSpPr>
          <p:cNvPr id="15" name="Text 13"/>
          <p:cNvSpPr/>
          <p:nvPr/>
        </p:nvSpPr>
        <p:spPr>
          <a:xfrm>
            <a:off x="5760720" y="1783080"/>
            <a:ext cx="5486400" cy="292608"/>
          </a:xfrm>
          <a:prstGeom prst="rect">
            <a:avLst/>
          </a:prstGeom>
          <a:noFill/>
          <a:ln/>
        </p:spPr>
        <p:txBody>
          <a:bodyPr wrap="square" lIns="0" tIns="0" rIns="0" bIns="0" rtlCol="0" anchor="ctr"/>
          <a:lstStyle/>
          <a:p>
            <a:pPr marL="0" indent="0">
              <a:buNone/>
            </a:pPr>
            <a:r>
              <a:rPr lang="en-US" sz="1300" b="1" dirty="0">
                <a:solidFill>
                  <a:srgbClr val="1B2A44"/>
                </a:solidFill>
                <a:latin typeface="Arial" pitchFamily="34" charset="0"/>
                <a:ea typeface="Arial" pitchFamily="34" charset="-122"/>
                <a:cs typeface="Arial" pitchFamily="34" charset="-120"/>
              </a:rPr>
              <a:t>ROA Benchmark Table (2018)</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0" y="2148840"/>
          <a:ext cx="5486400" cy="2852928"/>
        </p:xfrm>
        <a:graphic>
          <a:graphicData uri="http://schemas.openxmlformats.org/drawingml/2006/table">
            <a:tbl>
              <a:tblPr/>
              <a:tblGrid>
                <a:gridCol w="3520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402336">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Reference</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ROA (p.a.)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US Commercial Banks</a:t>
                      </a:r>
                      <a:endParaRPr lang="en-US" sz="1100" dirty="0">
                        <a:latin typeface="Arial" charset="0"/>
                        <a:ea typeface="Arial" charset="0"/>
                        <a:cs typeface="Arial" charset="0"/>
                      </a:endParaRPr>
                    </a:p>
                    <a:p>
                      <a:pPr marL="0" indent="0" algn="l">
                        <a:buNone/>
                      </a:pPr>
                      <a:r>
                        <a:rPr lang="en-US" sz="1100" dirty="0">
                          <a:solidFill>
                            <a:srgbClr val="55606E"/>
                          </a:solidFill>
                          <a:latin typeface="Arial" pitchFamily="34" charset="0"/>
                          <a:ea typeface="Arial" pitchFamily="34" charset="-122"/>
                          <a:cs typeface="Arial" pitchFamily="34" charset="-120"/>
                        </a:rPr>
                        <a:t>(FRED Average, 2018)</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~1.00%–1.32%</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Discover Financial (DFS)</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Synchrony Financial (SYF)</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3.80%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B2A44"/>
                          </a:solidFill>
                          <a:latin typeface="Arial" pitchFamily="34" charset="0"/>
                          <a:ea typeface="Arial" pitchFamily="34" charset="-122"/>
                          <a:cs typeface="Arial" pitchFamily="34" charset="-120"/>
                        </a:rPr>
                        <a:t>Institutional Hurdle (Target)</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tc>
                  <a:txBody>
                    <a:bodyPr/>
                    <a:lstStyle/>
                    <a:p>
                      <a:pPr marL="0" indent="0" algn="r">
                        <a:buNone/>
                      </a:pPr>
                      <a:r>
                        <a:rPr lang="en-US" sz="1300" b="1" dirty="0">
                          <a:solidFill>
                            <a:srgbClr val="1B2A44"/>
                          </a:solidFill>
                          <a:latin typeface="Arial" pitchFamily="34" charset="0"/>
                          <a:ea typeface="Arial" pitchFamily="34" charset="-122"/>
                          <a:cs typeface="Arial" pitchFamily="34" charset="-120"/>
                        </a:rPr>
                        <a:t>4.00%</a:t>
                      </a:r>
                      <a:endParaRPr lang="en-US" sz="13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E8A5D"/>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E8A5D"/>
                          </a:solidFill>
                          <a:latin typeface="Arial" pitchFamily="34" charset="0"/>
                          <a:ea typeface="Arial" pitchFamily="34" charset="-122"/>
                          <a:cs typeface="Arial" pitchFamily="34" charset="-120"/>
                        </a:rPr>
                        <a:t>Historical Result (Actual)</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tc>
                  <a:txBody>
                    <a:bodyPr/>
                    <a:lstStyle/>
                    <a:p>
                      <a:pPr marL="0" indent="0" algn="r">
                        <a:buNone/>
                      </a:pPr>
                      <a:r>
                        <a:rPr lang="en-US" sz="1500" b="1" dirty="0">
                          <a:solidFill>
                            <a:srgbClr val="1E8A5D"/>
                          </a:solidFill>
                          <a:latin typeface="Arial" pitchFamily="34" charset="0"/>
                          <a:ea typeface="Arial" pitchFamily="34" charset="-122"/>
                          <a:cs typeface="Arial" pitchFamily="34" charset="-120"/>
                        </a:rPr>
                        <a:t>4.43%</a:t>
                      </a:r>
                      <a:endParaRPr lang="en-US" sz="15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extLst>
                  <a:ext uri="{0D108BD9-81ED-4DB2-BD59-A6C34878D82A}">
                    <a16:rowId xmlns:a16="http://schemas.microsoft.com/office/drawing/2014/main" val="10005"/>
                  </a:ext>
                </a:extLst>
              </a:tr>
            </a:tbl>
          </a:graphicData>
        </a:graphic>
      </p:graphicFrame>
      <p:sp>
        <p:nvSpPr>
          <p:cNvPr id="17" name="Text 14"/>
          <p:cNvSpPr/>
          <p:nvPr/>
        </p:nvSpPr>
        <p:spPr>
          <a:xfrm>
            <a:off x="5760720" y="5257800"/>
            <a:ext cx="5486400" cy="274320"/>
          </a:xfrm>
          <a:prstGeom prst="rect">
            <a:avLst/>
          </a:prstGeom>
          <a:noFill/>
          <a:ln/>
        </p:spPr>
        <p:txBody>
          <a:bodyPr wrap="square" lIns="0" tIns="0" rIns="0" bIns="0" rtlCol="0" anchor="ctr"/>
          <a:lstStyle/>
          <a:p>
            <a:pPr marL="0" indent="0">
              <a:buNone/>
            </a:pPr>
            <a:r>
              <a:rPr lang="en-US" sz="950" i="1" dirty="0">
                <a:solidFill>
                  <a:srgbClr val="98A1AD"/>
                </a:solidFill>
                <a:latin typeface="Arial" pitchFamily="34" charset="0"/>
                <a:ea typeface="Arial" pitchFamily="34" charset="-122"/>
                <a:cs typeface="Arial" pitchFamily="34" charset="-120"/>
              </a:rPr>
              <a:t>Consolidated result: $3.33B in net profit on $20.3B funded (1.34M contracts).</a:t>
            </a:r>
            <a:endParaRPr lang="en-US" sz="950" dirty="0"/>
          </a:p>
        </p:txBody>
      </p:sp>
      <p:sp>
        <p:nvSpPr>
          <p:cNvPr id="18" name="Text 15"/>
          <p:cNvSpPr/>
          <p:nvPr/>
        </p:nvSpPr>
        <p:spPr>
          <a:xfrm>
            <a:off x="502920" y="6044184"/>
            <a:ext cx="11183112" cy="438912"/>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Methodological Note (ROA &amp; Time-Aligned Benchmarking): Return on Assets (ROA) measures the portfolio's net profitability (net financial result / capital funded). To ensure analytical consistency, market benchmarks (FRED, Discover Financial, and Synchrony Financial) were consolidated from official 2018 financial reports and macroeconomic data, aligning rigorously with the dataset's historical window close (2007–2018) against the institutional Hurdle Rate of 4.00% p.a.</a:t>
            </a:r>
            <a:endParaRPr lang="en-US" sz="75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03 / 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ANALYTICAL ARCHITECTURE</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Analytical Architecture: Segmentation &amp; Feature Engineering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Proprietary Lenses for Fine-Grained Risk and Profitability Diagnostics, with Full Volumetrics</a:t>
            </a:r>
            <a:endParaRPr lang="en-US" sz="1250" dirty="0"/>
          </a:p>
        </p:txBody>
      </p:sp>
      <p:sp>
        <p:nvSpPr>
          <p:cNvPr id="5" name="Text 3"/>
          <p:cNvSpPr/>
          <p:nvPr/>
        </p:nvSpPr>
        <p:spPr>
          <a:xfrm>
            <a:off x="50292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Data-Driven Income Bands (USD 2018)</a:t>
            </a:r>
            <a:endParaRPr lang="en-US" sz="1400" dirty="0"/>
          </a:p>
        </p:txBody>
      </p:sp>
      <p:sp>
        <p:nvSpPr>
          <p:cNvPr id="6" name="Shape 4"/>
          <p:cNvSpPr/>
          <p:nvPr/>
        </p:nvSpPr>
        <p:spPr>
          <a:xfrm>
            <a:off x="502920" y="2194560"/>
            <a:ext cx="384048" cy="384048"/>
          </a:xfrm>
          <a:prstGeom prst="ellipse">
            <a:avLst/>
          </a:prstGeom>
          <a:solidFill>
            <a:srgbClr val="1B2A44"/>
          </a:solidFill>
          <a:ln/>
        </p:spPr>
        <p:txBody>
          <a:bodyPr/>
          <a:lstStyle/>
          <a:p>
            <a:endParaRPr lang="pt-BR"/>
          </a:p>
        </p:txBody>
      </p:sp>
      <p:sp>
        <p:nvSpPr>
          <p:cNvPr id="7" name="Text 5"/>
          <p:cNvSpPr/>
          <p:nvPr/>
        </p:nvSpPr>
        <p:spPr>
          <a:xfrm>
            <a:off x="502920" y="219456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a:t>
            </a:r>
            <a:endParaRPr lang="en-US" sz="1250" dirty="0"/>
          </a:p>
        </p:txBody>
      </p:sp>
      <p:sp>
        <p:nvSpPr>
          <p:cNvPr id="8" name="Text 6"/>
          <p:cNvSpPr/>
          <p:nvPr/>
        </p:nvSpPr>
        <p:spPr>
          <a:xfrm>
            <a:off x="1033272" y="2103120"/>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A  </a:t>
            </a:r>
            <a:r>
              <a:rPr lang="en-US" sz="1200" dirty="0">
                <a:solidFill>
                  <a:srgbClr val="55606E"/>
                </a:solidFill>
                <a:latin typeface="Arial" pitchFamily="34" charset="0"/>
                <a:ea typeface="Arial" pitchFamily="34" charset="-122"/>
                <a:cs typeface="Arial" pitchFamily="34" charset="-120"/>
              </a:rPr>
              <a:t>—  Above $104,000</a:t>
            </a:r>
            <a:endParaRPr lang="en-US" sz="1200" dirty="0"/>
          </a:p>
        </p:txBody>
      </p:sp>
      <p:sp>
        <p:nvSpPr>
          <p:cNvPr id="9" name="Text 7"/>
          <p:cNvSpPr/>
          <p:nvPr/>
        </p:nvSpPr>
        <p:spPr>
          <a:xfrm>
            <a:off x="1033272" y="2395728"/>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268,487 contracts</a:t>
            </a:r>
            <a:endParaRPr lang="en-US" sz="950" dirty="0"/>
          </a:p>
        </p:txBody>
      </p:sp>
      <p:sp>
        <p:nvSpPr>
          <p:cNvPr id="10" name="Shape 8"/>
          <p:cNvSpPr/>
          <p:nvPr/>
        </p:nvSpPr>
        <p:spPr>
          <a:xfrm>
            <a:off x="502920" y="2889504"/>
            <a:ext cx="384048" cy="384048"/>
          </a:xfrm>
          <a:prstGeom prst="ellipse">
            <a:avLst/>
          </a:prstGeom>
          <a:solidFill>
            <a:srgbClr val="1B2A44"/>
          </a:solidFill>
          <a:ln/>
        </p:spPr>
        <p:txBody>
          <a:bodyPr/>
          <a:lstStyle/>
          <a:p>
            <a:endParaRPr lang="pt-BR"/>
          </a:p>
        </p:txBody>
      </p:sp>
      <p:sp>
        <p:nvSpPr>
          <p:cNvPr id="11" name="Text 9"/>
          <p:cNvSpPr/>
          <p:nvPr/>
        </p:nvSpPr>
        <p:spPr>
          <a:xfrm>
            <a:off x="502920" y="288950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a:t>
            </a:r>
            <a:endParaRPr lang="en-US" sz="1250" dirty="0"/>
          </a:p>
        </p:txBody>
      </p:sp>
      <p:sp>
        <p:nvSpPr>
          <p:cNvPr id="12" name="Text 10"/>
          <p:cNvSpPr/>
          <p:nvPr/>
        </p:nvSpPr>
        <p:spPr>
          <a:xfrm>
            <a:off x="1033272" y="2798064"/>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B  </a:t>
            </a:r>
            <a:r>
              <a:rPr lang="en-US" sz="1200" dirty="0">
                <a:solidFill>
                  <a:srgbClr val="55606E"/>
                </a:solidFill>
                <a:latin typeface="Arial" pitchFamily="34" charset="0"/>
                <a:ea typeface="Arial" pitchFamily="34" charset="-122"/>
                <a:cs typeface="Arial" pitchFamily="34" charset="-120"/>
              </a:rPr>
              <a:t>—  $77,000 to $104,000</a:t>
            </a:r>
            <a:endParaRPr lang="en-US" sz="1200" dirty="0"/>
          </a:p>
        </p:txBody>
      </p:sp>
      <p:sp>
        <p:nvSpPr>
          <p:cNvPr id="13" name="Text 11"/>
          <p:cNvSpPr/>
          <p:nvPr/>
        </p:nvSpPr>
        <p:spPr>
          <a:xfrm>
            <a:off x="1033272" y="3090672"/>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269,294 contracts</a:t>
            </a:r>
            <a:endParaRPr lang="en-US" sz="950" dirty="0"/>
          </a:p>
        </p:txBody>
      </p:sp>
      <p:sp>
        <p:nvSpPr>
          <p:cNvPr id="14" name="Shape 12"/>
          <p:cNvSpPr/>
          <p:nvPr/>
        </p:nvSpPr>
        <p:spPr>
          <a:xfrm>
            <a:off x="502920" y="3584448"/>
            <a:ext cx="384048" cy="384048"/>
          </a:xfrm>
          <a:prstGeom prst="ellipse">
            <a:avLst/>
          </a:prstGeom>
          <a:solidFill>
            <a:srgbClr val="1B2A44"/>
          </a:solidFill>
          <a:ln/>
        </p:spPr>
        <p:txBody>
          <a:bodyPr/>
          <a:lstStyle/>
          <a:p>
            <a:endParaRPr lang="pt-BR"/>
          </a:p>
        </p:txBody>
      </p:sp>
      <p:sp>
        <p:nvSpPr>
          <p:cNvPr id="15" name="Text 13"/>
          <p:cNvSpPr/>
          <p:nvPr/>
        </p:nvSpPr>
        <p:spPr>
          <a:xfrm>
            <a:off x="502920" y="358444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a:t>
            </a:r>
            <a:endParaRPr lang="en-US" sz="1250" dirty="0"/>
          </a:p>
        </p:txBody>
      </p:sp>
      <p:sp>
        <p:nvSpPr>
          <p:cNvPr id="16" name="Text 14"/>
          <p:cNvSpPr/>
          <p:nvPr/>
        </p:nvSpPr>
        <p:spPr>
          <a:xfrm>
            <a:off x="1033272" y="3493008"/>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C  </a:t>
            </a:r>
            <a:r>
              <a:rPr lang="en-US" sz="1200" dirty="0">
                <a:solidFill>
                  <a:srgbClr val="55606E"/>
                </a:solidFill>
                <a:latin typeface="Arial" pitchFamily="34" charset="0"/>
                <a:ea typeface="Arial" pitchFamily="34" charset="-122"/>
                <a:cs typeface="Arial" pitchFamily="34" charset="-120"/>
              </a:rPr>
              <a:t>—  $59,800 to $77,000</a:t>
            </a:r>
            <a:endParaRPr lang="en-US" sz="1200" dirty="0"/>
          </a:p>
        </p:txBody>
      </p:sp>
      <p:sp>
        <p:nvSpPr>
          <p:cNvPr id="17" name="Text 15"/>
          <p:cNvSpPr/>
          <p:nvPr/>
        </p:nvSpPr>
        <p:spPr>
          <a:xfrm>
            <a:off x="1033272" y="3785616"/>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267,598 contracts</a:t>
            </a:r>
            <a:endParaRPr lang="en-US" sz="950" dirty="0"/>
          </a:p>
        </p:txBody>
      </p:sp>
      <p:sp>
        <p:nvSpPr>
          <p:cNvPr id="18" name="Shape 16"/>
          <p:cNvSpPr/>
          <p:nvPr/>
        </p:nvSpPr>
        <p:spPr>
          <a:xfrm>
            <a:off x="502920" y="4279392"/>
            <a:ext cx="384048" cy="384048"/>
          </a:xfrm>
          <a:prstGeom prst="ellipse">
            <a:avLst/>
          </a:prstGeom>
          <a:solidFill>
            <a:srgbClr val="1B2A44"/>
          </a:solidFill>
          <a:ln/>
        </p:spPr>
        <p:txBody>
          <a:bodyPr/>
          <a:lstStyle/>
          <a:p>
            <a:endParaRPr lang="pt-BR"/>
          </a:p>
        </p:txBody>
      </p:sp>
      <p:sp>
        <p:nvSpPr>
          <p:cNvPr id="19" name="Text 17"/>
          <p:cNvSpPr/>
          <p:nvPr/>
        </p:nvSpPr>
        <p:spPr>
          <a:xfrm>
            <a:off x="502920" y="427939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
            </a:r>
            <a:endParaRPr lang="en-US" sz="1250" dirty="0"/>
          </a:p>
        </p:txBody>
      </p:sp>
      <p:sp>
        <p:nvSpPr>
          <p:cNvPr id="20" name="Text 18"/>
          <p:cNvSpPr/>
          <p:nvPr/>
        </p:nvSpPr>
        <p:spPr>
          <a:xfrm>
            <a:off x="1033272" y="4187952"/>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D  </a:t>
            </a:r>
            <a:r>
              <a:rPr lang="en-US" sz="1200" dirty="0">
                <a:solidFill>
                  <a:srgbClr val="55606E"/>
                </a:solidFill>
                <a:latin typeface="Arial" pitchFamily="34" charset="0"/>
                <a:ea typeface="Arial" pitchFamily="34" charset="-122"/>
                <a:cs typeface="Arial" pitchFamily="34" charset="-120"/>
              </a:rPr>
              <a:t>—  $44,100 to $59,800</a:t>
            </a:r>
            <a:endParaRPr lang="en-US" sz="1200" dirty="0"/>
          </a:p>
        </p:txBody>
      </p:sp>
      <p:sp>
        <p:nvSpPr>
          <p:cNvPr id="21" name="Text 19"/>
          <p:cNvSpPr/>
          <p:nvPr/>
        </p:nvSpPr>
        <p:spPr>
          <a:xfrm>
            <a:off x="1033272" y="4480560"/>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268,295 contracts</a:t>
            </a:r>
            <a:endParaRPr lang="en-US" sz="950" dirty="0"/>
          </a:p>
        </p:txBody>
      </p:sp>
      <p:sp>
        <p:nvSpPr>
          <p:cNvPr id="22" name="Shape 20"/>
          <p:cNvSpPr/>
          <p:nvPr/>
        </p:nvSpPr>
        <p:spPr>
          <a:xfrm>
            <a:off x="502920" y="4974336"/>
            <a:ext cx="384048" cy="384048"/>
          </a:xfrm>
          <a:prstGeom prst="ellipse">
            <a:avLst/>
          </a:prstGeom>
          <a:solidFill>
            <a:srgbClr val="1B2A44"/>
          </a:solidFill>
          <a:ln/>
        </p:spPr>
        <p:txBody>
          <a:bodyPr/>
          <a:lstStyle/>
          <a:p>
            <a:endParaRPr lang="pt-BR"/>
          </a:p>
        </p:txBody>
      </p:sp>
      <p:sp>
        <p:nvSpPr>
          <p:cNvPr id="23" name="Text 21"/>
          <p:cNvSpPr/>
          <p:nvPr/>
        </p:nvSpPr>
        <p:spPr>
          <a:xfrm>
            <a:off x="502920" y="4974336"/>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E</a:t>
            </a:r>
            <a:endParaRPr lang="en-US" sz="1250" dirty="0"/>
          </a:p>
        </p:txBody>
      </p:sp>
      <p:sp>
        <p:nvSpPr>
          <p:cNvPr id="24" name="Text 22"/>
          <p:cNvSpPr/>
          <p:nvPr/>
        </p:nvSpPr>
        <p:spPr>
          <a:xfrm>
            <a:off x="1033272" y="4882896"/>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E  </a:t>
            </a:r>
            <a:r>
              <a:rPr lang="en-US" sz="1200" dirty="0">
                <a:solidFill>
                  <a:srgbClr val="55606E"/>
                </a:solidFill>
                <a:latin typeface="Arial" pitchFamily="34" charset="0"/>
                <a:ea typeface="Arial" pitchFamily="34" charset="-122"/>
                <a:cs typeface="Arial" pitchFamily="34" charset="-120"/>
              </a:rPr>
              <a:t>—  Up to $44,100</a:t>
            </a:r>
            <a:endParaRPr lang="en-US" sz="1200" dirty="0"/>
          </a:p>
        </p:txBody>
      </p:sp>
      <p:sp>
        <p:nvSpPr>
          <p:cNvPr id="25" name="Text 23"/>
          <p:cNvSpPr/>
          <p:nvPr/>
        </p:nvSpPr>
        <p:spPr>
          <a:xfrm>
            <a:off x="1033272" y="5175504"/>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271,315 contracts</a:t>
            </a:r>
            <a:endParaRPr lang="en-US" sz="950" dirty="0"/>
          </a:p>
        </p:txBody>
      </p:sp>
      <p:sp>
        <p:nvSpPr>
          <p:cNvPr id="26" name="Text 24"/>
          <p:cNvSpPr/>
          <p:nvPr/>
        </p:nvSpPr>
        <p:spPr>
          <a:xfrm>
            <a:off x="603504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Budget Commitment (Installment-to-Income)</a:t>
            </a:r>
            <a:endParaRPr lang="en-US" sz="1400" dirty="0"/>
          </a:p>
        </p:txBody>
      </p:sp>
      <p:sp>
        <p:nvSpPr>
          <p:cNvPr id="27" name="Shape 25"/>
          <p:cNvSpPr/>
          <p:nvPr/>
        </p:nvSpPr>
        <p:spPr>
          <a:xfrm>
            <a:off x="6035040" y="2084832"/>
            <a:ext cx="5212080" cy="1051560"/>
          </a:xfrm>
          <a:prstGeom prst="roundRect">
            <a:avLst>
              <a:gd name="adj" fmla="val 6087"/>
            </a:avLst>
          </a:prstGeom>
          <a:solidFill>
            <a:srgbClr val="E7F3EE"/>
          </a:solidFill>
          <a:ln/>
        </p:spPr>
        <p:txBody>
          <a:bodyPr/>
          <a:lstStyle/>
          <a:p>
            <a:endParaRPr lang="pt-BR"/>
          </a:p>
        </p:txBody>
      </p:sp>
      <p:sp>
        <p:nvSpPr>
          <p:cNvPr id="28" name="Shape 26"/>
          <p:cNvSpPr/>
          <p:nvPr/>
        </p:nvSpPr>
        <p:spPr>
          <a:xfrm>
            <a:off x="6236208" y="2528316"/>
            <a:ext cx="164592" cy="164592"/>
          </a:xfrm>
          <a:prstGeom prst="ellipse">
            <a:avLst/>
          </a:prstGeom>
          <a:solidFill>
            <a:srgbClr val="1E8A5D"/>
          </a:solidFill>
          <a:ln/>
        </p:spPr>
        <p:txBody>
          <a:bodyPr/>
          <a:lstStyle/>
          <a:p>
            <a:endParaRPr lang="pt-BR"/>
          </a:p>
        </p:txBody>
      </p:sp>
      <p:sp>
        <p:nvSpPr>
          <p:cNvPr id="29" name="Text 27"/>
          <p:cNvSpPr/>
          <p:nvPr/>
        </p:nvSpPr>
        <p:spPr>
          <a:xfrm>
            <a:off x="6537960" y="2167128"/>
            <a:ext cx="4480560" cy="420624"/>
          </a:xfrm>
          <a:prstGeom prst="rect">
            <a:avLst/>
          </a:prstGeom>
          <a:noFill/>
          <a:ln/>
        </p:spPr>
        <p:txBody>
          <a:bodyPr wrap="square" lIns="0" tIns="0" rIns="0" bIns="0" rtlCol="0" anchor="t"/>
          <a:lstStyle/>
          <a:p>
            <a:pPr marL="0" indent="0">
              <a:buNone/>
            </a:pPr>
            <a:r>
              <a:rPr lang="en-US" sz="1250" b="1" dirty="0">
                <a:solidFill>
                  <a:srgbClr val="1E8A5D"/>
                </a:solidFill>
                <a:latin typeface="Arial" pitchFamily="34" charset="0"/>
                <a:ea typeface="Arial" pitchFamily="34" charset="-122"/>
                <a:cs typeface="Arial" pitchFamily="34" charset="-120"/>
              </a:rPr>
              <a:t>Light</a:t>
            </a:r>
            <a:endParaRPr lang="en-US" sz="1250" dirty="0"/>
          </a:p>
        </p:txBody>
      </p:sp>
      <p:sp>
        <p:nvSpPr>
          <p:cNvPr id="30" name="Text 28"/>
          <p:cNvSpPr/>
          <p:nvPr/>
        </p:nvSpPr>
        <p:spPr>
          <a:xfrm>
            <a:off x="6537960" y="254751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~965K contracts (estimated) · $12.58B funded (Real Values) — Below 10% of gross monthly income committed to the installment.</a:t>
            </a:r>
            <a:endParaRPr lang="en-US" sz="1000" dirty="0"/>
          </a:p>
        </p:txBody>
      </p:sp>
      <p:sp>
        <p:nvSpPr>
          <p:cNvPr id="31" name="Shape 29"/>
          <p:cNvSpPr/>
          <p:nvPr/>
        </p:nvSpPr>
        <p:spPr>
          <a:xfrm>
            <a:off x="6035040" y="3273552"/>
            <a:ext cx="5212080" cy="1051560"/>
          </a:xfrm>
          <a:prstGeom prst="roundRect">
            <a:avLst>
              <a:gd name="adj" fmla="val 6087"/>
            </a:avLst>
          </a:prstGeom>
          <a:solidFill>
            <a:srgbClr val="FBF0E0"/>
          </a:solidFill>
          <a:ln/>
        </p:spPr>
        <p:txBody>
          <a:bodyPr/>
          <a:lstStyle/>
          <a:p>
            <a:endParaRPr lang="pt-BR"/>
          </a:p>
        </p:txBody>
      </p:sp>
      <p:sp>
        <p:nvSpPr>
          <p:cNvPr id="32" name="Shape 30"/>
          <p:cNvSpPr/>
          <p:nvPr/>
        </p:nvSpPr>
        <p:spPr>
          <a:xfrm>
            <a:off x="6236208" y="3717036"/>
            <a:ext cx="164592" cy="164592"/>
          </a:xfrm>
          <a:prstGeom prst="ellipse">
            <a:avLst/>
          </a:prstGeom>
          <a:solidFill>
            <a:srgbClr val="C8790F"/>
          </a:solidFill>
          <a:ln/>
        </p:spPr>
        <p:txBody>
          <a:bodyPr/>
          <a:lstStyle/>
          <a:p>
            <a:endParaRPr lang="pt-BR"/>
          </a:p>
        </p:txBody>
      </p:sp>
      <p:sp>
        <p:nvSpPr>
          <p:cNvPr id="33" name="Text 31"/>
          <p:cNvSpPr/>
          <p:nvPr/>
        </p:nvSpPr>
        <p:spPr>
          <a:xfrm>
            <a:off x="6537960" y="3355848"/>
            <a:ext cx="4480560" cy="420624"/>
          </a:xfrm>
          <a:prstGeom prst="rect">
            <a:avLst/>
          </a:prstGeom>
          <a:noFill/>
          <a:ln/>
        </p:spPr>
        <p:txBody>
          <a:bodyPr wrap="square" lIns="0" tIns="0" rIns="0" bIns="0" rtlCol="0" anchor="t"/>
          <a:lstStyle/>
          <a:p>
            <a:pPr marL="0" indent="0">
              <a:buNone/>
            </a:pPr>
            <a:r>
              <a:rPr lang="en-US" sz="1250" b="1" dirty="0">
                <a:solidFill>
                  <a:srgbClr val="C8790F"/>
                </a:solidFill>
                <a:latin typeface="Arial" pitchFamily="34" charset="0"/>
                <a:ea typeface="Arial" pitchFamily="34" charset="-122"/>
                <a:cs typeface="Arial" pitchFamily="34" charset="-120"/>
              </a:rPr>
              <a:t>Moderate  —  "The Middle"</a:t>
            </a:r>
            <a:endParaRPr lang="en-US" sz="1250" dirty="0"/>
          </a:p>
        </p:txBody>
      </p:sp>
      <p:sp>
        <p:nvSpPr>
          <p:cNvPr id="34" name="Text 32"/>
          <p:cNvSpPr/>
          <p:nvPr/>
        </p:nvSpPr>
        <p:spPr>
          <a:xfrm>
            <a:off x="6537960" y="373623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367,023 contracts · $7.40B funded — 10% to 20% of income committed, the highest-volume band and, as we'll see, the one with the greatest hidden risk.</a:t>
            </a:r>
            <a:endParaRPr lang="en-US" sz="1000" dirty="0"/>
          </a:p>
        </p:txBody>
      </p:sp>
      <p:sp>
        <p:nvSpPr>
          <p:cNvPr id="35" name="Shape 33"/>
          <p:cNvSpPr/>
          <p:nvPr/>
        </p:nvSpPr>
        <p:spPr>
          <a:xfrm>
            <a:off x="6035040" y="4462272"/>
            <a:ext cx="5212080" cy="1051560"/>
          </a:xfrm>
          <a:prstGeom prst="roundRect">
            <a:avLst>
              <a:gd name="adj" fmla="val 6087"/>
            </a:avLst>
          </a:prstGeom>
          <a:solidFill>
            <a:srgbClr val="FBEAE8"/>
          </a:solidFill>
          <a:ln/>
        </p:spPr>
        <p:txBody>
          <a:bodyPr/>
          <a:lstStyle/>
          <a:p>
            <a:endParaRPr lang="pt-BR"/>
          </a:p>
        </p:txBody>
      </p:sp>
      <p:sp>
        <p:nvSpPr>
          <p:cNvPr id="36" name="Shape 34"/>
          <p:cNvSpPr/>
          <p:nvPr/>
        </p:nvSpPr>
        <p:spPr>
          <a:xfrm>
            <a:off x="6236208" y="4905756"/>
            <a:ext cx="164592" cy="164592"/>
          </a:xfrm>
          <a:prstGeom prst="ellipse">
            <a:avLst/>
          </a:prstGeom>
          <a:solidFill>
            <a:srgbClr val="C0392B"/>
          </a:solidFill>
          <a:ln/>
        </p:spPr>
        <p:txBody>
          <a:bodyPr/>
          <a:lstStyle/>
          <a:p>
            <a:endParaRPr lang="pt-BR"/>
          </a:p>
        </p:txBody>
      </p:sp>
      <p:sp>
        <p:nvSpPr>
          <p:cNvPr id="37" name="Text 35"/>
          <p:cNvSpPr/>
          <p:nvPr/>
        </p:nvSpPr>
        <p:spPr>
          <a:xfrm>
            <a:off x="6537960" y="4544568"/>
            <a:ext cx="4480560" cy="420624"/>
          </a:xfrm>
          <a:prstGeom prst="rect">
            <a:avLst/>
          </a:prstGeom>
          <a:noFill/>
          <a:ln/>
        </p:spPr>
        <p:txBody>
          <a:bodyPr wrap="square" lIns="0" tIns="0" rIns="0" bIns="0" rtlCol="0" anchor="t"/>
          <a:lstStyle/>
          <a:p>
            <a:pPr marL="0" indent="0">
              <a:buNone/>
            </a:pPr>
            <a:r>
              <a:rPr lang="en-US" sz="1250" b="1" dirty="0">
                <a:solidFill>
                  <a:srgbClr val="C0392B"/>
                </a:solidFill>
                <a:latin typeface="Arial" pitchFamily="34" charset="0"/>
                <a:ea typeface="Arial" pitchFamily="34" charset="-122"/>
                <a:cs typeface="Arial" pitchFamily="34" charset="-120"/>
              </a:rPr>
              <a:t>Severe  ("Squeezed")</a:t>
            </a:r>
            <a:endParaRPr lang="en-US" sz="1250" dirty="0"/>
          </a:p>
        </p:txBody>
      </p:sp>
      <p:sp>
        <p:nvSpPr>
          <p:cNvPr id="38" name="Text 36"/>
          <p:cNvSpPr/>
          <p:nvPr/>
        </p:nvSpPr>
        <p:spPr>
          <a:xfrm>
            <a:off x="6537960" y="492495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13,163 contracts · $319M funded — Above 20% of income committed, the portfolio's intuitively riskiest profile.</a:t>
            </a:r>
            <a:endParaRPr lang="en-US" sz="1000" dirty="0"/>
          </a:p>
        </p:txBody>
      </p:sp>
      <p:sp>
        <p:nvSpPr>
          <p:cNvPr id="39" name="Text 37"/>
          <p:cNvSpPr/>
          <p:nvPr/>
        </p:nvSpPr>
        <p:spPr>
          <a:xfrm>
            <a:off x="502920" y="5916168"/>
            <a:ext cx="11183112" cy="566928"/>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Methodological Note (Feature Engineering &amp; SQL): Income classes were calibrated via quantiles over annual income adjusted for CPI (2018 Dollars); the distribution results in ~268K contracts per class. | * Calibration vs. Market DTI: While the traditional DTI measures stress above 30%–35% of total budget, this metric measures the individual product installment's commitment — in unsecured credit, above 20% the financial stress becomes critical, justifying the "Squeezed" classification through the empirical ROA collapse observed in the data.</a:t>
            </a:r>
            <a:endParaRPr lang="en-US" sz="750" dirty="0"/>
          </a:p>
        </p:txBody>
      </p:sp>
      <p:sp>
        <p:nvSpPr>
          <p:cNvPr id="40" name="Text 38"/>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41" name="Text 39"/>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04 / 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1</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The Silent Danger of the Portfolio's "Middle"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The $5.02B Volume in the Middle vs. The Myth of the "Squeezed" Customer</a:t>
            </a:r>
            <a:endParaRPr lang="en-US" sz="1250" dirty="0"/>
          </a:p>
        </p:txBody>
      </p:sp>
      <p:graphicFrame>
        <p:nvGraphicFramePr>
          <p:cNvPr id="5" name="Chart 0"/>
          <p:cNvGraphicFramePr/>
          <p:nvPr/>
        </p:nvGraphicFramePr>
        <p:xfrm>
          <a:off x="502920" y="1783080"/>
          <a:ext cx="653796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691640"/>
            <a:ext cx="3794760" cy="1005840"/>
          </a:xfrm>
          <a:prstGeom prst="roundRect">
            <a:avLst>
              <a:gd name="adj" fmla="val 7273"/>
            </a:avLst>
          </a:prstGeom>
          <a:solidFill>
            <a:srgbClr val="F4F6F8"/>
          </a:solidFill>
          <a:ln/>
        </p:spPr>
        <p:txBody>
          <a:bodyPr/>
          <a:lstStyle/>
          <a:p>
            <a:endParaRPr lang="pt-BR"/>
          </a:p>
        </p:txBody>
      </p:sp>
      <p:sp>
        <p:nvSpPr>
          <p:cNvPr id="7" name="Text 4"/>
          <p:cNvSpPr/>
          <p:nvPr/>
        </p:nvSpPr>
        <p:spPr>
          <a:xfrm>
            <a:off x="7589520" y="1801368"/>
            <a:ext cx="3337560" cy="219456"/>
          </a:xfrm>
          <a:prstGeom prst="rect">
            <a:avLst/>
          </a:prstGeom>
          <a:noFill/>
          <a:ln/>
        </p:spPr>
        <p:txBody>
          <a:bodyPr wrap="square" lIns="0" tIns="0" rIns="0" bIns="0" rtlCol="0" anchor="ctr"/>
          <a:lstStyle/>
          <a:p>
            <a:pPr marL="0" indent="0">
              <a:buNone/>
            </a:pPr>
            <a:r>
              <a:rPr lang="en-US" sz="1000" b="1" kern="0" spc="100" dirty="0">
                <a:solidFill>
                  <a:srgbClr val="98A1AD"/>
                </a:solidFill>
                <a:latin typeface="Arial" pitchFamily="34" charset="0"/>
                <a:ea typeface="Arial" pitchFamily="34" charset="-122"/>
                <a:cs typeface="Arial" pitchFamily="34" charset="-120"/>
              </a:rPr>
              <a:t>THE MYTH OF THE "SQUEEZED"</a:t>
            </a:r>
            <a:endParaRPr lang="en-US" sz="1000" dirty="0"/>
          </a:p>
        </p:txBody>
      </p:sp>
      <p:sp>
        <p:nvSpPr>
          <p:cNvPr id="8" name="Text 5"/>
          <p:cNvSpPr/>
          <p:nvPr/>
        </p:nvSpPr>
        <p:spPr>
          <a:xfrm>
            <a:off x="7589520" y="2039112"/>
            <a:ext cx="3337560" cy="274320"/>
          </a:xfrm>
          <a:prstGeom prst="rect">
            <a:avLst/>
          </a:prstGeom>
          <a:noFill/>
          <a:ln/>
        </p:spPr>
        <p:txBody>
          <a:bodyPr wrap="square" lIns="0" tIns="0" rIns="0" bIns="0" rtlCol="0" anchor="t"/>
          <a:lstStyle/>
          <a:p>
            <a:pPr marL="0" indent="0">
              <a:buNone/>
            </a:pPr>
            <a:r>
              <a:rPr lang="en-US" sz="1300" b="1" dirty="0">
                <a:solidFill>
                  <a:srgbClr val="55606E"/>
                </a:solidFill>
                <a:latin typeface="Arial" pitchFamily="34" charset="0"/>
                <a:ea typeface="Arial" pitchFamily="34" charset="-122"/>
                <a:cs typeface="Arial" pitchFamily="34" charset="-120"/>
              </a:rPr>
              <a:t>13,163 contracts  •  0.98% of the base</a:t>
            </a:r>
            <a:endParaRPr lang="en-US" sz="1300" dirty="0"/>
          </a:p>
        </p:txBody>
      </p:sp>
      <p:sp>
        <p:nvSpPr>
          <p:cNvPr id="9" name="Text 6"/>
          <p:cNvSpPr/>
          <p:nvPr/>
        </p:nvSpPr>
        <p:spPr>
          <a:xfrm>
            <a:off x="7589520" y="2331720"/>
            <a:ext cx="3337560" cy="310896"/>
          </a:xfrm>
          <a:prstGeom prst="rect">
            <a:avLst/>
          </a:prstGeom>
          <a:noFill/>
          <a:ln/>
        </p:spPr>
        <p:txBody>
          <a:bodyPr wrap="square" lIns="0" tIns="0" rIns="0" bIns="0" rtlCol="0" anchor="t"/>
          <a:lstStyle/>
          <a:p>
            <a:pPr marL="0" indent="0">
              <a:buNone/>
            </a:pPr>
            <a:r>
              <a:rPr lang="en-US" sz="1100" dirty="0">
                <a:solidFill>
                  <a:srgbClr val="55606E"/>
                </a:solidFill>
                <a:latin typeface="Arial" pitchFamily="34" charset="0"/>
                <a:ea typeface="Arial" pitchFamily="34" charset="-122"/>
                <a:cs typeface="Arial" pitchFamily="34" charset="-120"/>
              </a:rPr>
              <a:t>$319M funded  •  $27.6M in opportunity cost</a:t>
            </a:r>
            <a:endParaRPr lang="en-US" sz="1100" dirty="0"/>
          </a:p>
        </p:txBody>
      </p:sp>
      <p:sp>
        <p:nvSpPr>
          <p:cNvPr id="10" name="Shape 7"/>
          <p:cNvSpPr/>
          <p:nvPr/>
        </p:nvSpPr>
        <p:spPr>
          <a:xfrm>
            <a:off x="7360920" y="2880360"/>
            <a:ext cx="3794760" cy="1005840"/>
          </a:xfrm>
          <a:prstGeom prst="roundRect">
            <a:avLst>
              <a:gd name="adj" fmla="val 7273"/>
            </a:avLst>
          </a:prstGeom>
          <a:solidFill>
            <a:srgbClr val="FBEAE8"/>
          </a:solidFill>
          <a:ln/>
        </p:spPr>
        <p:txBody>
          <a:bodyPr/>
          <a:lstStyle/>
          <a:p>
            <a:endParaRPr lang="pt-BR"/>
          </a:p>
        </p:txBody>
      </p:sp>
      <p:sp>
        <p:nvSpPr>
          <p:cNvPr id="11" name="Text 8"/>
          <p:cNvSpPr/>
          <p:nvPr/>
        </p:nvSpPr>
        <p:spPr>
          <a:xfrm>
            <a:off x="7589520" y="2990088"/>
            <a:ext cx="3337560" cy="219456"/>
          </a:xfrm>
          <a:prstGeom prst="rect">
            <a:avLst/>
          </a:prstGeom>
          <a:noFill/>
          <a:ln/>
        </p:spPr>
        <p:txBody>
          <a:bodyPr wrap="square" lIns="0" tIns="0" rIns="0" bIns="0" rtlCol="0" anchor="ctr"/>
          <a:lstStyle/>
          <a:p>
            <a:pPr marL="0" indent="0">
              <a:buNone/>
            </a:pPr>
            <a:r>
              <a:rPr lang="en-US" sz="1000" b="1" kern="0" spc="100" dirty="0">
                <a:solidFill>
                  <a:srgbClr val="C0392B"/>
                </a:solidFill>
                <a:latin typeface="Arial" pitchFamily="34" charset="0"/>
                <a:ea typeface="Arial" pitchFamily="34" charset="-122"/>
                <a:cs typeface="Arial" pitchFamily="34" charset="-120"/>
              </a:rPr>
              <a:t>THE DRAIN OF "THE MIDDLE"</a:t>
            </a:r>
            <a:endParaRPr lang="en-US" sz="1000" dirty="0"/>
          </a:p>
        </p:txBody>
      </p:sp>
      <p:sp>
        <p:nvSpPr>
          <p:cNvPr id="12" name="Text 9"/>
          <p:cNvSpPr/>
          <p:nvPr/>
        </p:nvSpPr>
        <p:spPr>
          <a:xfrm>
            <a:off x="7589520" y="3227832"/>
            <a:ext cx="3337560" cy="274320"/>
          </a:xfrm>
          <a:prstGeom prst="rect">
            <a:avLst/>
          </a:prstGeom>
          <a:noFill/>
          <a:ln/>
        </p:spPr>
        <p:txBody>
          <a:bodyPr wrap="square" lIns="0" tIns="0" rIns="0" bIns="0" rtlCol="0" anchor="t"/>
          <a:lstStyle/>
          <a:p>
            <a:pPr marL="0" indent="0">
              <a:buNone/>
            </a:pPr>
            <a:r>
              <a:rPr lang="en-US" sz="1300" b="1" dirty="0">
                <a:solidFill>
                  <a:srgbClr val="C0392B"/>
                </a:solidFill>
                <a:latin typeface="Arial" pitchFamily="34" charset="0"/>
                <a:ea typeface="Arial" pitchFamily="34" charset="-122"/>
                <a:cs typeface="Arial" pitchFamily="34" charset="-120"/>
              </a:rPr>
              <a:t>367,023 contracts  •  27.29% of sales</a:t>
            </a:r>
            <a:endParaRPr lang="en-US" sz="1300" dirty="0"/>
          </a:p>
        </p:txBody>
      </p:sp>
      <p:sp>
        <p:nvSpPr>
          <p:cNvPr id="13" name="Text 10"/>
          <p:cNvSpPr/>
          <p:nvPr/>
        </p:nvSpPr>
        <p:spPr>
          <a:xfrm>
            <a:off x="7589520" y="3520440"/>
            <a:ext cx="3337560" cy="310896"/>
          </a:xfrm>
          <a:prstGeom prst="rect">
            <a:avLst/>
          </a:prstGeom>
          <a:noFill/>
          <a:ln/>
        </p:spPr>
        <p:txBody>
          <a:bodyPr wrap="square" lIns="0" tIns="0" rIns="0" bIns="0" rtlCol="0" anchor="t"/>
          <a:lstStyle/>
          <a:p>
            <a:pPr marL="0" indent="0">
              <a:buNone/>
            </a:pPr>
            <a:r>
              <a:rPr lang="en-US" sz="1100" b="1" dirty="0">
                <a:solidFill>
                  <a:srgbClr val="C0392B"/>
                </a:solidFill>
                <a:latin typeface="Arial" pitchFamily="34" charset="0"/>
                <a:ea typeface="Arial" pitchFamily="34" charset="-122"/>
                <a:cs typeface="Arial" pitchFamily="34" charset="-120"/>
              </a:rPr>
              <a:t>$7.40B funded  •  $239.2M in cost (80% of total)</a:t>
            </a:r>
            <a:endParaRPr lang="en-US" sz="1100" dirty="0"/>
          </a:p>
        </p:txBody>
      </p:sp>
      <p:sp>
        <p:nvSpPr>
          <p:cNvPr id="14" name="Shape 11"/>
          <p:cNvSpPr/>
          <p:nvPr/>
        </p:nvSpPr>
        <p:spPr>
          <a:xfrm>
            <a:off x="502920" y="4251960"/>
            <a:ext cx="11183112" cy="1143000"/>
          </a:xfrm>
          <a:prstGeom prst="roundRect">
            <a:avLst>
              <a:gd name="adj" fmla="val 7200"/>
            </a:avLst>
          </a:prstGeom>
          <a:solidFill>
            <a:srgbClr val="E8ECF3"/>
          </a:solidFill>
          <a:ln/>
        </p:spPr>
        <p:txBody>
          <a:bodyPr/>
          <a:lstStyle/>
          <a:p>
            <a:endParaRPr lang="pt-BR"/>
          </a:p>
        </p:txBody>
      </p:sp>
      <p:sp>
        <p:nvSpPr>
          <p:cNvPr id="15" name="Text 12"/>
          <p:cNvSpPr/>
          <p:nvPr/>
        </p:nvSpPr>
        <p:spPr>
          <a:xfrm>
            <a:off x="795528" y="4251960"/>
            <a:ext cx="10597896" cy="1143000"/>
          </a:xfrm>
          <a:prstGeom prst="rect">
            <a:avLst/>
          </a:prstGeom>
          <a:noFill/>
          <a:ln/>
        </p:spPr>
        <p:txBody>
          <a:bodyPr wrap="square" lIns="0" tIns="0" rIns="0" bIns="0" rtlCol="0" anchor="ctr"/>
          <a:lstStyle/>
          <a:p>
            <a:pPr marL="0" indent="0">
              <a:lnSpc>
                <a:spcPct val="125000"/>
              </a:lnSpc>
              <a:buNone/>
            </a:pPr>
            <a:r>
              <a:rPr lang="en-US" sz="1250" b="1" dirty="0">
                <a:solidFill>
                  <a:srgbClr val="1B2A44"/>
                </a:solidFill>
                <a:latin typeface="Arial" pitchFamily="34" charset="0"/>
                <a:ea typeface="Arial" pitchFamily="34" charset="-122"/>
                <a:cs typeface="Arial" pitchFamily="34" charset="-120"/>
              </a:rPr>
              <a:t>Scale is the real risk: </a:t>
            </a:r>
            <a:r>
              <a:rPr lang="en-US" sz="1250" dirty="0">
                <a:solidFill>
                  <a:srgbClr val="55606E"/>
                </a:solidFill>
                <a:latin typeface="Arial" pitchFamily="34" charset="0"/>
                <a:ea typeface="Arial" pitchFamily="34" charset="-122"/>
                <a:cs typeface="Arial" pitchFamily="34" charset="-120"/>
              </a:rPr>
              <a:t>the "Squeezed" segment holds just 0.98% of contracts, but the "Middle" represents 27.29% of the base — 28 times more volume. Each percentage point of ROA below the hurdle in this band multiplies across a 28x larger scale, turning an apparently moderate risk into the bank's biggest cash drain: $239.2M.</a:t>
            </a:r>
            <a:endParaRPr lang="en-US" sz="1250" dirty="0"/>
          </a:p>
        </p:txBody>
      </p:sp>
      <p:sp>
        <p:nvSpPr>
          <p:cNvPr id="16" name="Text 13"/>
          <p:cNvSpPr/>
          <p:nvPr/>
        </p:nvSpPr>
        <p:spPr>
          <a:xfrm>
            <a:off x="502920" y="6025896"/>
            <a:ext cx="11183112" cy="457200"/>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Methodological Note (Opportunity Cost &amp; Effective Duration): Opportunity Cost ($ USD) is the difference between the Hurdle Rate (4.00% p.a.) and the actual ROA of each cell, multiplied by the funded volume and adjusted for the contracts' Effective Duration (weighted average horizon of 3.76 years) — converting the annualized percentage gap into accumulated financial value over the loans' real lifecycle (2007–2018).</a:t>
            </a:r>
            <a:endParaRPr lang="en-US" sz="750" dirty="0"/>
          </a:p>
        </p:txBody>
      </p:sp>
      <p:sp>
        <p:nvSpPr>
          <p:cNvPr id="17" name="Text 1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18" name="Text 1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05 / 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1 — LOSS EPICENTERS</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Breakdown by Credit Grade in the Middle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Grades C, D, and E Concentrate $185.7M (78%) of the Middle's Opportunity Cost</a:t>
            </a:r>
            <a:endParaRPr lang="en-US" sz="1250" dirty="0"/>
          </a:p>
        </p:txBody>
      </p:sp>
      <p:sp>
        <p:nvSpPr>
          <p:cNvPr id="5" name="Shape 3"/>
          <p:cNvSpPr/>
          <p:nvPr/>
        </p:nvSpPr>
        <p:spPr>
          <a:xfrm>
            <a:off x="502920"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6" name="Shape 4"/>
          <p:cNvSpPr/>
          <p:nvPr/>
        </p:nvSpPr>
        <p:spPr>
          <a:xfrm>
            <a:off x="502920" y="1783080"/>
            <a:ext cx="3520440" cy="457200"/>
          </a:xfrm>
          <a:prstGeom prst="roundRect">
            <a:avLst>
              <a:gd name="adj" fmla="val 18000"/>
            </a:avLst>
          </a:prstGeom>
          <a:solidFill>
            <a:srgbClr val="C8790F"/>
          </a:solidFill>
          <a:ln/>
        </p:spPr>
        <p:txBody>
          <a:bodyPr/>
          <a:lstStyle/>
          <a:p>
            <a:endParaRPr lang="pt-BR"/>
          </a:p>
        </p:txBody>
      </p:sp>
      <p:sp>
        <p:nvSpPr>
          <p:cNvPr id="7" name="Shape 5"/>
          <p:cNvSpPr/>
          <p:nvPr/>
        </p:nvSpPr>
        <p:spPr>
          <a:xfrm>
            <a:off x="502920" y="2057400"/>
            <a:ext cx="3520440" cy="182880"/>
          </a:xfrm>
          <a:prstGeom prst="rect">
            <a:avLst/>
          </a:prstGeom>
          <a:solidFill>
            <a:srgbClr val="C8790F"/>
          </a:solidFill>
          <a:ln/>
        </p:spPr>
        <p:txBody>
          <a:bodyPr/>
          <a:lstStyle/>
          <a:p>
            <a:endParaRPr lang="pt-BR"/>
          </a:p>
        </p:txBody>
      </p:sp>
      <p:sp>
        <p:nvSpPr>
          <p:cNvPr id="8" name="Text 6"/>
          <p:cNvSpPr/>
          <p:nvPr/>
        </p:nvSpPr>
        <p:spPr>
          <a:xfrm>
            <a:off x="758952"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C</a:t>
            </a:r>
            <a:endParaRPr lang="en-US" sz="1400" dirty="0"/>
          </a:p>
        </p:txBody>
      </p:sp>
      <p:sp>
        <p:nvSpPr>
          <p:cNvPr id="9" name="Text 7"/>
          <p:cNvSpPr/>
          <p:nvPr/>
        </p:nvSpPr>
        <p:spPr>
          <a:xfrm>
            <a:off x="758952"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CONTRACTS</a:t>
            </a:r>
            <a:endParaRPr lang="en-US" sz="850" dirty="0"/>
          </a:p>
        </p:txBody>
      </p:sp>
      <p:sp>
        <p:nvSpPr>
          <p:cNvPr id="10" name="Text 8"/>
          <p:cNvSpPr/>
          <p:nvPr/>
        </p:nvSpPr>
        <p:spPr>
          <a:xfrm>
            <a:off x="758952"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105,652</a:t>
            </a:r>
            <a:endParaRPr lang="en-US" sz="1200" dirty="0"/>
          </a:p>
        </p:txBody>
      </p:sp>
      <p:sp>
        <p:nvSpPr>
          <p:cNvPr id="11" name="Text 9"/>
          <p:cNvSpPr/>
          <p:nvPr/>
        </p:nvSpPr>
        <p:spPr>
          <a:xfrm>
            <a:off x="758952"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FUNDED VOLUME</a:t>
            </a:r>
            <a:endParaRPr lang="en-US" sz="850" dirty="0"/>
          </a:p>
        </p:txBody>
      </p:sp>
      <p:sp>
        <p:nvSpPr>
          <p:cNvPr id="12" name="Text 10"/>
          <p:cNvSpPr/>
          <p:nvPr/>
        </p:nvSpPr>
        <p:spPr>
          <a:xfrm>
            <a:off x="758952"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$2.07B</a:t>
            </a:r>
            <a:endParaRPr lang="en-US" sz="1200" dirty="0"/>
          </a:p>
        </p:txBody>
      </p:sp>
      <p:sp>
        <p:nvSpPr>
          <p:cNvPr id="13" name="Text 11"/>
          <p:cNvSpPr/>
          <p:nvPr/>
        </p:nvSpPr>
        <p:spPr>
          <a:xfrm>
            <a:off x="758952"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ACTUAL ROA (p.a.)</a:t>
            </a:r>
            <a:endParaRPr lang="en-US" sz="850" dirty="0"/>
          </a:p>
        </p:txBody>
      </p:sp>
      <p:sp>
        <p:nvSpPr>
          <p:cNvPr id="14" name="Text 12"/>
          <p:cNvSpPr/>
          <p:nvPr/>
        </p:nvSpPr>
        <p:spPr>
          <a:xfrm>
            <a:off x="758952" y="3300984"/>
            <a:ext cx="3008376" cy="237744"/>
          </a:xfrm>
          <a:prstGeom prst="rect">
            <a:avLst/>
          </a:prstGeom>
          <a:noFill/>
          <a:ln/>
        </p:spPr>
        <p:txBody>
          <a:bodyPr wrap="square" lIns="0" tIns="0" rIns="0" bIns="0" rtlCol="0" anchor="ctr"/>
          <a:lstStyle/>
          <a:p>
            <a:pPr marL="0" indent="0">
              <a:buNone/>
            </a:pPr>
            <a:r>
              <a:rPr lang="en-US" sz="1300" b="1" dirty="0">
                <a:solidFill>
                  <a:srgbClr val="C8790F"/>
                </a:solidFill>
                <a:latin typeface="Arial" pitchFamily="34" charset="0"/>
                <a:ea typeface="Arial" pitchFamily="34" charset="-122"/>
                <a:cs typeface="Arial" pitchFamily="34" charset="-120"/>
              </a:rPr>
              <a:t>3.58%</a:t>
            </a:r>
            <a:endParaRPr lang="en-US" sz="1300" dirty="0"/>
          </a:p>
        </p:txBody>
      </p:sp>
      <p:sp>
        <p:nvSpPr>
          <p:cNvPr id="15" name="Text 13"/>
          <p:cNvSpPr/>
          <p:nvPr/>
        </p:nvSpPr>
        <p:spPr>
          <a:xfrm>
            <a:off x="758952"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OPPORTUNITY COST</a:t>
            </a:r>
            <a:endParaRPr lang="en-US" sz="850" dirty="0"/>
          </a:p>
        </p:txBody>
      </p:sp>
      <p:sp>
        <p:nvSpPr>
          <p:cNvPr id="16" name="Text 14"/>
          <p:cNvSpPr/>
          <p:nvPr/>
        </p:nvSpPr>
        <p:spPr>
          <a:xfrm>
            <a:off x="758952" y="3703320"/>
            <a:ext cx="3008376" cy="237744"/>
          </a:xfrm>
          <a:prstGeom prst="rect">
            <a:avLst/>
          </a:prstGeom>
          <a:noFill/>
          <a:ln/>
        </p:spPr>
        <p:txBody>
          <a:bodyPr wrap="square" lIns="0" tIns="0" rIns="0" bIns="0" rtlCol="0" anchor="ctr"/>
          <a:lstStyle/>
          <a:p>
            <a:pPr marL="0" indent="0">
              <a:buNone/>
            </a:pPr>
            <a:r>
              <a:rPr lang="en-US" sz="1500" b="1" dirty="0">
                <a:solidFill>
                  <a:srgbClr val="C8790F"/>
                </a:solidFill>
                <a:latin typeface="Arial" pitchFamily="34" charset="0"/>
                <a:ea typeface="Arial" pitchFamily="34" charset="-122"/>
                <a:cs typeface="Arial" pitchFamily="34" charset="-120"/>
              </a:rPr>
              <a:t>$42.1M</a:t>
            </a:r>
            <a:endParaRPr lang="en-US" sz="1500" dirty="0"/>
          </a:p>
        </p:txBody>
      </p:sp>
      <p:sp>
        <p:nvSpPr>
          <p:cNvPr id="17" name="Shape 15"/>
          <p:cNvSpPr/>
          <p:nvPr/>
        </p:nvSpPr>
        <p:spPr>
          <a:xfrm>
            <a:off x="4334256"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18" name="Shape 16"/>
          <p:cNvSpPr/>
          <p:nvPr/>
        </p:nvSpPr>
        <p:spPr>
          <a:xfrm>
            <a:off x="4334256" y="1783080"/>
            <a:ext cx="3520440" cy="457200"/>
          </a:xfrm>
          <a:prstGeom prst="roundRect">
            <a:avLst>
              <a:gd name="adj" fmla="val 18000"/>
            </a:avLst>
          </a:prstGeom>
          <a:solidFill>
            <a:srgbClr val="C0392B"/>
          </a:solidFill>
          <a:ln/>
        </p:spPr>
        <p:txBody>
          <a:bodyPr/>
          <a:lstStyle/>
          <a:p>
            <a:endParaRPr lang="pt-BR"/>
          </a:p>
        </p:txBody>
      </p:sp>
      <p:sp>
        <p:nvSpPr>
          <p:cNvPr id="19" name="Shape 17"/>
          <p:cNvSpPr/>
          <p:nvPr/>
        </p:nvSpPr>
        <p:spPr>
          <a:xfrm>
            <a:off x="4334256" y="2057400"/>
            <a:ext cx="3520440" cy="182880"/>
          </a:xfrm>
          <a:prstGeom prst="rect">
            <a:avLst/>
          </a:prstGeom>
          <a:solidFill>
            <a:srgbClr val="C0392B"/>
          </a:solidFill>
          <a:ln/>
        </p:spPr>
        <p:txBody>
          <a:bodyPr/>
          <a:lstStyle/>
          <a:p>
            <a:endParaRPr lang="pt-BR"/>
          </a:p>
        </p:txBody>
      </p:sp>
      <p:sp>
        <p:nvSpPr>
          <p:cNvPr id="20" name="Text 18"/>
          <p:cNvSpPr/>
          <p:nvPr/>
        </p:nvSpPr>
        <p:spPr>
          <a:xfrm>
            <a:off x="4590288"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D</a:t>
            </a:r>
            <a:endParaRPr lang="en-US" sz="1400" dirty="0"/>
          </a:p>
        </p:txBody>
      </p:sp>
      <p:sp>
        <p:nvSpPr>
          <p:cNvPr id="21" name="Text 19"/>
          <p:cNvSpPr/>
          <p:nvPr/>
        </p:nvSpPr>
        <p:spPr>
          <a:xfrm>
            <a:off x="4590288"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CONTRACTS</a:t>
            </a:r>
            <a:endParaRPr lang="en-US" sz="850" dirty="0"/>
          </a:p>
        </p:txBody>
      </p:sp>
      <p:sp>
        <p:nvSpPr>
          <p:cNvPr id="22" name="Text 20"/>
          <p:cNvSpPr/>
          <p:nvPr/>
        </p:nvSpPr>
        <p:spPr>
          <a:xfrm>
            <a:off x="4590288"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74,151</a:t>
            </a:r>
            <a:endParaRPr lang="en-US" sz="1200" dirty="0"/>
          </a:p>
        </p:txBody>
      </p:sp>
      <p:sp>
        <p:nvSpPr>
          <p:cNvPr id="23" name="Text 21"/>
          <p:cNvSpPr/>
          <p:nvPr/>
        </p:nvSpPr>
        <p:spPr>
          <a:xfrm>
            <a:off x="4590288"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FUNDED VOLUME</a:t>
            </a:r>
            <a:endParaRPr lang="en-US" sz="850" dirty="0"/>
          </a:p>
        </p:txBody>
      </p:sp>
      <p:sp>
        <p:nvSpPr>
          <p:cNvPr id="24" name="Text 22"/>
          <p:cNvSpPr/>
          <p:nvPr/>
        </p:nvSpPr>
        <p:spPr>
          <a:xfrm>
            <a:off x="4590288"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$1.50B</a:t>
            </a:r>
            <a:endParaRPr lang="en-US" sz="1200" dirty="0"/>
          </a:p>
        </p:txBody>
      </p:sp>
      <p:sp>
        <p:nvSpPr>
          <p:cNvPr id="25" name="Text 23"/>
          <p:cNvSpPr/>
          <p:nvPr/>
        </p:nvSpPr>
        <p:spPr>
          <a:xfrm>
            <a:off x="4590288"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ACTUAL ROA (p.a.)</a:t>
            </a:r>
            <a:endParaRPr lang="en-US" sz="850" dirty="0"/>
          </a:p>
        </p:txBody>
      </p:sp>
      <p:sp>
        <p:nvSpPr>
          <p:cNvPr id="26" name="Text 24"/>
          <p:cNvSpPr/>
          <p:nvPr/>
        </p:nvSpPr>
        <p:spPr>
          <a:xfrm>
            <a:off x="4590288"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2.76%</a:t>
            </a:r>
            <a:endParaRPr lang="en-US" sz="1300" dirty="0"/>
          </a:p>
        </p:txBody>
      </p:sp>
      <p:sp>
        <p:nvSpPr>
          <p:cNvPr id="27" name="Text 25"/>
          <p:cNvSpPr/>
          <p:nvPr/>
        </p:nvSpPr>
        <p:spPr>
          <a:xfrm>
            <a:off x="4590288"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OPPORTUNITY COST</a:t>
            </a:r>
            <a:endParaRPr lang="en-US" sz="850" dirty="0"/>
          </a:p>
        </p:txBody>
      </p:sp>
      <p:sp>
        <p:nvSpPr>
          <p:cNvPr id="28" name="Text 26"/>
          <p:cNvSpPr/>
          <p:nvPr/>
        </p:nvSpPr>
        <p:spPr>
          <a:xfrm>
            <a:off x="4590288"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$78.6M</a:t>
            </a:r>
            <a:endParaRPr lang="en-US" sz="1500" dirty="0"/>
          </a:p>
        </p:txBody>
      </p:sp>
      <p:sp>
        <p:nvSpPr>
          <p:cNvPr id="29" name="Shape 27"/>
          <p:cNvSpPr/>
          <p:nvPr/>
        </p:nvSpPr>
        <p:spPr>
          <a:xfrm>
            <a:off x="8165592"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30" name="Shape 28"/>
          <p:cNvSpPr/>
          <p:nvPr/>
        </p:nvSpPr>
        <p:spPr>
          <a:xfrm>
            <a:off x="8165592" y="1783080"/>
            <a:ext cx="3520440" cy="457200"/>
          </a:xfrm>
          <a:prstGeom prst="roundRect">
            <a:avLst>
              <a:gd name="adj" fmla="val 18000"/>
            </a:avLst>
          </a:prstGeom>
          <a:solidFill>
            <a:srgbClr val="C0392B"/>
          </a:solidFill>
          <a:ln/>
        </p:spPr>
        <p:txBody>
          <a:bodyPr/>
          <a:lstStyle/>
          <a:p>
            <a:endParaRPr lang="pt-BR"/>
          </a:p>
        </p:txBody>
      </p:sp>
      <p:sp>
        <p:nvSpPr>
          <p:cNvPr id="31" name="Shape 29"/>
          <p:cNvSpPr/>
          <p:nvPr/>
        </p:nvSpPr>
        <p:spPr>
          <a:xfrm>
            <a:off x="8165592" y="2057400"/>
            <a:ext cx="3520440" cy="182880"/>
          </a:xfrm>
          <a:prstGeom prst="rect">
            <a:avLst/>
          </a:prstGeom>
          <a:solidFill>
            <a:srgbClr val="C0392B"/>
          </a:solidFill>
          <a:ln/>
        </p:spPr>
        <p:txBody>
          <a:bodyPr/>
          <a:lstStyle/>
          <a:p>
            <a:endParaRPr lang="pt-BR"/>
          </a:p>
        </p:txBody>
      </p:sp>
      <p:sp>
        <p:nvSpPr>
          <p:cNvPr id="32" name="Text 30"/>
          <p:cNvSpPr/>
          <p:nvPr/>
        </p:nvSpPr>
        <p:spPr>
          <a:xfrm>
            <a:off x="8421624"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E</a:t>
            </a:r>
            <a:endParaRPr lang="en-US" sz="1400" dirty="0"/>
          </a:p>
        </p:txBody>
      </p:sp>
      <p:sp>
        <p:nvSpPr>
          <p:cNvPr id="33" name="Text 31"/>
          <p:cNvSpPr/>
          <p:nvPr/>
        </p:nvSpPr>
        <p:spPr>
          <a:xfrm>
            <a:off x="8421624"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CONTRACTS</a:t>
            </a:r>
            <a:endParaRPr lang="en-US" sz="850" dirty="0"/>
          </a:p>
        </p:txBody>
      </p:sp>
      <p:sp>
        <p:nvSpPr>
          <p:cNvPr id="34" name="Text 32"/>
          <p:cNvSpPr/>
          <p:nvPr/>
        </p:nvSpPr>
        <p:spPr>
          <a:xfrm>
            <a:off x="8421624"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42,252</a:t>
            </a:r>
            <a:endParaRPr lang="en-US" sz="1200" dirty="0"/>
          </a:p>
        </p:txBody>
      </p:sp>
      <p:sp>
        <p:nvSpPr>
          <p:cNvPr id="35" name="Text 33"/>
          <p:cNvSpPr/>
          <p:nvPr/>
        </p:nvSpPr>
        <p:spPr>
          <a:xfrm>
            <a:off x="8421624"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FUNDED VOLUME</a:t>
            </a:r>
            <a:endParaRPr lang="en-US" sz="850" dirty="0"/>
          </a:p>
        </p:txBody>
      </p:sp>
      <p:sp>
        <p:nvSpPr>
          <p:cNvPr id="36" name="Text 34"/>
          <p:cNvSpPr/>
          <p:nvPr/>
        </p:nvSpPr>
        <p:spPr>
          <a:xfrm>
            <a:off x="8421624"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$913M</a:t>
            </a:r>
            <a:endParaRPr lang="en-US" sz="1200" dirty="0"/>
          </a:p>
        </p:txBody>
      </p:sp>
      <p:sp>
        <p:nvSpPr>
          <p:cNvPr id="37" name="Text 35"/>
          <p:cNvSpPr/>
          <p:nvPr/>
        </p:nvSpPr>
        <p:spPr>
          <a:xfrm>
            <a:off x="8421624"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ACTUAL ROA (p.a.)</a:t>
            </a:r>
            <a:endParaRPr lang="en-US" sz="850" dirty="0"/>
          </a:p>
        </p:txBody>
      </p:sp>
      <p:sp>
        <p:nvSpPr>
          <p:cNvPr id="38" name="Text 36"/>
          <p:cNvSpPr/>
          <p:nvPr/>
        </p:nvSpPr>
        <p:spPr>
          <a:xfrm>
            <a:off x="8421624"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2.40%</a:t>
            </a:r>
            <a:endParaRPr lang="en-US" sz="1300" dirty="0"/>
          </a:p>
        </p:txBody>
      </p:sp>
      <p:sp>
        <p:nvSpPr>
          <p:cNvPr id="39" name="Text 37"/>
          <p:cNvSpPr/>
          <p:nvPr/>
        </p:nvSpPr>
        <p:spPr>
          <a:xfrm>
            <a:off x="8421624"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OPPORTUNITY COST</a:t>
            </a:r>
            <a:endParaRPr lang="en-US" sz="850" dirty="0"/>
          </a:p>
        </p:txBody>
      </p:sp>
      <p:sp>
        <p:nvSpPr>
          <p:cNvPr id="40" name="Text 38"/>
          <p:cNvSpPr/>
          <p:nvPr/>
        </p:nvSpPr>
        <p:spPr>
          <a:xfrm>
            <a:off x="8421624"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$65.0M</a:t>
            </a:r>
            <a:endParaRPr lang="en-US" sz="1500" dirty="0"/>
          </a:p>
        </p:txBody>
      </p:sp>
      <p:sp>
        <p:nvSpPr>
          <p:cNvPr id="41" name="Shape 39"/>
          <p:cNvSpPr/>
          <p:nvPr/>
        </p:nvSpPr>
        <p:spPr>
          <a:xfrm>
            <a:off x="502920" y="4270248"/>
            <a:ext cx="11183112" cy="777240"/>
          </a:xfrm>
          <a:prstGeom prst="roundRect">
            <a:avLst>
              <a:gd name="adj" fmla="val 9412"/>
            </a:avLst>
          </a:prstGeom>
          <a:solidFill>
            <a:srgbClr val="F4F6F8"/>
          </a:solidFill>
          <a:ln/>
        </p:spPr>
        <p:txBody>
          <a:bodyPr/>
          <a:lstStyle/>
          <a:p>
            <a:endParaRPr lang="pt-BR"/>
          </a:p>
        </p:txBody>
      </p:sp>
      <p:sp>
        <p:nvSpPr>
          <p:cNvPr id="42" name="Text 40"/>
          <p:cNvSpPr/>
          <p:nvPr/>
        </p:nvSpPr>
        <p:spPr>
          <a:xfrm>
            <a:off x="777240" y="4270248"/>
            <a:ext cx="10634472" cy="77724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Other Grades (A/B, F/G): </a:t>
            </a:r>
            <a:r>
              <a:rPr lang="en-US" sz="1100" dirty="0">
                <a:solidFill>
                  <a:srgbClr val="55606E"/>
                </a:solidFill>
                <a:latin typeface="Arial" pitchFamily="34" charset="0"/>
                <a:ea typeface="Arial" pitchFamily="34" charset="-122"/>
                <a:cs typeface="Arial" pitchFamily="34" charset="-120"/>
              </a:rPr>
              <a:t>144,968 contracts · $2.93B funded · $53.5M in cost  —  </a:t>
            </a:r>
            <a:r>
              <a:rPr lang="en-US" sz="1100" b="1" dirty="0">
                <a:solidFill>
                  <a:srgbClr val="1B2A44"/>
                </a:solidFill>
                <a:latin typeface="Arial" pitchFamily="34" charset="0"/>
                <a:ea typeface="Arial" pitchFamily="34" charset="-122"/>
                <a:cs typeface="Arial" pitchFamily="34" charset="-120"/>
              </a:rPr>
              <a:t>Total in the Middle: </a:t>
            </a:r>
            <a:r>
              <a:rPr lang="en-US" sz="1100" dirty="0">
                <a:solidFill>
                  <a:srgbClr val="55606E"/>
                </a:solidFill>
                <a:latin typeface="Arial" pitchFamily="34" charset="0"/>
                <a:ea typeface="Arial" pitchFamily="34" charset="-122"/>
                <a:cs typeface="Arial" pitchFamily="34" charset="-120"/>
              </a:rPr>
              <a:t>367,023 contracts · $7.40B funded · $239.2M in opportunity cost (78% concentrated in Grades C, D, and E).</a:t>
            </a:r>
            <a:endParaRPr lang="en-US" sz="1100" dirty="0"/>
          </a:p>
        </p:txBody>
      </p:sp>
      <p:sp>
        <p:nvSpPr>
          <p:cNvPr id="43" name="Text 4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44" name="Text 4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06 / 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1 — INTEGRATED MATRIX</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Complete Performance View by Credit Grade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Contracts, Funded Volume, Actual ROA, and Opportunity Cost — All Bands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810512"/>
          <a:ext cx="11183112" cy="3602736"/>
        </p:xfrm>
        <a:graphic>
          <a:graphicData uri="http://schemas.openxmlformats.org/drawingml/2006/table">
            <a:tbl>
              <a:tblPr/>
              <a:tblGrid>
                <a:gridCol w="17373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2542032">
                  <a:extLst>
                    <a:ext uri="{9D8B030D-6E8A-4147-A177-3AD203B41FA5}">
                      <a16:colId xmlns:a16="http://schemas.microsoft.com/office/drawing/2014/main" val="20005"/>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Credit Grade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Commitment</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Contracts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Funded Volume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Actual ROA (p.a.)</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Opportunity Cost</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A/B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121,844</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$2.40B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$4.7M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C</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(Middle)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105,652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$2.07B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3.58%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$42.1M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D</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(Middle)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74,151</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$1.50B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$78.6M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(Middle)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42,252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$913M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2.40%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$65.0M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F/G</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23,124</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$524.5M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$48.8M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1B2A44"/>
                          </a:solidFill>
                          <a:latin typeface="Arial" pitchFamily="34" charset="0"/>
                          <a:ea typeface="Arial" pitchFamily="34" charset="-122"/>
                          <a:cs typeface="Arial" pitchFamily="34" charset="-120"/>
                        </a:rPr>
                        <a:t>Subtotal Middle</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367,023</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$7.40B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3.38%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100" b="1" dirty="0">
                          <a:solidFill>
                            <a:srgbClr val="C0392B"/>
                          </a:solidFill>
                          <a:latin typeface="Arial" pitchFamily="34" charset="0"/>
                          <a:ea typeface="Arial" pitchFamily="34" charset="-122"/>
                          <a:cs typeface="Arial" pitchFamily="34" charset="-120"/>
                        </a:rPr>
                        <a:t>$239.2M (80%)</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extLst>
                  <a:ext uri="{0D108BD9-81ED-4DB2-BD59-A6C34878D82A}">
                    <a16:rowId xmlns:a16="http://schemas.microsoft.com/office/drawing/2014/main" val="10006"/>
                  </a:ext>
                </a:extLst>
              </a:tr>
              <a:tr h="402336">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Squeezed</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Above 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13,163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$319M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1.37%</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$27.6M (9%)</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extLst>
                  <a:ext uri="{0D108BD9-81ED-4DB2-BD59-A6C34878D82A}">
                    <a16:rowId xmlns:a16="http://schemas.microsoft.com/office/drawing/2014/main" val="10007"/>
                  </a:ext>
                </a:extLst>
              </a:tr>
              <a:tr h="457200">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Total Bank</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All Bands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1,344,989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$20.30B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4.36%</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$299.5M</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8"/>
                  </a:ext>
                </a:extLst>
              </a:tr>
            </a:tbl>
          </a:graphicData>
        </a:graphic>
      </p:graphicFrame>
      <p:sp>
        <p:nvSpPr>
          <p:cNvPr id="6" name="Text 3"/>
          <p:cNvSpPr/>
          <p:nvPr/>
        </p:nvSpPr>
        <p:spPr>
          <a:xfrm>
            <a:off x="502920" y="5742432"/>
            <a:ext cx="11183112" cy="320040"/>
          </a:xfrm>
          <a:prstGeom prst="rect">
            <a:avLst/>
          </a:prstGeom>
          <a:noFill/>
          <a:ln/>
        </p:spPr>
        <p:txBody>
          <a:bodyPr wrap="square" lIns="0" tIns="0" rIns="0" bIns="0" rtlCol="0" anchor="ctr"/>
          <a:lstStyle/>
          <a:p>
            <a:pPr marL="0" indent="0" algn="ctr">
              <a:buNone/>
            </a:pPr>
            <a:r>
              <a:rPr lang="en-US" sz="1050" i="1" dirty="0">
                <a:solidFill>
                  <a:srgbClr val="98A1AD"/>
                </a:solidFill>
                <a:latin typeface="Arial" pitchFamily="34" charset="0"/>
                <a:ea typeface="Arial" pitchFamily="34" charset="-122"/>
                <a:cs typeface="Arial" pitchFamily="34" charset="-120"/>
              </a:rPr>
              <a:t>The Middle (10%–20%) accounts for 27.29% of contracts and 80% of the bank's entire opportunity cost — the clearest evidence of hidden risk at scale.</a:t>
            </a:r>
            <a:endParaRPr lang="en-US" sz="1050" dirty="0"/>
          </a:p>
        </p:txBody>
      </p:sp>
      <p:sp>
        <p:nvSpPr>
          <p:cNvPr id="7" name="Text 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5" name="Text 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07 / 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2</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Term Elasticity and the 60-Month Trap</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How the 5-Year Duration Boosts the Upper Class but Collapses the Base of the Pyramid</a:t>
            </a:r>
            <a:endParaRPr lang="en-US" sz="1250" dirty="0"/>
          </a:p>
        </p:txBody>
      </p:sp>
      <p:graphicFrame>
        <p:nvGraphicFramePr>
          <p:cNvPr id="5" name="Chart 0"/>
          <p:cNvGraphicFramePr/>
          <p:nvPr/>
        </p:nvGraphicFramePr>
        <p:xfrm>
          <a:off x="502920" y="1783080"/>
          <a:ext cx="7086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95360" y="1783080"/>
            <a:ext cx="3063240" cy="2148840"/>
          </a:xfrm>
          <a:prstGeom prst="roundRect">
            <a:avLst>
              <a:gd name="adj" fmla="val 3404"/>
            </a:avLst>
          </a:prstGeom>
          <a:solidFill>
            <a:srgbClr val="F4F6F8"/>
          </a:solidFill>
          <a:ln/>
        </p:spPr>
        <p:txBody>
          <a:bodyPr/>
          <a:lstStyle/>
          <a:p>
            <a:endParaRPr lang="pt-BR"/>
          </a:p>
        </p:txBody>
      </p:sp>
      <p:sp>
        <p:nvSpPr>
          <p:cNvPr id="7" name="Text 4"/>
          <p:cNvSpPr/>
          <p:nvPr/>
        </p:nvSpPr>
        <p:spPr>
          <a:xfrm>
            <a:off x="8796528" y="1956816"/>
            <a:ext cx="2660904" cy="237744"/>
          </a:xfrm>
          <a:prstGeom prst="rect">
            <a:avLst/>
          </a:prstGeom>
          <a:noFill/>
          <a:ln/>
        </p:spPr>
        <p:txBody>
          <a:bodyPr wrap="square" lIns="0" tIns="0" rIns="0" bIns="0" rtlCol="0" anchor="ctr"/>
          <a:lstStyle/>
          <a:p>
            <a:pPr marL="0" indent="0">
              <a:buNone/>
            </a:pPr>
            <a:r>
              <a:rPr lang="en-US" sz="1000" b="1" kern="0" spc="100" dirty="0">
                <a:solidFill>
                  <a:srgbClr val="1B2A44"/>
                </a:solidFill>
                <a:latin typeface="Arial" pitchFamily="34" charset="0"/>
                <a:ea typeface="Arial" pitchFamily="34" charset="-122"/>
                <a:cs typeface="Arial" pitchFamily="34" charset="-120"/>
              </a:rPr>
              <a:t>CONCEPT: TERM FATIGUE</a:t>
            </a:r>
            <a:endParaRPr lang="en-US" sz="1000" dirty="0"/>
          </a:p>
        </p:txBody>
      </p:sp>
      <p:sp>
        <p:nvSpPr>
          <p:cNvPr id="8" name="Text 5"/>
          <p:cNvSpPr/>
          <p:nvPr/>
        </p:nvSpPr>
        <p:spPr>
          <a:xfrm>
            <a:off x="8796528" y="2249424"/>
            <a:ext cx="2660904" cy="1600200"/>
          </a:xfrm>
          <a:prstGeom prst="rect">
            <a:avLst/>
          </a:prstGeom>
          <a:noFill/>
          <a:ln/>
        </p:spPr>
        <p:txBody>
          <a:bodyPr wrap="square" lIns="0" tIns="0" rIns="0" bIns="0" rtlCol="0" anchor="t"/>
          <a:lstStyle/>
          <a:p>
            <a:pPr marL="0" indent="0">
              <a:lnSpc>
                <a:spcPct val="128000"/>
              </a:lnSpc>
              <a:buNone/>
            </a:pPr>
            <a:r>
              <a:rPr lang="en-US" sz="1050" dirty="0">
                <a:solidFill>
                  <a:srgbClr val="55606E"/>
                </a:solidFill>
                <a:latin typeface="Arial" pitchFamily="34" charset="0"/>
                <a:ea typeface="Arial" pitchFamily="34" charset="-122"/>
                <a:cs typeface="Arial" pitchFamily="34" charset="-120"/>
              </a:rPr>
              <a:t>In fragile income profiles, accumulated risk over 5 years is not linear — delinquency among the most vulnerable households accelerates and outpaces the additional interest revenue generated by the extended term.</a:t>
            </a:r>
            <a:endParaRPr lang="en-US" sz="1050" dirty="0"/>
          </a:p>
        </p:txBody>
      </p:sp>
      <p:sp>
        <p:nvSpPr>
          <p:cNvPr id="9" name="Shape 6"/>
          <p:cNvSpPr/>
          <p:nvPr/>
        </p:nvSpPr>
        <p:spPr>
          <a:xfrm>
            <a:off x="8595360" y="4069080"/>
            <a:ext cx="3063240" cy="1508760"/>
          </a:xfrm>
          <a:prstGeom prst="roundRect">
            <a:avLst>
              <a:gd name="adj" fmla="val 4848"/>
            </a:avLst>
          </a:prstGeom>
          <a:solidFill>
            <a:srgbClr val="E8ECF3"/>
          </a:solidFill>
          <a:ln/>
        </p:spPr>
        <p:txBody>
          <a:bodyPr/>
          <a:lstStyle/>
          <a:p>
            <a:endParaRPr lang="pt-BR"/>
          </a:p>
        </p:txBody>
      </p:sp>
      <p:sp>
        <p:nvSpPr>
          <p:cNvPr id="10" name="Text 7"/>
          <p:cNvSpPr/>
          <p:nvPr/>
        </p:nvSpPr>
        <p:spPr>
          <a:xfrm>
            <a:off x="8796528" y="4206240"/>
            <a:ext cx="2660904" cy="219456"/>
          </a:xfrm>
          <a:prstGeom prst="rect">
            <a:avLst/>
          </a:prstGeom>
          <a:noFill/>
          <a:ln/>
        </p:spPr>
        <p:txBody>
          <a:bodyPr wrap="square" lIns="0" tIns="0" rIns="0" bIns="0" rtlCol="0" anchor="ctr"/>
          <a:lstStyle/>
          <a:p>
            <a:pPr marL="0" indent="0">
              <a:buNone/>
            </a:pPr>
            <a:r>
              <a:rPr lang="en-US" sz="950" b="1" kern="0" spc="100" dirty="0">
                <a:solidFill>
                  <a:srgbClr val="1B2A44"/>
                </a:solidFill>
                <a:latin typeface="Arial" pitchFamily="34" charset="0"/>
                <a:ea typeface="Arial" pitchFamily="34" charset="-122"/>
                <a:cs typeface="Arial" pitchFamily="34" charset="-120"/>
              </a:rPr>
              <a:t>THE DIVERGENCE</a:t>
            </a:r>
            <a:endParaRPr lang="en-US" sz="950" dirty="0"/>
          </a:p>
        </p:txBody>
      </p:sp>
      <p:sp>
        <p:nvSpPr>
          <p:cNvPr id="11" name="Text 8"/>
          <p:cNvSpPr/>
          <p:nvPr/>
        </p:nvSpPr>
        <p:spPr>
          <a:xfrm>
            <a:off x="8796528" y="4462272"/>
            <a:ext cx="2660904" cy="1051560"/>
          </a:xfrm>
          <a:prstGeom prst="rect">
            <a:avLst/>
          </a:prstGeom>
          <a:noFill/>
          <a:ln/>
        </p:spPr>
        <p:txBody>
          <a:bodyPr wrap="square" lIns="0" tIns="0" rIns="0" bIns="0" rtlCol="0" anchor="t"/>
          <a:lstStyle/>
          <a:p>
            <a:pPr marL="0" indent="0">
              <a:lnSpc>
                <a:spcPct val="125000"/>
              </a:lnSpc>
              <a:buNone/>
            </a:pPr>
            <a:r>
              <a:rPr lang="en-US" sz="1050" dirty="0">
                <a:solidFill>
                  <a:srgbClr val="55606E"/>
                </a:solidFill>
                <a:latin typeface="Arial" pitchFamily="34" charset="0"/>
                <a:ea typeface="Arial" pitchFamily="34" charset="-122"/>
                <a:cs typeface="Arial" pitchFamily="34" charset="-120"/>
              </a:rPr>
              <a:t>Classes A and B gain from the extended term. Classes D and E collapse. The full breakdown, with volumes and $ impact, is on the next page.</a:t>
            </a:r>
            <a:endParaRPr lang="en-US" sz="1050" dirty="0"/>
          </a:p>
        </p:txBody>
      </p:sp>
      <p:sp>
        <p:nvSpPr>
          <p:cNvPr id="12" name="Text 9"/>
          <p:cNvSpPr/>
          <p:nvPr/>
        </p:nvSpPr>
        <p:spPr>
          <a:xfrm>
            <a:off x="502920" y="6080760"/>
            <a:ext cx="11183112" cy="402336"/>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Methodological Note (Credit Term Fatigue): The term elasticity analysis demonstrates the divergence in the expected loss (EL) curve over duration. In fragile income profiles (Classes D and E), accumulated risk is not linear but exponential beyond the 36th month, outpacing the interest revenue generated by extending the term.</a:t>
            </a:r>
            <a:endParaRPr lang="en-US" sz="800" dirty="0"/>
          </a:p>
        </p:txBody>
      </p:sp>
      <p:sp>
        <p:nvSpPr>
          <p:cNvPr id="13" name="Text 10"/>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14" name="Text 11"/>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08 / 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2 — DETAIL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Volume and Financial Impact by Income Class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Contracts, Funded Volume, and Nominal Result at Each Term</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3182112"/>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2313432">
                  <a:extLst>
                    <a:ext uri="{9D8B030D-6E8A-4147-A177-3AD203B41FA5}">
                      <a16:colId xmlns:a16="http://schemas.microsoft.com/office/drawing/2014/main" val="20006"/>
                    </a:ext>
                  </a:extLst>
                </a:gridCol>
              </a:tblGrid>
              <a:tr h="438912">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Class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Contracts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Funded Volume</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36m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60m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Δ (pp)</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Nominal Impact</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A</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268,487</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$4.21B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5.29%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6.24%</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++0.95 pp</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+$96.0M</a:t>
                      </a:r>
                      <a:endParaRPr lang="en-US" sz="130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269,294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4.59%</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++0.36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+$32.2M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C</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267,598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$3.68B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4.18%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4.02%</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-0.16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55606E"/>
                          </a:solidFill>
                          <a:latin typeface="Arial" pitchFamily="34" charset="0"/>
                          <a:ea typeface="Arial" pitchFamily="34" charset="-122"/>
                          <a:cs typeface="Arial" pitchFamily="34" charset="-120"/>
                        </a:rPr>
                        <a:t>Neutral (-$11.9M)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D</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268,295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$3.41B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3.00%</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-0.94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-$51.4M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E</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271,315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$3.15B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2.91%</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1.58%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-1.33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-$34.2M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02920" y="5257800"/>
            <a:ext cx="11183112" cy="777240"/>
          </a:xfrm>
          <a:prstGeom prst="roundRect">
            <a:avLst>
              <a:gd name="adj" fmla="val 9412"/>
            </a:avLst>
          </a:prstGeom>
          <a:solidFill>
            <a:srgbClr val="E8ECF3"/>
          </a:solidFill>
          <a:ln/>
        </p:spPr>
        <p:txBody>
          <a:bodyPr/>
          <a:lstStyle/>
          <a:p>
            <a:endParaRPr lang="pt-BR"/>
          </a:p>
        </p:txBody>
      </p:sp>
      <p:sp>
        <p:nvSpPr>
          <p:cNvPr id="7" name="Text 4"/>
          <p:cNvSpPr/>
          <p:nvPr/>
        </p:nvSpPr>
        <p:spPr>
          <a:xfrm>
            <a:off x="777240" y="5257800"/>
            <a:ext cx="10634472" cy="777240"/>
          </a:xfrm>
          <a:prstGeom prst="rect">
            <a:avLst/>
          </a:prstGeom>
          <a:noFill/>
          <a:ln/>
        </p:spPr>
        <p:txBody>
          <a:bodyPr wrap="square" lIns="0" tIns="0" rIns="0" bIns="0" rtlCol="0" anchor="ctr"/>
          <a:lstStyle/>
          <a:p>
            <a:pPr marL="0" indent="0">
              <a:lnSpc>
                <a:spcPct val="122000"/>
              </a:lnSpc>
              <a:buNone/>
            </a:pPr>
            <a:r>
              <a:rPr lang="en-US" sz="1150" b="1" dirty="0">
                <a:solidFill>
                  <a:srgbClr val="1B2A44"/>
                </a:solidFill>
                <a:latin typeface="Arial" pitchFamily="34" charset="0"/>
                <a:ea typeface="Arial" pitchFamily="34" charset="-122"/>
                <a:cs typeface="Arial" pitchFamily="34" charset="-120"/>
              </a:rPr>
              <a:t>The average hides the risk: </a:t>
            </a:r>
            <a:r>
              <a:rPr lang="en-US" sz="1150" dirty="0">
                <a:solidFill>
                  <a:srgbClr val="55606E"/>
                </a:solidFill>
                <a:latin typeface="Arial" pitchFamily="34" charset="0"/>
                <a:ea typeface="Arial" pitchFamily="34" charset="-122"/>
                <a:cs typeface="Arial" pitchFamily="34" charset="-120"/>
              </a:rPr>
              <a:t>the aggregate impact of extending to 60 months is +$30.7M net overall — but that average masks a +$128.2M gain in Classes A and B and a -$85.6M loss in Classes D and E.</a:t>
            </a:r>
            <a:endParaRPr lang="en-US" sz="1150" dirty="0"/>
          </a:p>
        </p:txBody>
      </p:sp>
      <p:sp>
        <p:nvSpPr>
          <p:cNvPr id="8" name="Text 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9" name="Text 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09 / 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SPECIAL CASE STUDY</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The Pricing Paradox in Grade 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Analysis of $196.4M Funded: Why the 60-Month Term Saves the Bank's Worst Credit Grade</a:t>
            </a:r>
            <a:endParaRPr lang="en-US" sz="1250" dirty="0"/>
          </a:p>
        </p:txBody>
      </p:sp>
      <p:sp>
        <p:nvSpPr>
          <p:cNvPr id="5" name="Text 3"/>
          <p:cNvSpPr/>
          <p:nvPr/>
        </p:nvSpPr>
        <p:spPr>
          <a:xfrm>
            <a:off x="502920" y="1664208"/>
            <a:ext cx="11183112" cy="292608"/>
          </a:xfrm>
          <a:prstGeom prst="rect">
            <a:avLst/>
          </a:prstGeom>
          <a:noFill/>
          <a:ln/>
        </p:spPr>
        <p:txBody>
          <a:bodyPr wrap="square" lIns="0" tIns="0" rIns="0" bIns="0" rtlCol="0" anchor="ctr"/>
          <a:lstStyle/>
          <a:p>
            <a:pPr marL="0" indent="0">
              <a:buNone/>
            </a:pPr>
            <a:r>
              <a:rPr lang="en-US" sz="1250" b="1" dirty="0">
                <a:solidFill>
                  <a:srgbClr val="1B2A44"/>
                </a:solidFill>
                <a:latin typeface="Arial" pitchFamily="34" charset="0"/>
                <a:ea typeface="Arial" pitchFamily="34" charset="-122"/>
                <a:cs typeface="Arial" pitchFamily="34" charset="-120"/>
              </a:rPr>
              <a:t>Total Grade G Volume:  </a:t>
            </a:r>
            <a:r>
              <a:rPr lang="en-US" sz="1250" dirty="0">
                <a:solidFill>
                  <a:srgbClr val="55606E"/>
                </a:solidFill>
                <a:latin typeface="Arial" pitchFamily="34" charset="0"/>
                <a:ea typeface="Arial" pitchFamily="34" charset="-122"/>
                <a:cs typeface="Arial" pitchFamily="34" charset="-120"/>
              </a:rPr>
              <a:t>9,126 contracts  •  $196.4M funded</a:t>
            </a:r>
            <a:endParaRPr lang="en-US" sz="1250" dirty="0"/>
          </a:p>
        </p:txBody>
      </p:sp>
      <p:sp>
        <p:nvSpPr>
          <p:cNvPr id="6" name="Shape 4"/>
          <p:cNvSpPr/>
          <p:nvPr/>
        </p:nvSpPr>
        <p:spPr>
          <a:xfrm>
            <a:off x="896112" y="2103120"/>
            <a:ext cx="4892040" cy="2514600"/>
          </a:xfrm>
          <a:prstGeom prst="roundRect">
            <a:avLst>
              <a:gd name="adj" fmla="val 3273"/>
            </a:avLst>
          </a:prstGeom>
          <a:solidFill>
            <a:srgbClr val="FBEAE8"/>
          </a:solidFill>
          <a:ln/>
        </p:spPr>
        <p:txBody>
          <a:bodyPr/>
          <a:lstStyle/>
          <a:p>
            <a:endParaRPr lang="pt-BR"/>
          </a:p>
        </p:txBody>
      </p:sp>
      <p:sp>
        <p:nvSpPr>
          <p:cNvPr id="7" name="Text 5"/>
          <p:cNvSpPr/>
          <p:nvPr/>
        </p:nvSpPr>
        <p:spPr>
          <a:xfrm>
            <a:off x="1188720" y="2304288"/>
            <a:ext cx="4306824" cy="237744"/>
          </a:xfrm>
          <a:prstGeom prst="rect">
            <a:avLst/>
          </a:prstGeom>
          <a:noFill/>
          <a:ln/>
        </p:spPr>
        <p:txBody>
          <a:bodyPr wrap="square" lIns="0" tIns="0" rIns="0" bIns="0" rtlCol="0" anchor="ctr"/>
          <a:lstStyle/>
          <a:p>
            <a:pPr marL="0" indent="0">
              <a:buNone/>
            </a:pPr>
            <a:r>
              <a:rPr lang="en-US" sz="1050" b="1" kern="0" spc="100" dirty="0">
                <a:solidFill>
                  <a:srgbClr val="C0392B"/>
                </a:solidFill>
                <a:latin typeface="Arial" pitchFamily="34" charset="0"/>
                <a:ea typeface="Arial" pitchFamily="34" charset="-122"/>
                <a:cs typeface="Arial" pitchFamily="34" charset="-120"/>
              </a:rPr>
              <a:t>GRADE G  —  36 MONTHS</a:t>
            </a:r>
            <a:endParaRPr lang="en-US" sz="1050" dirty="0"/>
          </a:p>
        </p:txBody>
      </p:sp>
      <p:sp>
        <p:nvSpPr>
          <p:cNvPr id="8" name="Text 6"/>
          <p:cNvSpPr/>
          <p:nvPr/>
        </p:nvSpPr>
        <p:spPr>
          <a:xfrm>
            <a:off x="1188720" y="2560320"/>
            <a:ext cx="4306824" cy="777240"/>
          </a:xfrm>
          <a:prstGeom prst="rect">
            <a:avLst/>
          </a:prstGeom>
          <a:noFill/>
          <a:ln/>
        </p:spPr>
        <p:txBody>
          <a:bodyPr wrap="square" lIns="0" tIns="0" rIns="0" bIns="0" rtlCol="0" anchor="ctr"/>
          <a:lstStyle/>
          <a:p>
            <a:pPr marL="0" indent="0">
              <a:buNone/>
            </a:pPr>
            <a:r>
              <a:rPr lang="en-US" sz="4200" b="1" dirty="0">
                <a:solidFill>
                  <a:srgbClr val="C0392B"/>
                </a:solidFill>
                <a:latin typeface="Arial" pitchFamily="34" charset="0"/>
                <a:ea typeface="Arial" pitchFamily="34" charset="-122"/>
                <a:cs typeface="Arial" pitchFamily="34" charset="-120"/>
              </a:rPr>
              <a:t>-1.52%</a:t>
            </a:r>
            <a:endParaRPr lang="en-US" sz="4200" dirty="0"/>
          </a:p>
        </p:txBody>
      </p:sp>
      <p:sp>
        <p:nvSpPr>
          <p:cNvPr id="9" name="Text 7"/>
          <p:cNvSpPr/>
          <p:nvPr/>
        </p:nvSpPr>
        <p:spPr>
          <a:xfrm>
            <a:off x="1188720"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Net Loss</a:t>
            </a:r>
            <a:endParaRPr lang="en-US" sz="1150" dirty="0"/>
          </a:p>
        </p:txBody>
      </p:sp>
      <p:sp>
        <p:nvSpPr>
          <p:cNvPr id="10" name="Text 8"/>
          <p:cNvSpPr/>
          <p:nvPr/>
        </p:nvSpPr>
        <p:spPr>
          <a:xfrm>
            <a:off x="1188720"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1,518 contracts  •  $23.1M funded</a:t>
            </a:r>
            <a:endParaRPr lang="en-US" sz="1000" dirty="0"/>
          </a:p>
        </p:txBody>
      </p:sp>
      <p:sp>
        <p:nvSpPr>
          <p:cNvPr id="11" name="Shape 9"/>
          <p:cNvSpPr/>
          <p:nvPr/>
        </p:nvSpPr>
        <p:spPr>
          <a:xfrm>
            <a:off x="1188720" y="3931920"/>
            <a:ext cx="4306824" cy="9144"/>
          </a:xfrm>
          <a:prstGeom prst="rect">
            <a:avLst/>
          </a:prstGeom>
          <a:solidFill>
            <a:srgbClr val="C0392B">
              <a:alpha val="40000"/>
            </a:srgbClr>
          </a:solidFill>
          <a:ln/>
        </p:spPr>
        <p:txBody>
          <a:bodyPr/>
          <a:lstStyle/>
          <a:p>
            <a:endParaRPr lang="pt-BR"/>
          </a:p>
        </p:txBody>
      </p:sp>
      <p:sp>
        <p:nvSpPr>
          <p:cNvPr id="12" name="Text 10"/>
          <p:cNvSpPr/>
          <p:nvPr/>
        </p:nvSpPr>
        <p:spPr>
          <a:xfrm>
            <a:off x="1188720"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Nominal Loss:  </a:t>
            </a:r>
            <a:r>
              <a:rPr lang="en-US" sz="1500" b="1" dirty="0">
                <a:solidFill>
                  <a:srgbClr val="C0392B"/>
                </a:solidFill>
              </a:rPr>
              <a:t>-$1.05M</a:t>
            </a:r>
            <a:endParaRPr lang="en-US" sz="1200" dirty="0"/>
          </a:p>
        </p:txBody>
      </p:sp>
      <p:sp>
        <p:nvSpPr>
          <p:cNvPr id="13" name="Shape 11"/>
          <p:cNvSpPr/>
          <p:nvPr/>
        </p:nvSpPr>
        <p:spPr>
          <a:xfrm>
            <a:off x="6355080" y="2103120"/>
            <a:ext cx="4892040" cy="2514600"/>
          </a:xfrm>
          <a:prstGeom prst="roundRect">
            <a:avLst>
              <a:gd name="adj" fmla="val 3273"/>
            </a:avLst>
          </a:prstGeom>
          <a:solidFill>
            <a:srgbClr val="E7F3EE"/>
          </a:solidFill>
          <a:ln/>
        </p:spPr>
        <p:txBody>
          <a:bodyPr/>
          <a:lstStyle/>
          <a:p>
            <a:endParaRPr lang="pt-BR"/>
          </a:p>
        </p:txBody>
      </p:sp>
      <p:sp>
        <p:nvSpPr>
          <p:cNvPr id="14" name="Text 12"/>
          <p:cNvSpPr/>
          <p:nvPr/>
        </p:nvSpPr>
        <p:spPr>
          <a:xfrm>
            <a:off x="6647688" y="2304288"/>
            <a:ext cx="4306824" cy="237744"/>
          </a:xfrm>
          <a:prstGeom prst="rect">
            <a:avLst/>
          </a:prstGeom>
          <a:noFill/>
          <a:ln/>
        </p:spPr>
        <p:txBody>
          <a:bodyPr wrap="square" lIns="0" tIns="0" rIns="0" bIns="0" rtlCol="0" anchor="ctr"/>
          <a:lstStyle/>
          <a:p>
            <a:pPr marL="0" indent="0">
              <a:buNone/>
            </a:pPr>
            <a:r>
              <a:rPr lang="en-US" sz="1050" b="1" kern="0" spc="100" dirty="0">
                <a:solidFill>
                  <a:srgbClr val="1E8A5D"/>
                </a:solidFill>
                <a:latin typeface="Arial" pitchFamily="34" charset="0"/>
                <a:ea typeface="Arial" pitchFamily="34" charset="-122"/>
                <a:cs typeface="Arial" pitchFamily="34" charset="-120"/>
              </a:rPr>
              <a:t>GRADE G  —  60 MONTHS</a:t>
            </a:r>
            <a:endParaRPr lang="en-US" sz="1050" dirty="0"/>
          </a:p>
        </p:txBody>
      </p:sp>
      <p:sp>
        <p:nvSpPr>
          <p:cNvPr id="15" name="Text 13"/>
          <p:cNvSpPr/>
          <p:nvPr/>
        </p:nvSpPr>
        <p:spPr>
          <a:xfrm>
            <a:off x="6647688" y="2560320"/>
            <a:ext cx="4306824" cy="777240"/>
          </a:xfrm>
          <a:prstGeom prst="rect">
            <a:avLst/>
          </a:prstGeom>
          <a:noFill/>
          <a:ln/>
        </p:spPr>
        <p:txBody>
          <a:bodyPr wrap="square" lIns="0" tIns="0" rIns="0" bIns="0" rtlCol="0" anchor="ctr"/>
          <a:lstStyle/>
          <a:p>
            <a:pPr marL="0" indent="0">
              <a:buNone/>
            </a:pPr>
            <a:r>
              <a:rPr lang="en-US" sz="4200" b="1" dirty="0">
                <a:solidFill>
                  <a:srgbClr val="1E8A5D"/>
                </a:solidFill>
                <a:latin typeface="Arial" pitchFamily="34" charset="0"/>
                <a:ea typeface="Arial" pitchFamily="34" charset="-122"/>
                <a:cs typeface="Arial" pitchFamily="34" charset="-120"/>
              </a:rPr>
              <a:t>+3.76%</a:t>
            </a:r>
            <a:endParaRPr lang="en-US" sz="4200" dirty="0"/>
          </a:p>
        </p:txBody>
      </p:sp>
      <p:sp>
        <p:nvSpPr>
          <p:cNvPr id="16" name="Text 14"/>
          <p:cNvSpPr/>
          <p:nvPr/>
        </p:nvSpPr>
        <p:spPr>
          <a:xfrm>
            <a:off x="6647688"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Net Profit</a:t>
            </a:r>
            <a:endParaRPr lang="en-US" sz="1150" dirty="0"/>
          </a:p>
        </p:txBody>
      </p:sp>
      <p:sp>
        <p:nvSpPr>
          <p:cNvPr id="17" name="Text 15"/>
          <p:cNvSpPr/>
          <p:nvPr/>
        </p:nvSpPr>
        <p:spPr>
          <a:xfrm>
            <a:off x="6647688"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7,608 contracts  •  $173.3M funded</a:t>
            </a:r>
            <a:endParaRPr lang="en-US" sz="1000" dirty="0"/>
          </a:p>
        </p:txBody>
      </p:sp>
      <p:sp>
        <p:nvSpPr>
          <p:cNvPr id="18" name="Shape 16"/>
          <p:cNvSpPr/>
          <p:nvPr/>
        </p:nvSpPr>
        <p:spPr>
          <a:xfrm>
            <a:off x="6647688" y="3931920"/>
            <a:ext cx="4306824" cy="9144"/>
          </a:xfrm>
          <a:prstGeom prst="rect">
            <a:avLst/>
          </a:prstGeom>
          <a:solidFill>
            <a:srgbClr val="1E8A5D">
              <a:alpha val="40000"/>
            </a:srgbClr>
          </a:solidFill>
          <a:ln/>
        </p:spPr>
        <p:txBody>
          <a:bodyPr/>
          <a:lstStyle/>
          <a:p>
            <a:endParaRPr lang="pt-BR"/>
          </a:p>
        </p:txBody>
      </p:sp>
      <p:sp>
        <p:nvSpPr>
          <p:cNvPr id="19" name="Text 17"/>
          <p:cNvSpPr/>
          <p:nvPr/>
        </p:nvSpPr>
        <p:spPr>
          <a:xfrm>
            <a:off x="6647688"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Nominal Profit:  </a:t>
            </a:r>
            <a:r>
              <a:rPr lang="en-US" sz="1500" b="1" dirty="0">
                <a:solidFill>
                  <a:srgbClr val="1E8A5D"/>
                </a:solidFill>
              </a:rPr>
              <a:t>+$32.59M</a:t>
            </a:r>
            <a:endParaRPr lang="en-US" sz="1200" dirty="0"/>
          </a:p>
        </p:txBody>
      </p:sp>
      <p:sp>
        <p:nvSpPr>
          <p:cNvPr id="20" name="Text 18"/>
          <p:cNvSpPr/>
          <p:nvPr/>
        </p:nvSpPr>
        <p:spPr>
          <a:xfrm>
            <a:off x="5788152" y="3086100"/>
            <a:ext cx="566928" cy="548640"/>
          </a:xfrm>
          <a:prstGeom prst="rect">
            <a:avLst/>
          </a:prstGeom>
          <a:noFill/>
          <a:ln/>
        </p:spPr>
        <p:txBody>
          <a:bodyPr wrap="square" lIns="0" tIns="0" rIns="0" bIns="0" rtlCol="0" anchor="ctr"/>
          <a:lstStyle/>
          <a:p>
            <a:pPr marL="0" indent="0" algn="ctr">
              <a:buNone/>
            </a:pPr>
            <a:r>
              <a:rPr lang="en-US" sz="3000" b="1" dirty="0">
                <a:solidFill>
                  <a:srgbClr val="1B2A44"/>
                </a:solidFill>
                <a:latin typeface="Arial" pitchFamily="34" charset="0"/>
                <a:ea typeface="Arial" pitchFamily="34" charset="-122"/>
                <a:cs typeface="Arial" pitchFamily="34" charset="-120"/>
              </a:rPr>
              <a:t>→</a:t>
            </a:r>
            <a:endParaRPr lang="en-US" sz="3000" dirty="0"/>
          </a:p>
        </p:txBody>
      </p:sp>
      <p:sp>
        <p:nvSpPr>
          <p:cNvPr id="21" name="Text 19"/>
          <p:cNvSpPr/>
          <p:nvPr/>
        </p:nvSpPr>
        <p:spPr>
          <a:xfrm>
            <a:off x="896112"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At 36 months, accumulated interest revenue still doesn't offset the initial defaults concentrated in the bank's worst risk class.</a:t>
            </a:r>
            <a:endParaRPr lang="en-US" sz="1100" dirty="0"/>
          </a:p>
        </p:txBody>
      </p:sp>
      <p:sp>
        <p:nvSpPr>
          <p:cNvPr id="22" name="Text 20"/>
          <p:cNvSpPr/>
          <p:nvPr/>
        </p:nvSpPr>
        <p:spPr>
          <a:xfrm>
            <a:off x="6355080"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At 60 months, the gross interest margin from performing borrowers over the extended term absorbs the defaults and generates consistent net profit.</a:t>
            </a:r>
            <a:endParaRPr lang="en-US" sz="1100" dirty="0"/>
          </a:p>
        </p:txBody>
      </p:sp>
      <p:sp>
        <p:nvSpPr>
          <p:cNvPr id="23"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4"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10 / 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ACTION PLAN</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Strategic Action Plan &amp; Committee Recommendations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Three Immediate Interventions with Estimated Financial Gain</a:t>
            </a:r>
            <a:endParaRPr lang="en-US" sz="1250" dirty="0"/>
          </a:p>
        </p:txBody>
      </p:sp>
      <p:sp>
        <p:nvSpPr>
          <p:cNvPr id="5" name="Shape 3"/>
          <p:cNvSpPr/>
          <p:nvPr/>
        </p:nvSpPr>
        <p:spPr>
          <a:xfrm>
            <a:off x="502920"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057400"/>
            <a:ext cx="530352" cy="530352"/>
          </a:xfrm>
          <a:prstGeom prst="ellipse">
            <a:avLst/>
          </a:prstGeom>
          <a:solidFill>
            <a:srgbClr val="1B2A44"/>
          </a:solidFill>
          <a:ln/>
        </p:spPr>
        <p:txBody>
          <a:bodyPr/>
          <a:lstStyle/>
          <a:p>
            <a:endParaRPr lang="pt-BR"/>
          </a:p>
        </p:txBody>
      </p:sp>
      <p:pic>
        <p:nvPicPr>
          <p:cNvPr id="7" name="Image 0" descr="/home/claude/deck/assets/trava.png"/>
          <p:cNvPicPr>
            <a:picLocks noChangeAspect="1"/>
          </p:cNvPicPr>
          <p:nvPr/>
        </p:nvPicPr>
        <p:blipFill>
          <a:blip r:embed="rId3"/>
          <a:stretch>
            <a:fillRect/>
          </a:stretch>
        </p:blipFill>
        <p:spPr>
          <a:xfrm>
            <a:off x="896112" y="2176272"/>
            <a:ext cx="292608" cy="292608"/>
          </a:xfrm>
          <a:prstGeom prst="rect">
            <a:avLst/>
          </a:prstGeom>
        </p:spPr>
      </p:pic>
      <p:sp>
        <p:nvSpPr>
          <p:cNvPr id="8" name="Text 5"/>
          <p:cNvSpPr/>
          <p:nvPr/>
        </p:nvSpPr>
        <p:spPr>
          <a:xfrm>
            <a:off x="777240"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1. Surgical Term Lock</a:t>
            </a:r>
            <a:endParaRPr lang="en-US" sz="1400" dirty="0"/>
          </a:p>
        </p:txBody>
      </p:sp>
      <p:sp>
        <p:nvSpPr>
          <p:cNvPr id="9" name="Text 6"/>
          <p:cNvSpPr/>
          <p:nvPr/>
        </p:nvSpPr>
        <p:spPr>
          <a:xfrm>
            <a:off x="777240"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Block the 60-month term for Classes D and E, redirecting 100% of origination flow to the 36-month term.</a:t>
            </a:r>
            <a:endParaRPr lang="en-US" sz="1050" dirty="0"/>
          </a:p>
        </p:txBody>
      </p:sp>
      <p:sp>
        <p:nvSpPr>
          <p:cNvPr id="10" name="Shape 7"/>
          <p:cNvSpPr/>
          <p:nvPr/>
        </p:nvSpPr>
        <p:spPr>
          <a:xfrm>
            <a:off x="777240" y="4800600"/>
            <a:ext cx="2971800" cy="548640"/>
          </a:xfrm>
          <a:prstGeom prst="roundRect">
            <a:avLst>
              <a:gd name="adj" fmla="val 10000"/>
            </a:avLst>
          </a:prstGeom>
          <a:solidFill>
            <a:srgbClr val="E7F3EE"/>
          </a:solidFill>
          <a:ln/>
        </p:spPr>
        <p:txBody>
          <a:bodyPr/>
          <a:lstStyle/>
          <a:p>
            <a:endParaRPr lang="pt-BR"/>
          </a:p>
        </p:txBody>
      </p:sp>
      <p:sp>
        <p:nvSpPr>
          <p:cNvPr id="11" name="Text 8"/>
          <p:cNvSpPr/>
          <p:nvPr/>
        </p:nvSpPr>
        <p:spPr>
          <a:xfrm>
            <a:off x="914400"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Avoids up to $85.6M in losses (Classes D and E)</a:t>
            </a:r>
            <a:endParaRPr lang="en-US" sz="1150" dirty="0"/>
          </a:p>
        </p:txBody>
      </p:sp>
      <p:sp>
        <p:nvSpPr>
          <p:cNvPr id="12" name="Shape 9"/>
          <p:cNvSpPr/>
          <p:nvPr/>
        </p:nvSpPr>
        <p:spPr>
          <a:xfrm>
            <a:off x="4334256"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3" name="Shape 10"/>
          <p:cNvSpPr/>
          <p:nvPr/>
        </p:nvSpPr>
        <p:spPr>
          <a:xfrm>
            <a:off x="4608576" y="2057400"/>
            <a:ext cx="530352" cy="530352"/>
          </a:xfrm>
          <a:prstGeom prst="ellipse">
            <a:avLst/>
          </a:prstGeom>
          <a:solidFill>
            <a:srgbClr val="1B2A44"/>
          </a:solidFill>
          <a:ln/>
        </p:spPr>
        <p:txBody>
          <a:bodyPr/>
          <a:lstStyle/>
          <a:p>
            <a:endParaRPr lang="pt-BR"/>
          </a:p>
        </p:txBody>
      </p:sp>
      <p:pic>
        <p:nvPicPr>
          <p:cNvPr id="14" name="Image 1" descr="/home/claude/deck/assets/reprecificacao.png"/>
          <p:cNvPicPr>
            <a:picLocks noChangeAspect="1"/>
          </p:cNvPicPr>
          <p:nvPr/>
        </p:nvPicPr>
        <p:blipFill>
          <a:blip r:embed="rId4"/>
          <a:stretch>
            <a:fillRect/>
          </a:stretch>
        </p:blipFill>
        <p:spPr>
          <a:xfrm>
            <a:off x="4727448" y="2176272"/>
            <a:ext cx="292608" cy="292608"/>
          </a:xfrm>
          <a:prstGeom prst="rect">
            <a:avLst/>
          </a:prstGeom>
        </p:spPr>
      </p:pic>
      <p:sp>
        <p:nvSpPr>
          <p:cNvPr id="15" name="Text 11"/>
          <p:cNvSpPr/>
          <p:nvPr/>
        </p:nvSpPr>
        <p:spPr>
          <a:xfrm>
            <a:off x="4608576"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2. Repricing the Middle</a:t>
            </a:r>
            <a:endParaRPr lang="en-US" sz="1400" dirty="0"/>
          </a:p>
        </p:txBody>
      </p:sp>
      <p:sp>
        <p:nvSpPr>
          <p:cNvPr id="16" name="Text 12"/>
          <p:cNvSpPr/>
          <p:nvPr/>
        </p:nvSpPr>
        <p:spPr>
          <a:xfrm>
            <a:off x="4608576"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Adjust +45 to +80 bps on Grades C, D, and E within the 10%–20% income-commitment band.</a:t>
            </a:r>
            <a:endParaRPr lang="en-US" sz="1050" dirty="0"/>
          </a:p>
        </p:txBody>
      </p:sp>
      <p:sp>
        <p:nvSpPr>
          <p:cNvPr id="17" name="Shape 13"/>
          <p:cNvSpPr/>
          <p:nvPr/>
        </p:nvSpPr>
        <p:spPr>
          <a:xfrm>
            <a:off x="4608576" y="4800600"/>
            <a:ext cx="2971800" cy="548640"/>
          </a:xfrm>
          <a:prstGeom prst="roundRect">
            <a:avLst>
              <a:gd name="adj" fmla="val 10000"/>
            </a:avLst>
          </a:prstGeom>
          <a:solidFill>
            <a:srgbClr val="E7F3EE"/>
          </a:solidFill>
          <a:ln/>
        </p:spPr>
        <p:txBody>
          <a:bodyPr/>
          <a:lstStyle/>
          <a:p>
            <a:endParaRPr lang="pt-BR"/>
          </a:p>
        </p:txBody>
      </p:sp>
      <p:sp>
        <p:nvSpPr>
          <p:cNvPr id="18" name="Text 14"/>
          <p:cNvSpPr/>
          <p:nvPr/>
        </p:nvSpPr>
        <p:spPr>
          <a:xfrm>
            <a:off x="4745736"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Direct recovery of up to $239.2M in the Middle</a:t>
            </a:r>
            <a:endParaRPr lang="en-US" sz="1150" dirty="0"/>
          </a:p>
        </p:txBody>
      </p:sp>
      <p:sp>
        <p:nvSpPr>
          <p:cNvPr id="19" name="Shape 15"/>
          <p:cNvSpPr/>
          <p:nvPr/>
        </p:nvSpPr>
        <p:spPr>
          <a:xfrm>
            <a:off x="8165592"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20" name="Shape 16"/>
          <p:cNvSpPr/>
          <p:nvPr/>
        </p:nvSpPr>
        <p:spPr>
          <a:xfrm>
            <a:off x="8439912" y="2057400"/>
            <a:ext cx="530352" cy="530352"/>
          </a:xfrm>
          <a:prstGeom prst="ellipse">
            <a:avLst/>
          </a:prstGeom>
          <a:solidFill>
            <a:srgbClr val="1B2A44"/>
          </a:solidFill>
          <a:ln/>
        </p:spPr>
        <p:txBody>
          <a:bodyPr/>
          <a:lstStyle/>
          <a:p>
            <a:endParaRPr lang="pt-BR"/>
          </a:p>
        </p:txBody>
      </p:sp>
      <p:pic>
        <p:nvPicPr>
          <p:cNvPr id="21" name="Image 2" descr="/home/claude/deck/assets/realocacao.png"/>
          <p:cNvPicPr>
            <a:picLocks noChangeAspect="1"/>
          </p:cNvPicPr>
          <p:nvPr/>
        </p:nvPicPr>
        <p:blipFill>
          <a:blip r:embed="rId5"/>
          <a:stretch>
            <a:fillRect/>
          </a:stretch>
        </p:blipFill>
        <p:spPr>
          <a:xfrm>
            <a:off x="8558784" y="2176272"/>
            <a:ext cx="292608" cy="292608"/>
          </a:xfrm>
          <a:prstGeom prst="rect">
            <a:avLst/>
          </a:prstGeom>
        </p:spPr>
      </p:pic>
      <p:sp>
        <p:nvSpPr>
          <p:cNvPr id="22" name="Text 17"/>
          <p:cNvSpPr/>
          <p:nvPr/>
        </p:nvSpPr>
        <p:spPr>
          <a:xfrm>
            <a:off x="8439912"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3. Reallocating Grade G</a:t>
            </a:r>
            <a:endParaRPr lang="en-US" sz="1400" dirty="0"/>
          </a:p>
        </p:txBody>
      </p:sp>
      <p:sp>
        <p:nvSpPr>
          <p:cNvPr id="23" name="Text 18"/>
          <p:cNvSpPr/>
          <p:nvPr/>
        </p:nvSpPr>
        <p:spPr>
          <a:xfrm>
            <a:off x="8439912"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Eliminate the 36-month term for Grade G, channeling 100% of origination to the 60-month term.</a:t>
            </a:r>
            <a:endParaRPr lang="en-US" sz="1050" dirty="0"/>
          </a:p>
        </p:txBody>
      </p:sp>
      <p:sp>
        <p:nvSpPr>
          <p:cNvPr id="24" name="Shape 19"/>
          <p:cNvSpPr/>
          <p:nvPr/>
        </p:nvSpPr>
        <p:spPr>
          <a:xfrm>
            <a:off x="8439912" y="4800600"/>
            <a:ext cx="2971800" cy="548640"/>
          </a:xfrm>
          <a:prstGeom prst="roundRect">
            <a:avLst>
              <a:gd name="adj" fmla="val 10000"/>
            </a:avLst>
          </a:prstGeom>
          <a:solidFill>
            <a:srgbClr val="E7F3EE"/>
          </a:solidFill>
          <a:ln/>
        </p:spPr>
        <p:txBody>
          <a:bodyPr/>
          <a:lstStyle/>
          <a:p>
            <a:endParaRPr lang="pt-BR"/>
          </a:p>
        </p:txBody>
      </p:sp>
      <p:sp>
        <p:nvSpPr>
          <p:cNvPr id="25" name="Text 20"/>
          <p:cNvSpPr/>
          <p:nvPr/>
        </p:nvSpPr>
        <p:spPr>
          <a:xfrm>
            <a:off x="8577072"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Reverses -$1.05M and adds +$4.3M in profit</a:t>
            </a:r>
            <a:endParaRPr lang="en-US" sz="1150" dirty="0"/>
          </a:p>
        </p:txBody>
      </p:sp>
      <p:sp>
        <p:nvSpPr>
          <p:cNvPr id="26"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7"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11 / 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CONCLUSION</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Conclusion &amp; Unlocked Value Projection</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Turning Data Intelligence into Profitable Market Leadership</a:t>
            </a:r>
            <a:endParaRPr lang="en-US" sz="1250" dirty="0"/>
          </a:p>
        </p:txBody>
      </p:sp>
      <p:sp>
        <p:nvSpPr>
          <p:cNvPr id="5" name="Shape 3"/>
          <p:cNvSpPr/>
          <p:nvPr/>
        </p:nvSpPr>
        <p:spPr>
          <a:xfrm>
            <a:off x="502920" y="1783080"/>
            <a:ext cx="5349240" cy="1554480"/>
          </a:xfrm>
          <a:prstGeom prst="roundRect">
            <a:avLst>
              <a:gd name="adj" fmla="val 5294"/>
            </a:avLst>
          </a:prstGeom>
          <a:solidFill>
            <a:srgbClr val="F4F6F8"/>
          </a:solidFill>
          <a:ln/>
        </p:spPr>
        <p:txBody>
          <a:bodyPr/>
          <a:lstStyle/>
          <a:p>
            <a:endParaRPr lang="pt-BR"/>
          </a:p>
        </p:txBody>
      </p:sp>
      <p:sp>
        <p:nvSpPr>
          <p:cNvPr id="6" name="Text 4"/>
          <p:cNvSpPr/>
          <p:nvPr/>
        </p:nvSpPr>
        <p:spPr>
          <a:xfrm>
            <a:off x="704088" y="1911096"/>
            <a:ext cx="4946904" cy="777240"/>
          </a:xfrm>
          <a:prstGeom prst="rect">
            <a:avLst/>
          </a:prstGeom>
          <a:noFill/>
          <a:ln/>
        </p:spPr>
        <p:txBody>
          <a:bodyPr wrap="square" lIns="0" tIns="0" rIns="0" bIns="0" rtlCol="0" anchor="b"/>
          <a:lstStyle/>
          <a:p>
            <a:pPr marL="0" indent="0" algn="l">
              <a:buNone/>
            </a:pPr>
            <a:r>
              <a:rPr lang="en-US" sz="2500" b="1" dirty="0">
                <a:solidFill>
                  <a:srgbClr val="1E8A5D"/>
                </a:solidFill>
                <a:latin typeface="Arial" pitchFamily="34" charset="0"/>
                <a:ea typeface="Arial" pitchFamily="34" charset="-122"/>
                <a:cs typeface="Arial" pitchFamily="34" charset="-120"/>
              </a:rPr>
              <a:t>4.43% → 4.90%</a:t>
            </a:r>
            <a:endParaRPr lang="en-US" sz="2500" dirty="0"/>
          </a:p>
        </p:txBody>
      </p:sp>
      <p:sp>
        <p:nvSpPr>
          <p:cNvPr id="7" name="Text 5"/>
          <p:cNvSpPr/>
          <p:nvPr/>
        </p:nvSpPr>
        <p:spPr>
          <a:xfrm>
            <a:off x="704088"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Projected Increase in Consolidated Portfolio ROA</a:t>
            </a:r>
            <a:endParaRPr lang="en-US" sz="950" dirty="0"/>
          </a:p>
        </p:txBody>
      </p:sp>
      <p:sp>
        <p:nvSpPr>
          <p:cNvPr id="8" name="Shape 6"/>
          <p:cNvSpPr/>
          <p:nvPr/>
        </p:nvSpPr>
        <p:spPr>
          <a:xfrm>
            <a:off x="6336792" y="1783080"/>
            <a:ext cx="5349240" cy="1554480"/>
          </a:xfrm>
          <a:prstGeom prst="roundRect">
            <a:avLst>
              <a:gd name="adj" fmla="val 5294"/>
            </a:avLst>
          </a:prstGeom>
          <a:solidFill>
            <a:srgbClr val="F4F6F8"/>
          </a:solidFill>
          <a:ln/>
        </p:spPr>
        <p:txBody>
          <a:bodyPr/>
          <a:lstStyle/>
          <a:p>
            <a:endParaRPr lang="pt-BR"/>
          </a:p>
        </p:txBody>
      </p:sp>
      <p:sp>
        <p:nvSpPr>
          <p:cNvPr id="9" name="Text 7"/>
          <p:cNvSpPr/>
          <p:nvPr/>
        </p:nvSpPr>
        <p:spPr>
          <a:xfrm>
            <a:off x="6537960" y="1911096"/>
            <a:ext cx="4946904" cy="777240"/>
          </a:xfrm>
          <a:prstGeom prst="rect">
            <a:avLst/>
          </a:prstGeom>
          <a:noFill/>
          <a:ln/>
        </p:spPr>
        <p:txBody>
          <a:bodyPr wrap="square" lIns="0" tIns="0" rIns="0" bIns="0" rtlCol="0" anchor="b"/>
          <a:lstStyle/>
          <a:p>
            <a:pPr marL="0" indent="0" algn="l">
              <a:buNone/>
            </a:pPr>
            <a:r>
              <a:rPr lang="en-US" sz="2800" b="1" dirty="0">
                <a:solidFill>
                  <a:srgbClr val="1E8A5D"/>
                </a:solidFill>
                <a:latin typeface="Arial" pitchFamily="34" charset="0"/>
                <a:ea typeface="Arial" pitchFamily="34" charset="-122"/>
                <a:cs typeface="Arial" pitchFamily="34" charset="-120"/>
              </a:rPr>
              <a:t>up to $239M</a:t>
            </a:r>
            <a:endParaRPr lang="en-US" sz="2800" dirty="0"/>
          </a:p>
        </p:txBody>
      </p:sp>
      <p:sp>
        <p:nvSpPr>
          <p:cNvPr id="10" name="Text 8"/>
          <p:cNvSpPr/>
          <p:nvPr/>
        </p:nvSpPr>
        <p:spPr>
          <a:xfrm>
            <a:off x="6537960"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Opportunity Cost Recovered in the Target Scenario</a:t>
            </a:r>
            <a:endParaRPr lang="en-US" sz="950" dirty="0"/>
          </a:p>
        </p:txBody>
      </p:sp>
      <p:sp>
        <p:nvSpPr>
          <p:cNvPr id="11" name="Text 9"/>
          <p:cNvSpPr/>
          <p:nvPr/>
        </p:nvSpPr>
        <p:spPr>
          <a:xfrm>
            <a:off x="502920" y="3529584"/>
            <a:ext cx="11183112" cy="237744"/>
          </a:xfrm>
          <a:prstGeom prst="rect">
            <a:avLst/>
          </a:prstGeom>
          <a:noFill/>
          <a:ln/>
        </p:spPr>
        <p:txBody>
          <a:bodyPr wrap="square" lIns="0" tIns="0" rIns="0" bIns="0" rtlCol="0" anchor="ctr"/>
          <a:lstStyle/>
          <a:p>
            <a:pPr marL="0" indent="0">
              <a:buNone/>
            </a:pPr>
            <a:r>
              <a:rPr lang="en-US" sz="1100" b="1" kern="0" spc="100" dirty="0">
                <a:solidFill>
                  <a:srgbClr val="1B2A44"/>
                </a:solidFill>
                <a:latin typeface="Arial" pitchFamily="34" charset="0"/>
                <a:ea typeface="Arial" pitchFamily="34" charset="-122"/>
                <a:cs typeface="Arial" pitchFamily="34" charset="-120"/>
              </a:rPr>
              <a:t>CONSOLIDATING HIGH-YIELD ROA LEADERSHIP</a:t>
            </a:r>
            <a:endParaRPr lang="en-US" sz="1100" dirty="0"/>
          </a:p>
        </p:txBody>
      </p:sp>
      <p:graphicFrame>
        <p:nvGraphicFramePr>
          <p:cNvPr id="12" name="Chart 0"/>
          <p:cNvGraphicFramePr/>
          <p:nvPr/>
        </p:nvGraphicFramePr>
        <p:xfrm>
          <a:off x="502920" y="3803904"/>
          <a:ext cx="7315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8001000" y="3803904"/>
            <a:ext cx="2770632" cy="1325880"/>
          </a:xfrm>
          <a:prstGeom prst="roundRect">
            <a:avLst>
              <a:gd name="adj" fmla="val 5517"/>
            </a:avLst>
          </a:prstGeom>
          <a:solidFill>
            <a:srgbClr val="F4F6F8"/>
          </a:solidFill>
          <a:ln/>
        </p:spPr>
        <p:txBody>
          <a:bodyPr/>
          <a:lstStyle/>
          <a:p>
            <a:endParaRPr lang="pt-BR"/>
          </a:p>
        </p:txBody>
      </p:sp>
      <p:sp>
        <p:nvSpPr>
          <p:cNvPr id="14" name="Text 11"/>
          <p:cNvSpPr/>
          <p:nvPr/>
        </p:nvSpPr>
        <p:spPr>
          <a:xfrm>
            <a:off x="8183880" y="3931920"/>
            <a:ext cx="2404872" cy="201168"/>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SCALE ALREADY CONSOLIDATED</a:t>
            </a:r>
            <a:endParaRPr lang="en-US" sz="850" dirty="0"/>
          </a:p>
        </p:txBody>
      </p:sp>
      <p:sp>
        <p:nvSpPr>
          <p:cNvPr id="15" name="Text 12"/>
          <p:cNvSpPr/>
          <p:nvPr/>
        </p:nvSpPr>
        <p:spPr>
          <a:xfrm>
            <a:off x="8183880" y="4151376"/>
            <a:ext cx="2404872" cy="502920"/>
          </a:xfrm>
          <a:prstGeom prst="rect">
            <a:avLst/>
          </a:prstGeom>
          <a:noFill/>
          <a:ln/>
        </p:spPr>
        <p:txBody>
          <a:bodyPr wrap="square" lIns="0" tIns="0" rIns="0" bIns="0" rtlCol="0" anchor="ctr"/>
          <a:lstStyle/>
          <a:p>
            <a:pPr marL="0" indent="0">
              <a:lnSpc>
                <a:spcPct val="115000"/>
              </a:lnSpc>
              <a:buNone/>
            </a:pPr>
            <a:r>
              <a:rPr lang="en-US" sz="1300" b="1" dirty="0">
                <a:solidFill>
                  <a:srgbClr val="1B2A44"/>
                </a:solidFill>
                <a:latin typeface="Arial" pitchFamily="34" charset="0"/>
                <a:ea typeface="Arial" pitchFamily="34" charset="-122"/>
                <a:cs typeface="Arial" pitchFamily="34" charset="-120"/>
              </a:rPr>
              <a:t>$20.3B  •  1.34M contracts</a:t>
            </a:r>
            <a:endParaRPr lang="en-US" sz="1300" dirty="0"/>
          </a:p>
        </p:txBody>
      </p:sp>
      <p:sp>
        <p:nvSpPr>
          <p:cNvPr id="16" name="Text 13"/>
          <p:cNvSpPr/>
          <p:nvPr/>
        </p:nvSpPr>
        <p:spPr>
          <a:xfrm>
            <a:off x="8183880" y="4709160"/>
            <a:ext cx="2404872" cy="365760"/>
          </a:xfrm>
          <a:prstGeom prst="rect">
            <a:avLst/>
          </a:prstGeom>
          <a:noFill/>
          <a:ln/>
        </p:spPr>
        <p:txBody>
          <a:bodyPr wrap="square" lIns="0" tIns="0" rIns="0" bIns="0" rtlCol="0" anchor="ctr"/>
          <a:lstStyle/>
          <a:p>
            <a:pPr marL="0" indent="0">
              <a:buNone/>
            </a:pPr>
            <a:r>
              <a:rPr lang="en-US" sz="950" dirty="0">
                <a:solidFill>
                  <a:srgbClr val="55606E"/>
                </a:solidFill>
                <a:latin typeface="Arial" pitchFamily="34" charset="0"/>
                <a:ea typeface="Arial" pitchFamily="34" charset="-122"/>
                <a:cs typeface="Arial" pitchFamily="34" charset="-120"/>
              </a:rPr>
              <a:t>$3.33B in net profit already generated</a:t>
            </a:r>
            <a:endParaRPr lang="en-US" sz="950" dirty="0"/>
          </a:p>
        </p:txBody>
      </p:sp>
      <p:sp>
        <p:nvSpPr>
          <p:cNvPr id="17" name="Text 14"/>
          <p:cNvSpPr/>
          <p:nvPr/>
        </p:nvSpPr>
        <p:spPr>
          <a:xfrm>
            <a:off x="502920" y="5440680"/>
            <a:ext cx="11183112" cy="502920"/>
          </a:xfrm>
          <a:prstGeom prst="rect">
            <a:avLst/>
          </a:prstGeom>
          <a:noFill/>
          <a:ln/>
        </p:spPr>
        <p:txBody>
          <a:bodyPr wrap="square" lIns="0" tIns="0" rIns="0" bIns="0" rtlCol="0" anchor="ctr"/>
          <a:lstStyle/>
          <a:p>
            <a:pPr marL="0" indent="0" algn="ctr">
              <a:lnSpc>
                <a:spcPct val="120000"/>
              </a:lnSpc>
              <a:buNone/>
            </a:pPr>
            <a:r>
              <a:rPr lang="en-US" sz="1100" i="1" dirty="0">
                <a:solidFill>
                  <a:srgbClr val="55606E"/>
                </a:solidFill>
                <a:latin typeface="Arial" pitchFamily="34" charset="0"/>
                <a:ea typeface="Arial" pitchFamily="34" charset="-122"/>
                <a:cs typeface="Arial" pitchFamily="34" charset="-120"/>
              </a:rPr>
              <a:t>Data intelligence applied to risk-based pricing turns an already profitable portfolio ($3.33B in results) into an even more efficient cash-generating machine — elevating Happen Bank to the top of the high-yield personal credit market.</a:t>
            </a:r>
            <a:endParaRPr lang="en-US" sz="1100" dirty="0"/>
          </a:p>
        </p:txBody>
      </p:sp>
      <p:sp>
        <p:nvSpPr>
          <p:cNvPr id="18" name="Text 15"/>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Methodological Note (Governance &amp; Simulation): Incremental ROA projections assume the maintenance of application attrition rates and demand elasticity from the 2007–2018 cycle, assuming neutrality from external macroeconomic shocks.</a:t>
            </a:r>
            <a:endParaRPr lang="en-US" sz="80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12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2277</Words>
  <Application>Microsoft Office PowerPoint</Application>
  <PresentationFormat>Widescreen</PresentationFormat>
  <Paragraphs>317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Thiago da Silva</cp:lastModifiedBy>
  <cp:revision>2</cp:revision>
  <dcterms:created xsi:type="dcterms:W3CDTF">2026-07-22T23:44:01Z</dcterms:created>
  <dcterms:modified xsi:type="dcterms:W3CDTF">2026-07-26T10:46:59Z</dcterms:modified>
</cp:coreProperties>
</file>